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126" y="6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287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is hands-on: we start with how IP networks work, then build the same small network in AWS and in Azure using free-tier accounts, then talk security, Layer 7, DDoS and landing zones. Students should already have signed up for both free accounts as pre-work; if not, they pair up with someone who has. Open the student lab tracker page now and keep it next to the portal.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to the clock. The two cloud labs are 25 minutes each; if the room is slow, skip the NACL demo in AWS and the UDR in Azure and show them on your screen. Account sign-up should be pre-work: it can take 10+ minutes per person because of card and phone verification.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rule 3: on the AWS Free plan, creating or joining an AWS Organization or setting up a Control Tower landing zone automatically upgrades the account to the Paid plan and the free credits expire immediately. Azure DDoS Network Protection is billed monthly per plan, roughly three thousand dollars a month, which would drain the 200 dollar credit in about two days.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before we touch any cloud portal, everyone needs the vocabulary. Every cloud network is still IP subnets and route tables underneath.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in the cloud you never configure Layer 1 or 2. You design Layer 3 (address spaces, subnets, routes) and Layer 4 (ports in security groups). Layer 7 is where application gateways and web application firewalls inspect HTTP. Highlighted row is today's main focus.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does a PC do when it wants to reach an IP on another subnet? Answer: it ARPs for its default gateway's MAC, sends the frame to the router, and the router routes the packet. In the cloud the "router" is implicit in every subnet: the first usable address (.1) is the gateway.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binary of 192.168.10.25 on the board: 128+64 = 192, 128+32+8 = 168, 8+2 = 10, 16+8+1 = 25. The /24 means the first 24 bits identify the network. A subnet is simply a range that shares those bits; anything outside it must go through a router.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addresses are reused by everyone, so they cannot be routed on the internet; NAT translates them to a public address. In the cloud a VM keeps its private IP and gets a public IP only if you attach one. Note the cloud metadata service lives at the link-local address 169.254.169.254 on both AWS and Azure.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of one bit in the prefix halves the block. In a traditional LAN you lose two addresses: the network address and the broadcast address. In AWS and Azure you lose five. Quick drill: how many usable cloud addresses in a /27? 32 minus 5 = 27.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this table in their notes. Overlapping address spaces are the most common real-world mistake: you cannot peer two VNets or connect a VPN if both use 10.0.0.0/16. Answer to the quiz: .0 is network, .1 router, .2 DNS, .3 reserved, so .4 is the first usable host.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router-on-a-stick: one physical router interface with sub-interfaces per VLAN, connected to a switch trunk. The routing table output is exactly what students will see in Packet Tracer. Point out that the cloud route table on the next AWS slide is the same concept: a local route for the VPC CIDR plus a default route.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Packet Tracer is the take-home or early-finisher lab. It takes about 45 minutes the first time. Students who finish the cloud labs early can start it in class. Hand out the Packet Tracer guide.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signed up as pre-work. Use these slides to check everyone is on the right plan and has a budget alert before building anything.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change: many YouTube videos and blog posts still describe the old AWS 12-months-free model. That ended for new accounts on 15 July 2025. New accounts pick Free plan or Paid plan at sign-up; tell students to pick the Free plan. VPC, subnets, route tables, security groups and NACLs cost nothing in either cloud. Public IPv4 addresses on AWS are billed hourly but come out of the credits.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the two screenshots during your dry run and drop them into the dashed boxes. Never use the root user for labs: enable MFA on root, then create an IAM user. The extra 100 dollars of credit comes from completing the Explore AWS activities on Console Home, such as launching an EC2 instance and setting a budget, which today's lab partly covers.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for Students gives 100 dollars without a credit card if the student has a school email; good option for younger students. The Free services page in the portal (search "Free services") lists what is free for 12 months and lets you create a B1s VM directly. If East US 2 is short of B1s capacity, use Central US, which also supports Bastion Developer.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Budgets do not stop spend, they alert. The real protection is the AWS Free plan (it never bills) and the Azure free account spending limit. Budgets matter when a student later upgrades. Setting a budget is also one of the AWS onboarding activities that earns extra credits.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opens the AWS console in us-east-1 and the student lab tracker, AWS section. CloudShell (the terminal icon in the console top bar) is free and already authenticated if students prefer CLI.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to stress: a subnet is "public" only because its route table sends 0.0.0.0/0 to an internet gateway. There is no checkbox called public. AWS subnets live in one Availability Zone; Azure subnets span the region, which we will contrast later.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"VPC only" so students build each piece by hand. The "VPC and more" wizard is a good demo afterwards because it draws a preview map, but make sure NAT gateways is set to None and VPC endpoints to None if anyone uses it. Why 251? 256 minus the 5 AWS-reserved addresses. Full CLI for every step is in the student tracker.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the router table from the Packet Tracer slide: local is the connected route, 0.0.0.0/0 is the static default route. Internet gateways and route tables are free. Ask: what would we add to give the private subnet outbound-only internet? A NAT gateway in the public subnet, which is billed hourly, so we only describe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Referencing a security group as the source (sg-app allows SSH from sg-web) is the cloud-native way: any instance carrying sg-web may connect, whatever its IP. Rule 120 lets replies to the instance's own outbound requests (package downloads) come back in. Skip the NACL if short on time; it is the first optional item. Remember to put outbound rule 100 back after the demo.</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new Free plan there are no free EC2 hours; a t3.micro costs about a cent an hour from credits, and the public IPv4 address is also billed hourly from credits. Two instances for an hour is pennies. The ping works because we allowed ICMP from 10.0.0.0/16 in both security groups. ip route shows the default gateway 10.0.1.1, the AWS router address.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C is the modern answer: no public IP, no jump server to patch, access controlled by IAM and logged in CloudTrail, and the endpoint has no hourly charge. Endpoint creation takes a few minutes, so start it first and do method B while it provisions. Session Manager is the other bastion-less option but a private subnet without NAT needs paid interface endpoints, so we only mention it. For method A in the browser, add an inbound SSH rule in sg-web whose source is the prefix list com.amazonaws.us-east-1.ec2-instance-connect.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opens portal.azure.com and the Azure section of the lab tracker. Cloud Shell (the terminal icon in the top bar) can run without a storage account: choose Bash, then "No storage account required".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Differences to call out: Azure has resource groups as a lifecycle container, subnets span all availability zones in the region, and there is no internet gateway to attach; system routes exist automatically and you override them with a route table (UDR). The free B1s offer is 750 hours a month, so two VMs for one class session is well inside 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tab is a good moment to name the three paid services: Azure Bastion (dedicated SKUs), Azure Firewall and DDoS Network Protection. Leave them unticked. If the portal offers a "private subnet" or "disable default outbound access" checkbox on the subnet, tick it for snet-app; it reinforces the private design.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168.63.129.16 is the Azure platform virtual IP; Bastion Developer connects from it, so nsg-app needs that rule for lab 4. Because of AllowVnetInBound, SSH from snet-web would work even without our 100 rule; ask the class why we still add it (documentation and least privilege, and it survives if someone adds a deny). Application security groups let you write rules by role instead of by IP, like AWS security group references.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 NSG None because we already secured the subnets; two NSGs on one path make troubleshooting harder for beginners. Size picker: B1s shows a "free services eligible" label on free accounts. If B1s is out of capacity in East US 2, switch both the VNet and VMs to Central US. Keep the default OS disk; the free account covers small managed disks for 12 months.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Bastion Developer connects through Azure's shared pool, so you never need a public IP on the VM. It only works for VMs in the same VNet and in supported regions, East US 2 included. Run command uses the VM agent, not SSH, so it works even with no inbound rules at all; great for break-glass. Just-in-time VM access is another option but requires Defender for Servers, which is paid.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production the same route usually points 0.0.0.0/0 to a Virtual appliance next hop, the private IP of Azure Firewall or a third-party firewall, which forces all egress through inspection. That is the hub-and-spoke pattern you will see again in landing zones. We use None because a firewall costs money. If Bastion Developer stops working after this, remove the association and discuss why.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services cost money, so the hands-on part is a tour: open the create page, read the options, then Cancel. Remind the class of rule 2.</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Defence in depth: the same request can pass a DDoS layer, a WAF, an NGFW, a subnet ACL, a security group and a host firewall. Tour Azure Firewall: the Basic, Standard and Premium tiers, the firewall policy, and that it requires its own subnet named AzureFirewallSubnet sized /26 and a public IP. Tour AWS Network Firewall: firewall policies, stateless and stateful rule groups (Suricata-compatible) and the dedicated firewall subnet. Cancel both.</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4 sees only IPs and ports. Layer 7 sees the URL, headers, cookies and body, so it can route /api to one pool and /images to another, terminate TLS, and run WAF rules against SQL injection and cross-site scripting. Tour the Azure Application Gateway create page: tiers Standard v2 and WAF v2, it needs its own subnet, listeners, backend pools, routing rules. Tour AWS ALB: listeners, target groups, rules, and the "AWS WAF" integration checkbox. Both bill hourly, so Cancel.</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Volumetric (Layer 3/4) floods are absorbed by the providers' global networks; both clouds do this free. The paid tiers add per-application tuning, alerts and attack reports, access to the provider's response team, and credits if an attack makes you scale out. Layer 7 floods look like normal HTTP, so you need a WAF with rate limiting. At list price Azure DDoS Network Protection is roughly 2,944 dollars a month and AWS Shield Advanced 3,000 dollars a month with a one-year commitment; quote these as approximate.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map today's lab objects across: lab-vpc equals vnet-lab, rt-public plus IGW equals the default system route plus a public IP, and so on. The subnet scope difference matters for high availability design: in AWS you create one subnet per zone; in Azure one subnet can hold VMs in every zone.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rows lead into landing zones: governance guardrails are SCPs and Config rules in AWS and Azure Policy in Azure, and landing zones are the packaged way to apply them across many accounts or subscriptions.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everything we built today was one network in one account. A landing zone is how an organisation does this safely for hundreds of teams.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landing zone every team invents its own network, overlaps IP ranges, forgets logging and opens SSH to the world. With one, a new team gets a ready subscription or account that is already connected, logged and policed. The tool licences are free in both clouds; you pay for the services the landing zone turns on, such as logging, firewalls and config rules.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definition: an Azure landing zone is one platform landing zone plus one or more application landing zones, organised under management groups so Azure Policy is inherited. Corp landing zones connect privately to the hub; Online ones are internet-facing. Microsoft recommends the infrastructure-as-code accelerator with Bicep or Terraform; the portal accelerator suits teams without IaC skills. There is also a Sovereign Landing Zone variant for regulated public-sector customers.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Azure management groups are AWS organizational units; subscriptions are accounts; Azure Policy is SCPs plus Config rules; the platform connectivity subscription is a network account with Transit Gateway. Control Tower itself has no charge, but it switches on CloudTrail, Config and other paid services. The Landing Zone Accelerator's own docs estimate its idle sample configuration at roughly 430 dollars a month. The original 2018 "AWS Landing Zone" solution is retired in favour of Control Tower.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groups and Azure Policy are free, and on a new free account the student is Global Administrator of their own tenant, so they can build the hierarchy. Policy evaluation can take a few minutes to apply after assignment; if the West Europe test is not denied immediately, come back to it. Do not deploy the portal accelerator: it can create Log Analytics, Azure Firewall, DDoS plans and more. If you have a paid AWS sandbox, you can demo Control Tower from your own screen instead.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Deleting the VPC from the console also removes its subnets, route tables, network ACLs, security groups and detaches and deletes the internet gateway, but it refuses while instances or endpoints still use it, hence the order. In Azure the resource group delete removes everything including Bastion Developer, public IPs and disks.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homework: complete the Packet Tracer guide and submit a screenshot of a successful ping from VLAN 10 to VLAN 20 and a browser reaching www.iec.lab. Remind everyone to confirm cleanup.</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00658"/>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3233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724558"/>
            <a:ext cx="10566400" cy="4320642"/>
          </a:xfrm>
          <a:prstGeom prst="rect">
            <a:avLst/>
          </a:prstGeom>
          <a:noFill/>
          <a:ln/>
        </p:spPr>
        <p:txBody>
          <a:bodyPr wrap="square" lIns="0" tIns="0" rIns="0" bIns="0" rtlCol="0" anchor="t"/>
          <a:lstStyle>
            <a:lvl1pPr marL="0" indent="0" algn="l">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00658"/>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3233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724558"/>
            <a:ext cx="10566400" cy="4320642"/>
          </a:xfrm>
          <a:prstGeom prst="rect">
            <a:avLst/>
          </a:prstGeom>
          <a:noFill/>
          <a:ln/>
        </p:spPr>
        <p:txBody>
          <a:bodyPr wrap="square" lIns="0" tIns="0" rIns="0" bIns="0" rtlCol="0" anchor="t"/>
          <a:lstStyle>
            <a:lvl1pPr marL="0" indent="0" algn="l">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a:effectLst/>
      </p:bgPr>
    </p:bg>
    <p:spTree>
      <p:nvGrpSpPr>
        <p:cNvPr id="1" name=""/>
        <p:cNvGrpSpPr/>
        <p:nvPr/>
      </p:nvGrpSpPr>
      <p:grpSpPr>
        <a:xfrm>
          <a:off x="0" y="0"/>
          <a:ext cx="0" cy="0"/>
          <a:chOff x="0" y="0"/>
          <a:chExt cx="0" cy="0"/>
        </a:xfrm>
      </p:grpSpPr>
      <p:sp>
        <p:nvSpPr>
          <p:cNvPr id="2" name="Shape 0"/>
          <p:cNvSpPr/>
          <p:nvPr/>
        </p:nvSpPr>
        <p:spPr>
          <a:xfrm>
            <a:off x="7874000" y="0"/>
            <a:ext cx="4318000" cy="6858000"/>
          </a:xfrm>
          <a:prstGeom prst="rect">
            <a:avLst/>
          </a:prstGeom>
          <a:gradFill rotWithShape="1">
            <a:gsLst>
              <a:gs pos="0">
                <a:srgbClr val="1D3557"/>
              </a:gs>
              <a:gs pos="70000">
                <a:srgbClr val="13233A"/>
              </a:gs>
            </a:gsLst>
            <a:lin ang="4200000" scaled="0"/>
          </a:gradFill>
          <a:ln/>
        </p:spPr>
        <p:txBody>
          <a:bodyPr/>
          <a:lstStyle/>
          <a:p>
            <a:endParaRPr lang="en-US"/>
          </a:p>
        </p:txBody>
      </p:sp>
      <p:sp>
        <p:nvSpPr>
          <p:cNvPr id="3" name="Text 1"/>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A65A"/>
                </a:solidFill>
                <a:latin typeface="IBM Plex Sans" pitchFamily="34" charset="0"/>
                <a:ea typeface="IBM Plex Sans" pitchFamily="34" charset="-122"/>
                <a:cs typeface="IBM Plex Sans" pitchFamily="34" charset="-120"/>
              </a:rPr>
              <a:t>IEC HUSAINI · TECHNOLOGY TRAINING</a:t>
            </a:r>
            <a:endParaRPr lang="en-US" sz="1400" dirty="0"/>
          </a:p>
        </p:txBody>
      </p:sp>
      <p:sp>
        <p:nvSpPr>
          <p:cNvPr id="4" name="Text 2"/>
          <p:cNvSpPr>
            <a:spLocks noGrp="1"/>
          </p:cNvSpPr>
          <p:nvPr>
            <p:ph type="title"/>
          </p:nvPr>
        </p:nvSpPr>
        <p:spPr>
          <a:xfrm>
            <a:off x="812800" y="1214041"/>
            <a:ext cx="7194550" cy="1518708"/>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6F4EE"/>
                </a:solidFill>
                <a:latin typeface="IBM Plex Sans" pitchFamily="34" charset="0"/>
                <a:ea typeface="IBM Plex Sans" pitchFamily="34" charset="-122"/>
                <a:cs typeface="IBM Plex Sans" pitchFamily="34" charset="-120"/>
              </a:rPr>
              <a:t>Cloud &amp; Network Foundations</a:t>
            </a:r>
            <a:endParaRPr lang="en-US" sz="5600" dirty="0"/>
          </a:p>
        </p:txBody>
      </p:sp>
      <p:sp>
        <p:nvSpPr>
          <p:cNvPr id="5" name="Text 3"/>
          <p:cNvSpPr/>
          <p:nvPr/>
        </p:nvSpPr>
        <p:spPr>
          <a:xfrm>
            <a:off x="812800" y="2859749"/>
            <a:ext cx="6867525"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9C6D6"/>
                </a:solidFill>
                <a:latin typeface="IBM Plex Sans" pitchFamily="34" charset="0"/>
                <a:ea typeface="IBM Plex Sans" pitchFamily="34" charset="-122"/>
                <a:cs typeface="IBM Plex Sans" pitchFamily="34" charset="-120"/>
              </a:rPr>
              <a:t>IP addressing, routing &amp; switching, then hands-on AWS and Azure networking on free-tier accounts</a:t>
            </a:r>
            <a:endParaRPr lang="en-US" sz="2000" dirty="0"/>
          </a:p>
        </p:txBody>
      </p:sp>
      <p:sp>
        <p:nvSpPr>
          <p:cNvPr id="6" name="Text 4"/>
          <p:cNvSpPr/>
          <p:nvPr/>
        </p:nvSpPr>
        <p:spPr>
          <a:xfrm>
            <a:off x="812800" y="5636287"/>
            <a:ext cx="2150666" cy="408914"/>
          </a:xfrm>
          <a:prstGeom prst="roundRect">
            <a:avLst>
              <a:gd name="adj" fmla="val 50000"/>
            </a:avLst>
          </a:prstGeom>
          <a:solidFill>
            <a:srgbClr val="22395A"/>
          </a:solidFill>
          <a:ln/>
        </p:spPr>
        <p:txBody>
          <a:bodyPr wrap="none" lIns="0" tIns="0" rIns="0" bIns="0" rtlCol="0" anchor="ctr">
            <a:normAutofit/>
          </a:bodyPr>
          <a:lstStyle/>
          <a:p>
            <a:pPr marL="0" indent="0" algn="ctr">
              <a:lnSpc>
                <a:spcPts val="1820"/>
              </a:lnSpc>
              <a:buNone/>
            </a:pPr>
            <a:r>
              <a:rPr lang="en-US" sz="1300" dirty="0">
                <a:solidFill>
                  <a:srgbClr val="F6F4EE"/>
                </a:solidFill>
                <a:latin typeface="IBM Plex Sans" pitchFamily="34" charset="0"/>
                <a:ea typeface="IBM Plex Sans" pitchFamily="34" charset="-122"/>
                <a:cs typeface="IBM Plex Sans" pitchFamily="34" charset="-120"/>
              </a:rPr>
              <a:t>2-hour hands-on session</a:t>
            </a:r>
            <a:endParaRPr lang="en-US" sz="1300" dirty="0"/>
          </a:p>
        </p:txBody>
      </p:sp>
      <p:sp>
        <p:nvSpPr>
          <p:cNvPr id="7" name="Text 5"/>
          <p:cNvSpPr/>
          <p:nvPr/>
        </p:nvSpPr>
        <p:spPr>
          <a:xfrm>
            <a:off x="3115866" y="5636287"/>
            <a:ext cx="2354527" cy="408914"/>
          </a:xfrm>
          <a:prstGeom prst="roundRect">
            <a:avLst>
              <a:gd name="adj" fmla="val 50000"/>
            </a:avLst>
          </a:prstGeom>
          <a:solidFill>
            <a:srgbClr val="22395A"/>
          </a:solidFill>
          <a:ln/>
        </p:spPr>
        <p:txBody>
          <a:bodyPr wrap="none" lIns="0" tIns="0" rIns="0" bIns="0" rtlCol="0" anchor="ctr">
            <a:normAutofit/>
          </a:bodyPr>
          <a:lstStyle/>
          <a:p>
            <a:pPr marL="0" indent="0" algn="ctr">
              <a:lnSpc>
                <a:spcPts val="1820"/>
              </a:lnSpc>
              <a:buNone/>
            </a:pPr>
            <a:r>
              <a:rPr lang="en-US" sz="1300" dirty="0">
                <a:solidFill>
                  <a:srgbClr val="F6F4EE"/>
                </a:solidFill>
                <a:latin typeface="IBM Plex Sans" pitchFamily="34" charset="0"/>
                <a:ea typeface="IBM Plex Sans" pitchFamily="34" charset="-122"/>
                <a:cs typeface="IBM Plex Sans" pitchFamily="34" charset="-120"/>
              </a:rPr>
              <a:t>AWS · Azure · Packet Tracer</a:t>
            </a:r>
            <a:endParaRPr lang="en-US" sz="1300" dirty="0"/>
          </a:p>
        </p:txBody>
      </p:sp>
      <p:sp>
        <p:nvSpPr>
          <p:cNvPr id="8" name="Text 6"/>
          <p:cNvSpPr/>
          <p:nvPr/>
        </p:nvSpPr>
        <p:spPr>
          <a:xfrm>
            <a:off x="5622793" y="5636287"/>
            <a:ext cx="1275159" cy="408914"/>
          </a:xfrm>
          <a:prstGeom prst="roundRect">
            <a:avLst>
              <a:gd name="adj" fmla="val 50000"/>
            </a:avLst>
          </a:prstGeom>
          <a:solidFill>
            <a:srgbClr val="22395A"/>
          </a:solidFill>
          <a:ln/>
        </p:spPr>
        <p:txBody>
          <a:bodyPr wrap="none" lIns="0" tIns="0" rIns="0" bIns="0" rtlCol="0" anchor="ctr">
            <a:normAutofit/>
          </a:bodyPr>
          <a:lstStyle/>
          <a:p>
            <a:pPr marL="0" indent="0" algn="ctr">
              <a:lnSpc>
                <a:spcPts val="1820"/>
              </a:lnSpc>
              <a:buNone/>
            </a:pPr>
            <a:r>
              <a:rPr lang="en-US" sz="1300" dirty="0">
                <a:solidFill>
                  <a:srgbClr val="F6F4EE"/>
                </a:solidFill>
                <a:latin typeface="IBM Plex Sans" pitchFamily="34" charset="0"/>
                <a:ea typeface="IBM Plex Sans" pitchFamily="34" charset="-122"/>
                <a:cs typeface="IBM Plex Sans" pitchFamily="34" charset="-120"/>
              </a:rPr>
              <a:t>Free tier only</a:t>
            </a:r>
            <a:endParaRPr lang="en-US" sz="1300" dirty="0"/>
          </a:p>
        </p:txBody>
      </p:sp>
      <p:sp>
        <p:nvSpPr>
          <p:cNvPr id="9" name="Text 7"/>
          <p:cNvSpPr/>
          <p:nvPr/>
        </p:nvSpPr>
        <p:spPr>
          <a:xfrm>
            <a:off x="8636000" y="1905000"/>
            <a:ext cx="28778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2A65A"/>
                </a:solidFill>
                <a:latin typeface="JetBrains Mono" pitchFamily="49" charset="0"/>
                <a:ea typeface="JetBrains Mono" pitchFamily="49" charset="-122"/>
                <a:cs typeface="JetBrains Mono" pitchFamily="49" charset="-120"/>
              </a:rPr>
              <a:t>10.0.0.0/16</a:t>
            </a:r>
            <a:endParaRPr lang="en-US" sz="1500" dirty="0"/>
          </a:p>
        </p:txBody>
      </p:sp>
      <p:sp>
        <p:nvSpPr>
          <p:cNvPr id="10" name="Text 8"/>
          <p:cNvSpPr/>
          <p:nvPr/>
        </p:nvSpPr>
        <p:spPr>
          <a:xfrm>
            <a:off x="8636000" y="2298700"/>
            <a:ext cx="28778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8FB3DE"/>
                </a:solidFill>
                <a:latin typeface="JetBrains Mono" pitchFamily="49" charset="0"/>
                <a:ea typeface="JetBrains Mono" pitchFamily="49" charset="-122"/>
                <a:cs typeface="JetBrains Mono" pitchFamily="49" charset="-120"/>
              </a:rPr>
              <a:t>10.1.0.0/16</a:t>
            </a:r>
            <a:endParaRPr lang="en-US" sz="1500" dirty="0"/>
          </a:p>
        </p:txBody>
      </p:sp>
      <p:sp>
        <p:nvSpPr>
          <p:cNvPr id="11" name="Text 9"/>
          <p:cNvSpPr/>
          <p:nvPr/>
        </p:nvSpPr>
        <p:spPr>
          <a:xfrm>
            <a:off x="8636000" y="2692400"/>
            <a:ext cx="28778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6D6"/>
                </a:solidFill>
                <a:latin typeface="JetBrains Mono" pitchFamily="49" charset="0"/>
                <a:ea typeface="JetBrains Mono" pitchFamily="49" charset="-122"/>
                <a:cs typeface="JetBrains Mono" pitchFamily="49" charset="-120"/>
              </a:rPr>
              <a:t>192.168.10.0/24</a:t>
            </a:r>
            <a:endParaRPr lang="en-US" sz="1500" dirty="0"/>
          </a:p>
        </p:txBody>
      </p:sp>
      <p:sp>
        <p:nvSpPr>
          <p:cNvPr id="12" name="Text 10"/>
          <p:cNvSpPr/>
          <p:nvPr/>
        </p:nvSpPr>
        <p:spPr>
          <a:xfrm>
            <a:off x="8636000" y="3086100"/>
            <a:ext cx="28778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6F87A6"/>
                </a:solidFill>
                <a:latin typeface="JetBrains Mono" pitchFamily="49" charset="0"/>
                <a:ea typeface="JetBrains Mono" pitchFamily="49" charset="-122"/>
                <a:cs typeface="JetBrains Mono" pitchFamily="49" charset="-120"/>
              </a:rPr>
              <a:t>0.0.0.0/0 → igw</a:t>
            </a:r>
            <a:endParaRPr lang="en-US" sz="1500" dirty="0"/>
          </a:p>
        </p:txBody>
      </p:sp>
      <p:sp>
        <p:nvSpPr>
          <p:cNvPr id="13" name="Text 11"/>
          <p:cNvSpPr/>
          <p:nvPr/>
        </p:nvSpPr>
        <p:spPr>
          <a:xfrm>
            <a:off x="812800" y="6238346"/>
            <a:ext cx="7194550"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3BC"/>
                </a:solidFill>
                <a:latin typeface="IBM Plex Sans" pitchFamily="34" charset="0"/>
                <a:ea typeface="IBM Plex Sans" pitchFamily="34" charset="-122"/>
                <a:cs typeface="IBM Plex Sans" pitchFamily="34" charset="-120"/>
              </a:rPr>
              <a:t>Instructor: Faisal Abbas · Substitute session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RUN OF SHOW · 120 MINUTES</a:t>
            </a:r>
            <a:endParaRPr lang="en-US" sz="1200" dirty="0"/>
          </a:p>
        </p:txBody>
      </p:sp>
      <p:sp>
        <p:nvSpPr>
          <p:cNvPr id="3" name="Text 1"/>
          <p:cNvSpPr>
            <a:spLocks noGrp="1"/>
          </p:cNvSpPr>
          <p:nvPr>
            <p:ph type="title"/>
          </p:nvPr>
        </p:nvSpPr>
        <p:spPr>
          <a:xfrm>
            <a:off x="812800" y="1000654"/>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Today's plan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682221"/>
          <a:ext cx="10557933" cy="2839512"/>
        </p:xfrm>
        <a:graphic>
          <a:graphicData uri="http://schemas.openxmlformats.org/drawingml/2006/table">
            <a:tbl>
              <a:tblPr/>
              <a:tblGrid>
                <a:gridCol w="1900428">
                  <a:extLst>
                    <a:ext uri="{9D8B030D-6E8A-4147-A177-3AD203B41FA5}">
                      <a16:colId xmlns:a16="http://schemas.microsoft.com/office/drawing/2014/main" val="20000"/>
                    </a:ext>
                  </a:extLst>
                </a:gridCol>
                <a:gridCol w="3167380">
                  <a:extLst>
                    <a:ext uri="{9D8B030D-6E8A-4147-A177-3AD203B41FA5}">
                      <a16:colId xmlns:a16="http://schemas.microsoft.com/office/drawing/2014/main" val="20001"/>
                    </a:ext>
                  </a:extLst>
                </a:gridCol>
                <a:gridCol w="5490125">
                  <a:extLst>
                    <a:ext uri="{9D8B030D-6E8A-4147-A177-3AD203B41FA5}">
                      <a16:colId xmlns:a16="http://schemas.microsoft.com/office/drawing/2014/main" val="20002"/>
                    </a:ext>
                  </a:extLst>
                </a:gridCol>
              </a:tblGrid>
              <a:tr h="354939">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Time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Block</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What you will do</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0:00 – 0:10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Welcome &amp; setup</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Accounts check, budgets on, open the lab tracker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0:10 – 0:35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Networking foundations</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OSI, Layer 2 vs 3, IP types, subnetting, routing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2"/>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0:35 – 0:45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Free tier &amp; guardrails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What is free, what costs money, zero-spend budgets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0:45 – 1:10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AWS lab</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VPC, subnets, IGW, routes, SG/NACL, EC2, access</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4"/>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1:10 – 1:35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Azure lab</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VNet, subnets, NSG, B1s VMs, Bastion Developer, UDR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1:35 – 1:50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Security deep dive</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Firewall types, Layer 7 gateways, DDoS, service map</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6"/>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1:50 – 2:00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Landing zones &amp; cleanup</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Azure vs AWS landing zones, delete everything, Q&amp;A</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4775729"/>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Take-home:</a:t>
            </a:r>
            <a:r>
              <a:rPr lang="en-US" sz="1300" dirty="0">
                <a:solidFill>
                  <a:srgbClr val="3D4A5C"/>
                </a:solidFill>
                <a:latin typeface="IBM Plex Sans" pitchFamily="34" charset="0"/>
                <a:ea typeface="IBM Plex Sans" pitchFamily="34" charset="-122"/>
                <a:cs typeface="IBM Plex Sans" pitchFamily="34" charset="-120"/>
              </a:rPr>
              <a:t> Cisco Packet Tracer lab (DHCP, DNS, VLANs, inter-VLAN and static routing) — separate guide.</a:t>
            </a:r>
            <a:endParaRPr lang="en-US" sz="1300" dirty="0"/>
          </a:p>
        </p:txBody>
      </p:sp>
      <p:sp>
        <p:nvSpPr>
          <p:cNvPr id="6" name="Text 3"/>
          <p:cNvSpPr/>
          <p:nvPr/>
        </p:nvSpPr>
        <p:spPr>
          <a:xfrm>
            <a:off x="812800" y="6238346"/>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02</a:t>
            </a:r>
            <a:endParaRPr lang="en-US" sz="1200" dirty="0"/>
          </a:p>
        </p:txBody>
      </p:sp>
      <p:sp>
        <p:nvSpPr>
          <p:cNvPr id="7" name="Text 2">
            <a:extLst>
              <a:ext uri="{FF2B5EF4-FFF2-40B4-BE49-F238E27FC236}">
                <a16:creationId xmlns:a16="http://schemas.microsoft.com/office/drawing/2014/main" id="{87E13E94-4E3E-4B2D-15BC-5128E1D9704F}"/>
              </a:ext>
            </a:extLst>
          </p:cNvPr>
          <p:cNvSpPr/>
          <p:nvPr/>
        </p:nvSpPr>
        <p:spPr>
          <a:xfrm>
            <a:off x="821267" y="5250523"/>
            <a:ext cx="10883392" cy="256514"/>
          </a:xfrm>
          <a:prstGeom prst="rect">
            <a:avLst/>
          </a:prstGeom>
          <a:noFill/>
          <a:ln/>
        </p:spPr>
        <p:txBody>
          <a:bodyPr wrap="square" lIns="0" tIns="0" rIns="0" bIns="0" rtlCol="0" anchor="t">
            <a:normAutofit/>
          </a:bodyPr>
          <a:lstStyle/>
          <a:p>
            <a:pPr>
              <a:lnSpc>
                <a:spcPts val="1820"/>
              </a:lnSpc>
            </a:pPr>
            <a:r>
              <a:rPr lang="en-US" sz="1300" b="1" dirty="0">
                <a:solidFill>
                  <a:srgbClr val="3D4A5C"/>
                </a:solidFill>
                <a:latin typeface="IBM Plex Sans" pitchFamily="34" charset="0"/>
                <a:ea typeface="IBM Plex Sans" pitchFamily="34" charset="-122"/>
                <a:cs typeface="IBM Plex Sans" pitchFamily="34" charset="-120"/>
              </a:rPr>
              <a:t>Download Content:</a:t>
            </a:r>
            <a:r>
              <a:rPr lang="en-US" sz="1300" dirty="0">
                <a:solidFill>
                  <a:srgbClr val="3D4A5C"/>
                </a:solidFill>
                <a:latin typeface="IBM Plex Sans" pitchFamily="34" charset="0"/>
                <a:ea typeface="IBM Plex Sans" pitchFamily="34" charset="-122"/>
                <a:cs typeface="IBM Plex Sans" pitchFamily="34" charset="-120"/>
              </a:rPr>
              <a:t> https://github.com/faabbas-personal/IEC-Training-2026</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GROUND RULES</a:t>
            </a:r>
            <a:endParaRPr lang="en-US" sz="1200" dirty="0"/>
          </a:p>
        </p:txBody>
      </p:sp>
      <p:sp>
        <p:nvSpPr>
          <p:cNvPr id="3" name="Text 1"/>
          <p:cNvSpPr>
            <a:spLocks noGrp="1"/>
          </p:cNvSpPr>
          <p:nvPr>
            <p:ph type="title"/>
          </p:nvPr>
        </p:nvSpPr>
        <p:spPr>
          <a:xfrm>
            <a:off x="812800" y="1000655"/>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Free tier only — four rules for every lab</a:t>
            </a:r>
            <a:endParaRPr lang="en-US" sz="3000" dirty="0"/>
          </a:p>
        </p:txBody>
      </p:sp>
      <p:sp>
        <p:nvSpPr>
          <p:cNvPr id="4" name="Shape 2"/>
          <p:cNvSpPr/>
          <p:nvPr/>
        </p:nvSpPr>
        <p:spPr>
          <a:xfrm>
            <a:off x="815975" y="1676930"/>
            <a:ext cx="5187950" cy="1186524"/>
          </a:xfrm>
          <a:prstGeom prst="roundRect">
            <a:avLst>
              <a:gd name="adj" fmla="val 8295"/>
            </a:avLst>
          </a:prstGeom>
          <a:solidFill>
            <a:srgbClr val="FCFBF7"/>
          </a:solidFill>
          <a:ln w="6350">
            <a:solidFill>
              <a:srgbClr val="DCD8CC"/>
            </a:solidFill>
            <a:prstDash val="solid"/>
          </a:ln>
        </p:spPr>
        <p:txBody>
          <a:bodyPr/>
          <a:lstStyle/>
          <a:p>
            <a:endParaRPr lang="en-US"/>
          </a:p>
        </p:txBody>
      </p:sp>
      <p:sp>
        <p:nvSpPr>
          <p:cNvPr id="5" name="Text 3"/>
          <p:cNvSpPr/>
          <p:nvPr/>
        </p:nvSpPr>
        <p:spPr>
          <a:xfrm>
            <a:off x="1024467" y="1885421"/>
            <a:ext cx="491409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67A8"/>
                </a:solidFill>
                <a:latin typeface="IBM Plex Sans" pitchFamily="34" charset="0"/>
                <a:ea typeface="IBM Plex Sans" pitchFamily="34" charset="-122"/>
                <a:cs typeface="IBM Plex Sans" pitchFamily="34" charset="-120"/>
              </a:rPr>
              <a:t>1 · Build only free resources</a:t>
            </a:r>
            <a:endParaRPr lang="en-US" sz="1600" dirty="0"/>
          </a:p>
        </p:txBody>
      </p:sp>
      <p:sp>
        <p:nvSpPr>
          <p:cNvPr id="6" name="Text 4"/>
          <p:cNvSpPr/>
          <p:nvPr/>
        </p:nvSpPr>
        <p:spPr>
          <a:xfrm>
            <a:off x="1024467" y="2192734"/>
            <a:ext cx="491409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VPC/VNet, subnets, route tables, SG, NACL, NSG, ASG, EIC Endpoint, Bastion Developer, t3.micro and B1s VMs.</a:t>
            </a:r>
            <a:endParaRPr lang="en-US" sz="1300" dirty="0"/>
          </a:p>
        </p:txBody>
      </p:sp>
      <p:sp>
        <p:nvSpPr>
          <p:cNvPr id="7" name="Shape 5"/>
          <p:cNvSpPr/>
          <p:nvPr/>
        </p:nvSpPr>
        <p:spPr>
          <a:xfrm>
            <a:off x="6188075" y="1676930"/>
            <a:ext cx="5187950" cy="1186524"/>
          </a:xfrm>
          <a:prstGeom prst="roundRect">
            <a:avLst>
              <a:gd name="adj" fmla="val 8295"/>
            </a:avLst>
          </a:prstGeom>
          <a:solidFill>
            <a:srgbClr val="FCFBF7"/>
          </a:solidFill>
          <a:ln w="6350">
            <a:solidFill>
              <a:srgbClr val="DCD8CC"/>
            </a:solidFill>
            <a:prstDash val="solid"/>
          </a:ln>
        </p:spPr>
        <p:txBody>
          <a:bodyPr/>
          <a:lstStyle/>
          <a:p>
            <a:endParaRPr lang="en-US"/>
          </a:p>
        </p:txBody>
      </p:sp>
      <p:sp>
        <p:nvSpPr>
          <p:cNvPr id="8" name="Text 6"/>
          <p:cNvSpPr/>
          <p:nvPr/>
        </p:nvSpPr>
        <p:spPr>
          <a:xfrm>
            <a:off x="6396567" y="1885421"/>
            <a:ext cx="491409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67A8"/>
                </a:solidFill>
                <a:latin typeface="IBM Plex Sans" pitchFamily="34" charset="0"/>
                <a:ea typeface="IBM Plex Sans" pitchFamily="34" charset="-122"/>
                <a:cs typeface="IBM Plex Sans" pitchFamily="34" charset="-120"/>
              </a:rPr>
              <a:t>2 · Tour, don't create</a:t>
            </a:r>
            <a:endParaRPr lang="en-US" sz="1600" dirty="0"/>
          </a:p>
        </p:txBody>
      </p:sp>
      <p:sp>
        <p:nvSpPr>
          <p:cNvPr id="9" name="Text 7"/>
          <p:cNvSpPr/>
          <p:nvPr/>
        </p:nvSpPr>
        <p:spPr>
          <a:xfrm>
            <a:off x="6396567" y="2192734"/>
            <a:ext cx="491409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Azure Firewall, App Gateway, WAF, NAT Gateway, AWS Network Firewall, ALB: open the create page, read it, then Cancel.</a:t>
            </a:r>
            <a:endParaRPr lang="en-US" sz="1300" dirty="0"/>
          </a:p>
        </p:txBody>
      </p:sp>
      <p:sp>
        <p:nvSpPr>
          <p:cNvPr id="10" name="Shape 8"/>
          <p:cNvSpPr/>
          <p:nvPr/>
        </p:nvSpPr>
        <p:spPr>
          <a:xfrm>
            <a:off x="815975" y="3047603"/>
            <a:ext cx="5187950" cy="1186524"/>
          </a:xfrm>
          <a:prstGeom prst="roundRect">
            <a:avLst>
              <a:gd name="adj" fmla="val 8295"/>
            </a:avLst>
          </a:prstGeom>
          <a:solidFill>
            <a:srgbClr val="FCFBF7"/>
          </a:solidFill>
          <a:ln w="6350">
            <a:solidFill>
              <a:srgbClr val="DCD8CC"/>
            </a:solidFill>
            <a:prstDash val="solid"/>
          </a:ln>
        </p:spPr>
        <p:txBody>
          <a:bodyPr/>
          <a:lstStyle/>
          <a:p>
            <a:endParaRPr lang="en-US"/>
          </a:p>
        </p:txBody>
      </p:sp>
      <p:sp>
        <p:nvSpPr>
          <p:cNvPr id="11" name="Text 9"/>
          <p:cNvSpPr/>
          <p:nvPr/>
        </p:nvSpPr>
        <p:spPr>
          <a:xfrm>
            <a:off x="1024467" y="3256096"/>
            <a:ext cx="491409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8521F"/>
                </a:solidFill>
                <a:latin typeface="IBM Plex Sans" pitchFamily="34" charset="0"/>
                <a:ea typeface="IBM Plex Sans" pitchFamily="34" charset="-122"/>
                <a:cs typeface="IBM Plex Sans" pitchFamily="34" charset="-120"/>
              </a:rPr>
              <a:t>3 · Never click these</a:t>
            </a:r>
            <a:endParaRPr lang="en-US" sz="1600" dirty="0"/>
          </a:p>
        </p:txBody>
      </p:sp>
      <p:sp>
        <p:nvSpPr>
          <p:cNvPr id="12" name="Text 10"/>
          <p:cNvSpPr/>
          <p:nvPr/>
        </p:nvSpPr>
        <p:spPr>
          <a:xfrm>
            <a:off x="1024467" y="3563409"/>
            <a:ext cx="491409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AWS Organizations "Create", Control Tower "Set up landing zone", Shield Advanced, Azure DDoS Network Protection.</a:t>
            </a:r>
            <a:endParaRPr lang="en-US" sz="1300" dirty="0"/>
          </a:p>
        </p:txBody>
      </p:sp>
      <p:sp>
        <p:nvSpPr>
          <p:cNvPr id="13" name="Shape 11"/>
          <p:cNvSpPr/>
          <p:nvPr/>
        </p:nvSpPr>
        <p:spPr>
          <a:xfrm>
            <a:off x="6188075" y="3047603"/>
            <a:ext cx="5187950" cy="1186524"/>
          </a:xfrm>
          <a:prstGeom prst="roundRect">
            <a:avLst>
              <a:gd name="adj" fmla="val 8295"/>
            </a:avLst>
          </a:prstGeom>
          <a:solidFill>
            <a:srgbClr val="FCFBF7"/>
          </a:solidFill>
          <a:ln w="6350">
            <a:solidFill>
              <a:srgbClr val="DCD8CC"/>
            </a:solidFill>
            <a:prstDash val="solid"/>
          </a:ln>
        </p:spPr>
        <p:txBody>
          <a:bodyPr/>
          <a:lstStyle/>
          <a:p>
            <a:endParaRPr lang="en-US"/>
          </a:p>
        </p:txBody>
      </p:sp>
      <p:sp>
        <p:nvSpPr>
          <p:cNvPr id="14" name="Text 12"/>
          <p:cNvSpPr/>
          <p:nvPr/>
        </p:nvSpPr>
        <p:spPr>
          <a:xfrm>
            <a:off x="6396567" y="3256096"/>
            <a:ext cx="491409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67A8"/>
                </a:solidFill>
                <a:latin typeface="IBM Plex Sans" pitchFamily="34" charset="0"/>
                <a:ea typeface="IBM Plex Sans" pitchFamily="34" charset="-122"/>
                <a:cs typeface="IBM Plex Sans" pitchFamily="34" charset="-120"/>
              </a:rPr>
              <a:t>4 · Delete before you leave</a:t>
            </a:r>
            <a:endParaRPr lang="en-US" sz="1600" dirty="0"/>
          </a:p>
        </p:txBody>
      </p:sp>
      <p:sp>
        <p:nvSpPr>
          <p:cNvPr id="15" name="Text 13"/>
          <p:cNvSpPr/>
          <p:nvPr/>
        </p:nvSpPr>
        <p:spPr>
          <a:xfrm>
            <a:off x="6396567" y="3563409"/>
            <a:ext cx="4914096"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One region (us-east-1 / East US 2), one resource group, tag Owner=yourname, run the cleanup slide at 1:55.</a:t>
            </a:r>
            <a:endParaRPr lang="en-US" sz="1300" dirty="0"/>
          </a:p>
        </p:txBody>
      </p:sp>
      <p:sp>
        <p:nvSpPr>
          <p:cNvPr id="16" name="Text 14"/>
          <p:cNvSpPr/>
          <p:nvPr/>
        </p:nvSpPr>
        <p:spPr>
          <a:xfrm>
            <a:off x="812800" y="6238346"/>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812800" y="1901296"/>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2A65A"/>
                </a:solidFill>
                <a:latin typeface="IBM Plex Sans" pitchFamily="34" charset="0"/>
                <a:ea typeface="IBM Plex Sans" pitchFamily="34" charset="-122"/>
                <a:cs typeface="IBM Plex Sans" pitchFamily="34" charset="-120"/>
              </a:rPr>
              <a:t>01</a:t>
            </a:r>
            <a:endParaRPr lang="en-US" sz="8000" dirty="0"/>
          </a:p>
        </p:txBody>
      </p:sp>
      <p:sp>
        <p:nvSpPr>
          <p:cNvPr id="3" name="Text 1"/>
          <p:cNvSpPr>
            <a:spLocks noGrp="1"/>
          </p:cNvSpPr>
          <p:nvPr>
            <p:ph type="title"/>
          </p:nvPr>
        </p:nvSpPr>
        <p:spPr>
          <a:xfrm>
            <a:off x="812800" y="3095096"/>
            <a:ext cx="10883392" cy="665427"/>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E"/>
                </a:solidFill>
                <a:latin typeface="IBM Plex Sans" pitchFamily="34" charset="0"/>
                <a:ea typeface="IBM Plex Sans" pitchFamily="34" charset="-122"/>
                <a:cs typeface="IBM Plex Sans" pitchFamily="34" charset="-120"/>
              </a:rPr>
              <a:t>Networking foundations</a:t>
            </a:r>
            <a:endParaRPr lang="en-US" sz="4800" dirty="0"/>
          </a:p>
        </p:txBody>
      </p:sp>
      <p:sp>
        <p:nvSpPr>
          <p:cNvPr id="4" name="Text 2"/>
          <p:cNvSpPr/>
          <p:nvPr/>
        </p:nvSpPr>
        <p:spPr>
          <a:xfrm>
            <a:off x="812800" y="3912924"/>
            <a:ext cx="8502650" cy="642408"/>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9C6D6"/>
                </a:solidFill>
                <a:latin typeface="IBM Plex Sans" pitchFamily="34" charset="0"/>
                <a:ea typeface="IBM Plex Sans" pitchFamily="34" charset="-122"/>
                <a:cs typeface="IBM Plex Sans" pitchFamily="34" charset="-120"/>
              </a:rPr>
              <a:t>Where we sit in the OSI model, how switches and routers move traffic, and how IP addresses and subnets are carved up.</a:t>
            </a:r>
            <a:endParaRPr lang="en-US" sz="1800" dirty="0"/>
          </a:p>
        </p:txBody>
      </p:sp>
      <p:sp>
        <p:nvSpPr>
          <p:cNvPr id="5" name="Text 3"/>
          <p:cNvSpPr/>
          <p:nvPr/>
        </p:nvSpPr>
        <p:spPr>
          <a:xfrm>
            <a:off x="812800" y="470773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A65A"/>
                </a:solidFill>
                <a:latin typeface="IBM Plex Sans" pitchFamily="34" charset="0"/>
                <a:ea typeface="IBM Plex Sans" pitchFamily="34" charset="-122"/>
                <a:cs typeface="IBM Plex Sans" pitchFamily="34" charset="-120"/>
              </a:rPr>
              <a:t>0:10 – 0:35 · 25 minutes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OSI MODEL</a:t>
            </a:r>
            <a:endParaRPr lang="en-US" sz="1200" dirty="0"/>
          </a:p>
        </p:txBody>
      </p:sp>
      <p:sp>
        <p:nvSpPr>
          <p:cNvPr id="3" name="Text 1"/>
          <p:cNvSpPr>
            <a:spLocks noGrp="1"/>
          </p:cNvSpPr>
          <p:nvPr>
            <p:ph type="title"/>
          </p:nvPr>
        </p:nvSpPr>
        <p:spPr>
          <a:xfrm>
            <a:off x="812800" y="1000655"/>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Where do we sit? Mostly Layers 3 and 4</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631422"/>
          <a:ext cx="10557933" cy="2626784"/>
        </p:xfrm>
        <a:graphic>
          <a:graphicData uri="http://schemas.openxmlformats.org/drawingml/2006/table">
            <a:tbl>
              <a:tblPr/>
              <a:tblGrid>
                <a:gridCol w="633476">
                  <a:extLst>
                    <a:ext uri="{9D8B030D-6E8A-4147-A177-3AD203B41FA5}">
                      <a16:colId xmlns:a16="http://schemas.microsoft.com/office/drawing/2014/main" val="20000"/>
                    </a:ext>
                  </a:extLst>
                </a:gridCol>
                <a:gridCol w="1583690">
                  <a:extLst>
                    <a:ext uri="{9D8B030D-6E8A-4147-A177-3AD203B41FA5}">
                      <a16:colId xmlns:a16="http://schemas.microsoft.com/office/drawing/2014/main" val="20001"/>
                    </a:ext>
                  </a:extLst>
                </a:gridCol>
                <a:gridCol w="1161373">
                  <a:extLst>
                    <a:ext uri="{9D8B030D-6E8A-4147-A177-3AD203B41FA5}">
                      <a16:colId xmlns:a16="http://schemas.microsoft.com/office/drawing/2014/main" val="20002"/>
                    </a:ext>
                  </a:extLst>
                </a:gridCol>
                <a:gridCol w="2956221">
                  <a:extLst>
                    <a:ext uri="{9D8B030D-6E8A-4147-A177-3AD203B41FA5}">
                      <a16:colId xmlns:a16="http://schemas.microsoft.com/office/drawing/2014/main" val="20003"/>
                    </a:ext>
                  </a:extLst>
                </a:gridCol>
                <a:gridCol w="4223173">
                  <a:extLst>
                    <a:ext uri="{9D8B030D-6E8A-4147-A177-3AD203B41FA5}">
                      <a16:colId xmlns:a16="http://schemas.microsoft.com/office/drawing/2014/main" val="20004"/>
                    </a:ext>
                  </a:extLst>
                </a:gridCol>
              </a:tblGrid>
              <a:tr h="328348">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Layer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Unit</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Protocols / devices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Cloud services that live here</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Application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Data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HTTP, DNS, SMTP, proxies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App Gateway, ALB, WAF, Front Door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Presentation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Data</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TLS, encoding, compression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TLS termination on L7 gateways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2"/>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Session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Data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Sessions, RPC, NetBIOS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(handled inside apps)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Transport</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Segment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TCP, UDP, ports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SG / NSG port rules, NLB, Azure Load Balancer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4"/>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8B8AB"/>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8B8AB"/>
                      </a:solidFill>
                      <a:prstDash val="solid"/>
                      <a:round/>
                      <a:headEnd type="none" w="med" len="med"/>
                      <a:tailEnd type="none" w="med" len="med"/>
                    </a:lnB>
                    <a:solidFill>
                      <a:srgbClr val="FBE6D6"/>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Network</a:t>
                      </a:r>
                      <a:endParaRPr lang="en-US" sz="1200" dirty="0">
                        <a:latin typeface="IBM Plex Sans" charset="0"/>
                        <a:ea typeface="IBM Plex Sans" charset="0"/>
                        <a:cs typeface="IBM Plex Sans" charset="0"/>
                      </a:endParaRPr>
                    </a:p>
                  </a:txBody>
                  <a:tcPr marL="53340" marR="53340" marT="53340" marB="53340">
                    <a:lnL w="12700" cap="flat" cmpd="sng" algn="ctr">
                      <a:solidFill>
                        <a:srgbClr val="C8B8AB"/>
                      </a:solidFill>
                      <a:prstDash val="solid"/>
                      <a:round/>
                      <a:headEnd type="none" w="med" len="med"/>
                      <a:tailEnd type="none" w="med" len="med"/>
                    </a:lnL>
                    <a:lnR w="12700" cap="flat" cmpd="sng" algn="ctr">
                      <a:solidFill>
                        <a:srgbClr val="C8B8AB"/>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8B8AB"/>
                      </a:solidFill>
                      <a:prstDash val="solid"/>
                      <a:round/>
                      <a:headEnd type="none" w="med" len="med"/>
                      <a:tailEnd type="none" w="med" len="med"/>
                    </a:lnB>
                    <a:solidFill>
                      <a:srgbClr val="FBE6D6"/>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Packet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8B8AB"/>
                      </a:solidFill>
                      <a:prstDash val="solid"/>
                      <a:round/>
                      <a:headEnd type="none" w="med" len="med"/>
                      <a:tailEnd type="none" w="med" len="med"/>
                    </a:lnL>
                    <a:lnR w="12700" cap="flat" cmpd="sng" algn="ctr">
                      <a:solidFill>
                        <a:srgbClr val="C8B8AB"/>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8B8AB"/>
                      </a:solidFill>
                      <a:prstDash val="solid"/>
                      <a:round/>
                      <a:headEnd type="none" w="med" len="med"/>
                      <a:tailEnd type="none" w="med" len="med"/>
                    </a:lnB>
                    <a:solidFill>
                      <a:srgbClr val="FBE6D6"/>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IP, ICMP, routers</a:t>
                      </a:r>
                      <a:endParaRPr lang="en-US" sz="1200" dirty="0">
                        <a:latin typeface="IBM Plex Sans" charset="0"/>
                        <a:ea typeface="IBM Plex Sans" charset="0"/>
                        <a:cs typeface="IBM Plex Sans" charset="0"/>
                      </a:endParaRPr>
                    </a:p>
                  </a:txBody>
                  <a:tcPr marL="53340" marR="53340" marT="53340" marB="53340">
                    <a:lnL w="12700" cap="flat" cmpd="sng" algn="ctr">
                      <a:solidFill>
                        <a:srgbClr val="C8B8AB"/>
                      </a:solidFill>
                      <a:prstDash val="solid"/>
                      <a:round/>
                      <a:headEnd type="none" w="med" len="med"/>
                      <a:tailEnd type="none" w="med" len="med"/>
                    </a:lnL>
                    <a:lnR w="12700" cap="flat" cmpd="sng" algn="ctr">
                      <a:solidFill>
                        <a:srgbClr val="C8B8AB"/>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8B8AB"/>
                      </a:solidFill>
                      <a:prstDash val="solid"/>
                      <a:round/>
                      <a:headEnd type="none" w="med" len="med"/>
                      <a:tailEnd type="none" w="med" len="med"/>
                    </a:lnB>
                    <a:solidFill>
                      <a:srgbClr val="FBE6D6"/>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VPC/VNet, subnets, route tables, NACL, firewalls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8B8AB"/>
                      </a:solidFill>
                      <a:prstDash val="solid"/>
                      <a:round/>
                      <a:headEnd type="none" w="med" len="med"/>
                      <a:tailEnd type="none" w="med" len="med"/>
                    </a:lnL>
                    <a:lnR w="12700" cap="flat" cmpd="sng" algn="ctr">
                      <a:solidFill>
                        <a:srgbClr val="C8B8AB"/>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8B8AB"/>
                      </a:solidFill>
                      <a:prstDash val="solid"/>
                      <a:round/>
                      <a:headEnd type="none" w="med" len="med"/>
                      <a:tailEnd type="none" w="med" len="med"/>
                    </a:lnB>
                    <a:solidFill>
                      <a:srgbClr val="FBE6D6"/>
                    </a:solidFill>
                  </a:tcPr>
                </a:tc>
                <a:extLst>
                  <a:ext uri="{0D108BD9-81ED-4DB2-BD59-A6C34878D82A}">
                    <a16:rowId xmlns:a16="http://schemas.microsoft.com/office/drawing/2014/main" val="10005"/>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8B8AB"/>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Data link</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8B8AB"/>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Frame</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8B8AB"/>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Ethernet, MAC, VLAN, ARP, switches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8B8AB"/>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Hidden by the cloud's software-defined network</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8B8AB"/>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6"/>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Physical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Bits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Copper, fibre, Wi-Fi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The provider's datacenter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4461405"/>
            <a:ext cx="1088339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Mnemonic, top down: </a:t>
            </a:r>
            <a:r>
              <a:rPr lang="en-US" sz="1300" b="1" dirty="0">
                <a:solidFill>
                  <a:srgbClr val="3D4A5C"/>
                </a:solidFill>
                <a:latin typeface="IBM Plex Sans" pitchFamily="34" charset="0"/>
                <a:ea typeface="IBM Plex Sans" pitchFamily="34" charset="-122"/>
                <a:cs typeface="IBM Plex Sans" pitchFamily="34" charset="-120"/>
              </a:rPr>
              <a:t>All People Seem To Need Data Processing</a:t>
            </a:r>
            <a:r>
              <a:rPr lang="en-US" sz="1300" dirty="0">
                <a:solidFill>
                  <a:srgbClr val="3D4A5C"/>
                </a:solidFill>
                <a:latin typeface="IBM Plex Sans" pitchFamily="34" charset="0"/>
                <a:ea typeface="IBM Plex Sans" pitchFamily="34" charset="-122"/>
                <a:cs typeface="IBM Plex Sans" pitchFamily="34" charset="-120"/>
              </a:rPr>
              <a:t>.</a:t>
            </a:r>
            <a:endParaRPr lang="en-US" sz="1300" dirty="0"/>
          </a:p>
        </p:txBody>
      </p:sp>
      <p:sp>
        <p:nvSpPr>
          <p:cNvPr id="6" name="Text 3"/>
          <p:cNvSpPr/>
          <p:nvPr/>
        </p:nvSpPr>
        <p:spPr>
          <a:xfrm>
            <a:off x="812800" y="6238348"/>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LAYER 2 VS LAYER 3</a:t>
            </a:r>
            <a:endParaRPr lang="en-US" sz="1200" dirty="0"/>
          </a:p>
        </p:txBody>
      </p:sp>
      <p:sp>
        <p:nvSpPr>
          <p:cNvPr id="3" name="Text 1"/>
          <p:cNvSpPr>
            <a:spLocks noGrp="1"/>
          </p:cNvSpPr>
          <p:nvPr>
            <p:ph type="title"/>
          </p:nvPr>
        </p:nvSpPr>
        <p:spPr>
          <a:xfrm>
            <a:off x="812800" y="1000655"/>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Switches move frames, routers move packets</a:t>
            </a:r>
            <a:endParaRPr lang="en-US" sz="3000" dirty="0"/>
          </a:p>
        </p:txBody>
      </p:sp>
      <p:sp>
        <p:nvSpPr>
          <p:cNvPr id="4" name="Shape 2"/>
          <p:cNvSpPr/>
          <p:nvPr/>
        </p:nvSpPr>
        <p:spPr>
          <a:xfrm>
            <a:off x="815975" y="1676930"/>
            <a:ext cx="5175250" cy="2040202"/>
          </a:xfrm>
          <a:prstGeom prst="roundRect">
            <a:avLst>
              <a:gd name="adj" fmla="val 4824"/>
            </a:avLst>
          </a:prstGeom>
          <a:solidFill>
            <a:srgbClr val="FCFBF7"/>
          </a:solidFill>
          <a:ln w="6350">
            <a:solidFill>
              <a:srgbClr val="DCD8CC"/>
            </a:solidFill>
            <a:prstDash val="solid"/>
          </a:ln>
        </p:spPr>
        <p:txBody>
          <a:bodyPr/>
          <a:lstStyle/>
          <a:p>
            <a:endParaRPr lang="en-US"/>
          </a:p>
        </p:txBody>
      </p:sp>
      <p:sp>
        <p:nvSpPr>
          <p:cNvPr id="5" name="Text 3"/>
          <p:cNvSpPr/>
          <p:nvPr/>
        </p:nvSpPr>
        <p:spPr>
          <a:xfrm>
            <a:off x="1049867" y="1910823"/>
            <a:ext cx="484869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67A8"/>
                </a:solidFill>
                <a:latin typeface="IBM Plex Sans" pitchFamily="34" charset="0"/>
                <a:ea typeface="IBM Plex Sans" pitchFamily="34" charset="-122"/>
                <a:cs typeface="IBM Plex Sans" pitchFamily="34" charset="-120"/>
              </a:rPr>
              <a:t>Switching · Layer 2</a:t>
            </a:r>
            <a:endParaRPr lang="en-US" sz="1800" dirty="0"/>
          </a:p>
        </p:txBody>
      </p:sp>
      <p:sp>
        <p:nvSpPr>
          <p:cNvPr id="6" name="Text 4"/>
          <p:cNvSpPr/>
          <p:nvPr/>
        </p:nvSpPr>
        <p:spPr>
          <a:xfrm>
            <a:off x="1135211" y="2286664"/>
            <a:ext cx="4755727" cy="1221978"/>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Forwards by </a:t>
            </a:r>
            <a:r>
              <a:rPr lang="en-US" sz="1300" b="1" dirty="0">
                <a:solidFill>
                  <a:srgbClr val="3D4A5C"/>
                </a:solidFill>
                <a:latin typeface="IBM Plex Sans" pitchFamily="34" charset="0"/>
                <a:ea typeface="IBM Plex Sans" pitchFamily="34" charset="-122"/>
                <a:cs typeface="IBM Plex Sans" pitchFamily="34" charset="-120"/>
              </a:rPr>
              <a:t>MAC address</a:t>
            </a:r>
            <a:r>
              <a:rPr lang="en-US" sz="1300" dirty="0">
                <a:solidFill>
                  <a:srgbClr val="3D4A5C"/>
                </a:solidFill>
                <a:latin typeface="IBM Plex Sans" pitchFamily="34" charset="0"/>
                <a:ea typeface="IBM Plex Sans" pitchFamily="34" charset="-122"/>
                <a:cs typeface="IBM Plex Sans" pitchFamily="34" charset="-120"/>
              </a:rPr>
              <a:t> (48-bit, e.g. 00:1A:2B:3C:4D:5E)</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Learns a MAC address table per port</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Stays inside one LAN / VLAN = one broadcast domain</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ARP asks "who has 192.168.10.1?" to find the MAC</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VLANs split one switch into separate networks</a:t>
            </a:r>
            <a:endParaRPr lang="en-US" sz="1300" dirty="0"/>
          </a:p>
        </p:txBody>
      </p:sp>
      <p:sp>
        <p:nvSpPr>
          <p:cNvPr id="7" name="Shape 5"/>
          <p:cNvSpPr/>
          <p:nvPr/>
        </p:nvSpPr>
        <p:spPr>
          <a:xfrm>
            <a:off x="6200775" y="1676930"/>
            <a:ext cx="5175250" cy="2040202"/>
          </a:xfrm>
          <a:prstGeom prst="roundRect">
            <a:avLst>
              <a:gd name="adj" fmla="val 4824"/>
            </a:avLst>
          </a:prstGeom>
          <a:solidFill>
            <a:srgbClr val="FCFBF7"/>
          </a:solidFill>
          <a:ln w="6350">
            <a:solidFill>
              <a:srgbClr val="DCD8CC"/>
            </a:solidFill>
            <a:prstDash val="solid"/>
          </a:ln>
        </p:spPr>
        <p:txBody>
          <a:bodyPr/>
          <a:lstStyle/>
          <a:p>
            <a:endParaRPr lang="en-US"/>
          </a:p>
        </p:txBody>
      </p:sp>
      <p:sp>
        <p:nvSpPr>
          <p:cNvPr id="8" name="Text 6"/>
          <p:cNvSpPr/>
          <p:nvPr/>
        </p:nvSpPr>
        <p:spPr>
          <a:xfrm>
            <a:off x="6434667" y="1910823"/>
            <a:ext cx="484869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67A8"/>
                </a:solidFill>
                <a:latin typeface="IBM Plex Sans" pitchFamily="34" charset="0"/>
                <a:ea typeface="IBM Plex Sans" pitchFamily="34" charset="-122"/>
                <a:cs typeface="IBM Plex Sans" pitchFamily="34" charset="-120"/>
              </a:rPr>
              <a:t>Routing · Layer 3</a:t>
            </a:r>
            <a:endParaRPr lang="en-US" sz="1800" dirty="0"/>
          </a:p>
        </p:txBody>
      </p:sp>
      <p:sp>
        <p:nvSpPr>
          <p:cNvPr id="9" name="Text 7"/>
          <p:cNvSpPr/>
          <p:nvPr/>
        </p:nvSpPr>
        <p:spPr>
          <a:xfrm>
            <a:off x="6520011" y="2286664"/>
            <a:ext cx="4755727" cy="1221978"/>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Forwards by </a:t>
            </a:r>
            <a:r>
              <a:rPr lang="en-US" sz="1300" b="1" dirty="0">
                <a:solidFill>
                  <a:srgbClr val="3D4A5C"/>
                </a:solidFill>
                <a:latin typeface="IBM Plex Sans" pitchFamily="34" charset="0"/>
                <a:ea typeface="IBM Plex Sans" pitchFamily="34" charset="-122"/>
                <a:cs typeface="IBM Plex Sans" pitchFamily="34" charset="-120"/>
              </a:rPr>
              <a:t>IP address</a:t>
            </a:r>
            <a:r>
              <a:rPr lang="en-US" sz="1300" dirty="0">
                <a:solidFill>
                  <a:srgbClr val="3D4A5C"/>
                </a:solidFill>
                <a:latin typeface="IBM Plex Sans" pitchFamily="34" charset="0"/>
                <a:ea typeface="IBM Plex Sans" pitchFamily="34" charset="-122"/>
                <a:cs typeface="IBM Plex Sans" pitchFamily="34" charset="-120"/>
              </a:rPr>
              <a:t> using a routing table</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Connects different networks / subnets</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Picks the most specific match (longest prefix)</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Hosts send off-subnet traffic to the default gateway</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Routes are connected, static, or learned (OSPF, BGP)</a:t>
            </a:r>
            <a:endParaRPr lang="en-US" sz="1300" dirty="0"/>
          </a:p>
        </p:txBody>
      </p:sp>
      <p:sp>
        <p:nvSpPr>
          <p:cNvPr id="10" name="Text 8"/>
          <p:cNvSpPr/>
          <p:nvPr/>
        </p:nvSpPr>
        <p:spPr>
          <a:xfrm>
            <a:off x="812800" y="3974306"/>
            <a:ext cx="10566400" cy="802481"/>
          </a:xfrm>
          <a:prstGeom prst="roundRect">
            <a:avLst>
              <a:gd name="adj" fmla="val 9496"/>
            </a:avLst>
          </a:prstGeom>
          <a:solidFill>
            <a:srgbClr val="13233A"/>
          </a:solidFill>
          <a:ln/>
        </p:spPr>
        <p:txBody>
          <a:bodyPr wrap="square" lIns="180882" tIns="130082" rIns="0" bIns="104682" rtlCol="0" anchor="t">
            <a:normAutofit/>
          </a:bodyPr>
          <a:lstStyle/>
          <a:p>
            <a:pPr marL="0" indent="0" algn="l">
              <a:lnSpc>
                <a:spcPts val="1960"/>
              </a:lnSpc>
              <a:buNone/>
            </a:pPr>
            <a:r>
              <a:rPr lang="en-US" sz="1400" dirty="0">
                <a:solidFill>
                  <a:srgbClr val="F6F4EE"/>
                </a:solidFill>
                <a:latin typeface="IBM Plex Sans" pitchFamily="34" charset="0"/>
                <a:ea typeface="IBM Plex Sans" pitchFamily="34" charset="-122"/>
                <a:cs typeface="IBM Plex Sans" pitchFamily="34" charset="-120"/>
              </a:rPr>
              <a:t>In AWS and Azure the platform does Layer 2 for you (no broadcast, no VLANs). You only design Layer 3: CIDRs, subnets and routes.</a:t>
            </a:r>
            <a:endParaRPr lang="en-US" sz="1400" dirty="0"/>
          </a:p>
        </p:txBody>
      </p:sp>
      <p:sp>
        <p:nvSpPr>
          <p:cNvPr id="11" name="Text 9"/>
          <p:cNvSpPr/>
          <p:nvPr/>
        </p:nvSpPr>
        <p:spPr>
          <a:xfrm>
            <a:off x="812800" y="6238348"/>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IP ADDRESSING PRIMER</a:t>
            </a:r>
            <a:endParaRPr lang="en-US" sz="1200" dirty="0"/>
          </a:p>
        </p:txBody>
      </p:sp>
      <p:sp>
        <p:nvSpPr>
          <p:cNvPr id="3" name="Text 1"/>
          <p:cNvSpPr>
            <a:spLocks noGrp="1"/>
          </p:cNvSpPr>
          <p:nvPr>
            <p:ph type="title"/>
          </p:nvPr>
        </p:nvSpPr>
        <p:spPr>
          <a:xfrm>
            <a:off x="812800" y="1000655"/>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An IP address is a network part plus a host part</a:t>
            </a:r>
            <a:endParaRPr lang="en-US" sz="3000" dirty="0"/>
          </a:p>
        </p:txBody>
      </p:sp>
      <p:sp>
        <p:nvSpPr>
          <p:cNvPr id="4" name="Shape 2"/>
          <p:cNvSpPr/>
          <p:nvPr/>
        </p:nvSpPr>
        <p:spPr>
          <a:xfrm>
            <a:off x="812800" y="1648355"/>
            <a:ext cx="2527300" cy="1381522"/>
          </a:xfrm>
          <a:prstGeom prst="roundRect">
            <a:avLst>
              <a:gd name="adj" fmla="val 7354"/>
            </a:avLst>
          </a:prstGeom>
          <a:solidFill>
            <a:srgbClr val="2B67A8"/>
          </a:solidFill>
          <a:ln/>
        </p:spPr>
        <p:txBody>
          <a:bodyPr/>
          <a:lstStyle/>
          <a:p>
            <a:endParaRPr lang="en-US"/>
          </a:p>
        </p:txBody>
      </p:sp>
      <p:sp>
        <p:nvSpPr>
          <p:cNvPr id="5" name="Text 3"/>
          <p:cNvSpPr/>
          <p:nvPr/>
        </p:nvSpPr>
        <p:spPr>
          <a:xfrm>
            <a:off x="990600" y="1826155"/>
            <a:ext cx="223685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8F5"/>
                </a:solidFill>
                <a:latin typeface="IBM Plex Sans" pitchFamily="34" charset="0"/>
                <a:ea typeface="IBM Plex Sans" pitchFamily="34" charset="-122"/>
                <a:cs typeface="IBM Plex Sans" pitchFamily="34" charset="-120"/>
              </a:rPr>
              <a:t>Octet 1</a:t>
            </a:r>
            <a:endParaRPr lang="en-US" sz="1200" dirty="0"/>
          </a:p>
        </p:txBody>
      </p:sp>
      <p:sp>
        <p:nvSpPr>
          <p:cNvPr id="6" name="Text 4"/>
          <p:cNvSpPr/>
          <p:nvPr/>
        </p:nvSpPr>
        <p:spPr>
          <a:xfrm>
            <a:off x="990600" y="2090210"/>
            <a:ext cx="2236851" cy="523214"/>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FCFBF7"/>
                </a:solidFill>
                <a:latin typeface="JetBrains Mono" pitchFamily="49" charset="0"/>
                <a:ea typeface="JetBrains Mono" pitchFamily="49" charset="-122"/>
                <a:cs typeface="JetBrains Mono" pitchFamily="49" charset="-120"/>
              </a:rPr>
              <a:t>192</a:t>
            </a:r>
            <a:endParaRPr lang="en-US" sz="2800" dirty="0"/>
          </a:p>
        </p:txBody>
      </p:sp>
      <p:sp>
        <p:nvSpPr>
          <p:cNvPr id="7" name="Text 5"/>
          <p:cNvSpPr/>
          <p:nvPr/>
        </p:nvSpPr>
        <p:spPr>
          <a:xfrm>
            <a:off x="990600" y="2638822"/>
            <a:ext cx="223685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8F5"/>
                </a:solidFill>
                <a:latin typeface="JetBrains Mono" pitchFamily="49" charset="0"/>
                <a:ea typeface="JetBrains Mono" pitchFamily="49" charset="-122"/>
                <a:cs typeface="JetBrains Mono" pitchFamily="49" charset="-120"/>
              </a:rPr>
              <a:t>11000000</a:t>
            </a:r>
            <a:endParaRPr lang="en-US" sz="1200" dirty="0"/>
          </a:p>
        </p:txBody>
      </p:sp>
      <p:sp>
        <p:nvSpPr>
          <p:cNvPr id="8" name="Shape 6"/>
          <p:cNvSpPr/>
          <p:nvPr/>
        </p:nvSpPr>
        <p:spPr>
          <a:xfrm>
            <a:off x="3492500" y="1648355"/>
            <a:ext cx="2527300" cy="1381522"/>
          </a:xfrm>
          <a:prstGeom prst="roundRect">
            <a:avLst>
              <a:gd name="adj" fmla="val 7354"/>
            </a:avLst>
          </a:prstGeom>
          <a:solidFill>
            <a:srgbClr val="2B67A8"/>
          </a:solidFill>
          <a:ln/>
        </p:spPr>
        <p:txBody>
          <a:bodyPr/>
          <a:lstStyle/>
          <a:p>
            <a:endParaRPr lang="en-US"/>
          </a:p>
        </p:txBody>
      </p:sp>
      <p:sp>
        <p:nvSpPr>
          <p:cNvPr id="9" name="Text 7"/>
          <p:cNvSpPr/>
          <p:nvPr/>
        </p:nvSpPr>
        <p:spPr>
          <a:xfrm>
            <a:off x="3670300" y="1826155"/>
            <a:ext cx="223685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8F5"/>
                </a:solidFill>
                <a:latin typeface="IBM Plex Sans" pitchFamily="34" charset="0"/>
                <a:ea typeface="IBM Plex Sans" pitchFamily="34" charset="-122"/>
                <a:cs typeface="IBM Plex Sans" pitchFamily="34" charset="-120"/>
              </a:rPr>
              <a:t>Octet 2</a:t>
            </a:r>
            <a:endParaRPr lang="en-US" sz="1200" dirty="0"/>
          </a:p>
        </p:txBody>
      </p:sp>
      <p:sp>
        <p:nvSpPr>
          <p:cNvPr id="10" name="Text 8"/>
          <p:cNvSpPr/>
          <p:nvPr/>
        </p:nvSpPr>
        <p:spPr>
          <a:xfrm>
            <a:off x="3670300" y="2090210"/>
            <a:ext cx="2236851" cy="523214"/>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FCFBF7"/>
                </a:solidFill>
                <a:latin typeface="JetBrains Mono" pitchFamily="49" charset="0"/>
                <a:ea typeface="JetBrains Mono" pitchFamily="49" charset="-122"/>
                <a:cs typeface="JetBrains Mono" pitchFamily="49" charset="-120"/>
              </a:rPr>
              <a:t>168</a:t>
            </a:r>
            <a:endParaRPr lang="en-US" sz="2800" dirty="0"/>
          </a:p>
        </p:txBody>
      </p:sp>
      <p:sp>
        <p:nvSpPr>
          <p:cNvPr id="11" name="Text 9"/>
          <p:cNvSpPr/>
          <p:nvPr/>
        </p:nvSpPr>
        <p:spPr>
          <a:xfrm>
            <a:off x="3670300" y="2638822"/>
            <a:ext cx="223685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8F5"/>
                </a:solidFill>
                <a:latin typeface="JetBrains Mono" pitchFamily="49" charset="0"/>
                <a:ea typeface="JetBrains Mono" pitchFamily="49" charset="-122"/>
                <a:cs typeface="JetBrains Mono" pitchFamily="49" charset="-120"/>
              </a:rPr>
              <a:t>10101000</a:t>
            </a:r>
            <a:endParaRPr lang="en-US" sz="1200" dirty="0"/>
          </a:p>
        </p:txBody>
      </p:sp>
      <p:sp>
        <p:nvSpPr>
          <p:cNvPr id="12" name="Shape 10"/>
          <p:cNvSpPr/>
          <p:nvPr/>
        </p:nvSpPr>
        <p:spPr>
          <a:xfrm>
            <a:off x="6172200" y="1648355"/>
            <a:ext cx="2527300" cy="1381522"/>
          </a:xfrm>
          <a:prstGeom prst="roundRect">
            <a:avLst>
              <a:gd name="adj" fmla="val 7354"/>
            </a:avLst>
          </a:prstGeom>
          <a:solidFill>
            <a:srgbClr val="2B67A8"/>
          </a:solidFill>
          <a:ln/>
        </p:spPr>
        <p:txBody>
          <a:bodyPr/>
          <a:lstStyle/>
          <a:p>
            <a:endParaRPr lang="en-US"/>
          </a:p>
        </p:txBody>
      </p:sp>
      <p:sp>
        <p:nvSpPr>
          <p:cNvPr id="13" name="Text 11"/>
          <p:cNvSpPr/>
          <p:nvPr/>
        </p:nvSpPr>
        <p:spPr>
          <a:xfrm>
            <a:off x="6350000" y="1826155"/>
            <a:ext cx="223685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8F5"/>
                </a:solidFill>
                <a:latin typeface="IBM Plex Sans" pitchFamily="34" charset="0"/>
                <a:ea typeface="IBM Plex Sans" pitchFamily="34" charset="-122"/>
                <a:cs typeface="IBM Plex Sans" pitchFamily="34" charset="-120"/>
              </a:rPr>
              <a:t>Octet 3</a:t>
            </a:r>
            <a:endParaRPr lang="en-US" sz="1200" dirty="0"/>
          </a:p>
        </p:txBody>
      </p:sp>
      <p:sp>
        <p:nvSpPr>
          <p:cNvPr id="14" name="Text 12"/>
          <p:cNvSpPr/>
          <p:nvPr/>
        </p:nvSpPr>
        <p:spPr>
          <a:xfrm>
            <a:off x="6350000" y="2090210"/>
            <a:ext cx="2236851" cy="523214"/>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FCFBF7"/>
                </a:solidFill>
                <a:latin typeface="JetBrains Mono" pitchFamily="49" charset="0"/>
                <a:ea typeface="JetBrains Mono" pitchFamily="49" charset="-122"/>
                <a:cs typeface="JetBrains Mono" pitchFamily="49" charset="-120"/>
              </a:rPr>
              <a:t>10</a:t>
            </a:r>
            <a:endParaRPr lang="en-US" sz="2800" dirty="0"/>
          </a:p>
        </p:txBody>
      </p:sp>
      <p:sp>
        <p:nvSpPr>
          <p:cNvPr id="15" name="Text 13"/>
          <p:cNvSpPr/>
          <p:nvPr/>
        </p:nvSpPr>
        <p:spPr>
          <a:xfrm>
            <a:off x="6350000" y="2638822"/>
            <a:ext cx="223685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8F5"/>
                </a:solidFill>
                <a:latin typeface="JetBrains Mono" pitchFamily="49" charset="0"/>
                <a:ea typeface="JetBrains Mono" pitchFamily="49" charset="-122"/>
                <a:cs typeface="JetBrains Mono" pitchFamily="49" charset="-120"/>
              </a:rPr>
              <a:t>00001010</a:t>
            </a:r>
            <a:endParaRPr lang="en-US" sz="1200" dirty="0"/>
          </a:p>
        </p:txBody>
      </p:sp>
      <p:sp>
        <p:nvSpPr>
          <p:cNvPr id="16" name="Shape 14"/>
          <p:cNvSpPr/>
          <p:nvPr/>
        </p:nvSpPr>
        <p:spPr>
          <a:xfrm>
            <a:off x="8851900" y="1648355"/>
            <a:ext cx="2527300" cy="1381522"/>
          </a:xfrm>
          <a:prstGeom prst="roundRect">
            <a:avLst>
              <a:gd name="adj" fmla="val 7354"/>
            </a:avLst>
          </a:prstGeom>
          <a:solidFill>
            <a:srgbClr val="B8521F"/>
          </a:solidFill>
          <a:ln/>
        </p:spPr>
        <p:txBody>
          <a:bodyPr/>
          <a:lstStyle/>
          <a:p>
            <a:endParaRPr lang="en-US"/>
          </a:p>
        </p:txBody>
      </p:sp>
      <p:sp>
        <p:nvSpPr>
          <p:cNvPr id="17" name="Text 15"/>
          <p:cNvSpPr/>
          <p:nvPr/>
        </p:nvSpPr>
        <p:spPr>
          <a:xfrm>
            <a:off x="9029700" y="1826155"/>
            <a:ext cx="223685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E6D6"/>
                </a:solidFill>
                <a:latin typeface="IBM Plex Sans" pitchFamily="34" charset="0"/>
                <a:ea typeface="IBM Plex Sans" pitchFamily="34" charset="-122"/>
                <a:cs typeface="IBM Plex Sans" pitchFamily="34" charset="-120"/>
              </a:rPr>
              <a:t>Octet 4 · host</a:t>
            </a:r>
            <a:endParaRPr lang="en-US" sz="1200" dirty="0"/>
          </a:p>
        </p:txBody>
      </p:sp>
      <p:sp>
        <p:nvSpPr>
          <p:cNvPr id="18" name="Text 16"/>
          <p:cNvSpPr/>
          <p:nvPr/>
        </p:nvSpPr>
        <p:spPr>
          <a:xfrm>
            <a:off x="9029700" y="2090210"/>
            <a:ext cx="2236851" cy="523214"/>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FCFBF7"/>
                </a:solidFill>
                <a:latin typeface="JetBrains Mono" pitchFamily="49" charset="0"/>
                <a:ea typeface="JetBrains Mono" pitchFamily="49" charset="-122"/>
                <a:cs typeface="JetBrains Mono" pitchFamily="49" charset="-120"/>
              </a:rPr>
              <a:t>25</a:t>
            </a:r>
            <a:endParaRPr lang="en-US" sz="2800" dirty="0"/>
          </a:p>
        </p:txBody>
      </p:sp>
      <p:sp>
        <p:nvSpPr>
          <p:cNvPr id="19" name="Text 17"/>
          <p:cNvSpPr/>
          <p:nvPr/>
        </p:nvSpPr>
        <p:spPr>
          <a:xfrm>
            <a:off x="9029700" y="2638822"/>
            <a:ext cx="223685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BE6D6"/>
                </a:solidFill>
                <a:latin typeface="JetBrains Mono" pitchFamily="49" charset="0"/>
                <a:ea typeface="JetBrains Mono" pitchFamily="49" charset="-122"/>
                <a:cs typeface="JetBrains Mono" pitchFamily="49" charset="-120"/>
              </a:rPr>
              <a:t>00011001</a:t>
            </a:r>
            <a:endParaRPr lang="en-US" sz="1200" dirty="0"/>
          </a:p>
        </p:txBody>
      </p:sp>
      <p:sp>
        <p:nvSpPr>
          <p:cNvPr id="20" name="Text 18"/>
          <p:cNvSpPr/>
          <p:nvPr/>
        </p:nvSpPr>
        <p:spPr>
          <a:xfrm>
            <a:off x="812800" y="3258477"/>
            <a:ext cx="1088339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Blue = network (first 24 bits, mask 255.255.255.0 = </a:t>
            </a:r>
            <a:r>
              <a:rPr lang="en-US" sz="1300" b="1" dirty="0">
                <a:solidFill>
                  <a:srgbClr val="3D4A5C"/>
                </a:solidFill>
                <a:latin typeface="IBM Plex Sans" pitchFamily="34" charset="0"/>
                <a:ea typeface="IBM Plex Sans" pitchFamily="34" charset="-122"/>
                <a:cs typeface="IBM Plex Sans" pitchFamily="34" charset="-120"/>
              </a:rPr>
              <a:t>/24</a:t>
            </a:r>
            <a:r>
              <a:rPr lang="en-US" sz="1300" dirty="0">
                <a:solidFill>
                  <a:srgbClr val="3D4A5C"/>
                </a:solidFill>
                <a:latin typeface="IBM Plex Sans" pitchFamily="34" charset="0"/>
                <a:ea typeface="IBM Plex Sans" pitchFamily="34" charset="-122"/>
                <a:cs typeface="IBM Plex Sans" pitchFamily="34" charset="-120"/>
              </a:rPr>
              <a:t>). Orange = host. Same network = same first 24 bits.</a:t>
            </a:r>
            <a:endParaRPr lang="en-US" sz="1300" dirty="0"/>
          </a:p>
        </p:txBody>
      </p:sp>
      <p:sp>
        <p:nvSpPr>
          <p:cNvPr id="21" name="Shape 19"/>
          <p:cNvSpPr/>
          <p:nvPr/>
        </p:nvSpPr>
        <p:spPr>
          <a:xfrm>
            <a:off x="815975" y="3721367"/>
            <a:ext cx="3414183" cy="1072092"/>
          </a:xfrm>
          <a:prstGeom prst="roundRect">
            <a:avLst>
              <a:gd name="adj" fmla="val 9181"/>
            </a:avLst>
          </a:prstGeom>
          <a:solidFill>
            <a:srgbClr val="FCFBF7"/>
          </a:solidFill>
          <a:ln w="6350">
            <a:solidFill>
              <a:srgbClr val="DCD8CC"/>
            </a:solidFill>
            <a:prstDash val="solid"/>
          </a:ln>
        </p:spPr>
        <p:txBody>
          <a:bodyPr/>
          <a:lstStyle/>
          <a:p>
            <a:endParaRPr lang="en-US"/>
          </a:p>
        </p:txBody>
      </p:sp>
      <p:sp>
        <p:nvSpPr>
          <p:cNvPr id="22" name="Text 20"/>
          <p:cNvSpPr/>
          <p:nvPr/>
        </p:nvSpPr>
        <p:spPr>
          <a:xfrm>
            <a:off x="999067" y="3904456"/>
            <a:ext cx="31394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IPv4</a:t>
            </a:r>
            <a:endParaRPr lang="en-US" sz="1500" dirty="0"/>
          </a:p>
        </p:txBody>
      </p:sp>
      <p:sp>
        <p:nvSpPr>
          <p:cNvPr id="23" name="Text 21"/>
          <p:cNvSpPr/>
          <p:nvPr/>
        </p:nvSpPr>
        <p:spPr>
          <a:xfrm>
            <a:off x="999067" y="4183856"/>
            <a:ext cx="3139440"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32 bits, 4 octets of 0–255. About 4.3 billion addresses.</a:t>
            </a:r>
            <a:endParaRPr lang="en-US" sz="1200" dirty="0"/>
          </a:p>
        </p:txBody>
      </p:sp>
      <p:sp>
        <p:nvSpPr>
          <p:cNvPr id="24" name="Shape 22"/>
          <p:cNvSpPr/>
          <p:nvPr/>
        </p:nvSpPr>
        <p:spPr>
          <a:xfrm>
            <a:off x="4388908" y="3721367"/>
            <a:ext cx="3414183" cy="1072092"/>
          </a:xfrm>
          <a:prstGeom prst="roundRect">
            <a:avLst>
              <a:gd name="adj" fmla="val 9181"/>
            </a:avLst>
          </a:prstGeom>
          <a:solidFill>
            <a:srgbClr val="FCFBF7"/>
          </a:solidFill>
          <a:ln w="6350">
            <a:solidFill>
              <a:srgbClr val="DCD8CC"/>
            </a:solidFill>
            <a:prstDash val="solid"/>
          </a:ln>
        </p:spPr>
        <p:txBody>
          <a:bodyPr/>
          <a:lstStyle/>
          <a:p>
            <a:endParaRPr lang="en-US"/>
          </a:p>
        </p:txBody>
      </p:sp>
      <p:sp>
        <p:nvSpPr>
          <p:cNvPr id="25" name="Text 23"/>
          <p:cNvSpPr/>
          <p:nvPr/>
        </p:nvSpPr>
        <p:spPr>
          <a:xfrm>
            <a:off x="4572000" y="3904456"/>
            <a:ext cx="31394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IPv6</a:t>
            </a:r>
            <a:endParaRPr lang="en-US" sz="1500" dirty="0"/>
          </a:p>
        </p:txBody>
      </p:sp>
      <p:sp>
        <p:nvSpPr>
          <p:cNvPr id="26" name="Text 24"/>
          <p:cNvSpPr/>
          <p:nvPr/>
        </p:nvSpPr>
        <p:spPr>
          <a:xfrm>
            <a:off x="4572000" y="4183856"/>
            <a:ext cx="3139440"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128 bits in hex, e.g. 2001:db8::1. Subnets are /64.</a:t>
            </a:r>
            <a:endParaRPr lang="en-US" sz="1200" dirty="0"/>
          </a:p>
        </p:txBody>
      </p:sp>
      <p:sp>
        <p:nvSpPr>
          <p:cNvPr id="27" name="Shape 25"/>
          <p:cNvSpPr/>
          <p:nvPr/>
        </p:nvSpPr>
        <p:spPr>
          <a:xfrm>
            <a:off x="7961842" y="3721367"/>
            <a:ext cx="3414183" cy="1072092"/>
          </a:xfrm>
          <a:prstGeom prst="roundRect">
            <a:avLst>
              <a:gd name="adj" fmla="val 9181"/>
            </a:avLst>
          </a:prstGeom>
          <a:solidFill>
            <a:srgbClr val="FCFBF7"/>
          </a:solidFill>
          <a:ln w="6350">
            <a:solidFill>
              <a:srgbClr val="DCD8CC"/>
            </a:solidFill>
            <a:prstDash val="solid"/>
          </a:ln>
        </p:spPr>
        <p:txBody>
          <a:bodyPr/>
          <a:lstStyle/>
          <a:p>
            <a:endParaRPr lang="en-US"/>
          </a:p>
        </p:txBody>
      </p:sp>
      <p:sp>
        <p:nvSpPr>
          <p:cNvPr id="28" name="Text 26"/>
          <p:cNvSpPr/>
          <p:nvPr/>
        </p:nvSpPr>
        <p:spPr>
          <a:xfrm>
            <a:off x="8144934" y="3904456"/>
            <a:ext cx="313944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Subnet</a:t>
            </a:r>
            <a:endParaRPr lang="en-US" sz="1500" dirty="0"/>
          </a:p>
        </p:txBody>
      </p:sp>
      <p:sp>
        <p:nvSpPr>
          <p:cNvPr id="29" name="Text 27"/>
          <p:cNvSpPr/>
          <p:nvPr/>
        </p:nvSpPr>
        <p:spPr>
          <a:xfrm>
            <a:off x="8144934" y="4183856"/>
            <a:ext cx="3139440"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A slice of a network sharing one prefix; hosts talk directly, others go via the gateway.</a:t>
            </a:r>
            <a:endParaRPr lang="en-US" sz="1200" dirty="0"/>
          </a:p>
        </p:txBody>
      </p:sp>
      <p:sp>
        <p:nvSpPr>
          <p:cNvPr id="30" name="Text 28"/>
          <p:cNvSpPr/>
          <p:nvPr/>
        </p:nvSpPr>
        <p:spPr>
          <a:xfrm>
            <a:off x="812800" y="6238348"/>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TYPES OF IP ADDRESSES</a:t>
            </a:r>
            <a:endParaRPr lang="en-US" sz="1200" dirty="0"/>
          </a:p>
        </p:txBody>
      </p:sp>
      <p:sp>
        <p:nvSpPr>
          <p:cNvPr id="3" name="Text 1"/>
          <p:cNvSpPr>
            <a:spLocks noGrp="1"/>
          </p:cNvSpPr>
          <p:nvPr>
            <p:ph type="title"/>
          </p:nvPr>
        </p:nvSpPr>
        <p:spPr>
          <a:xfrm>
            <a:off x="812800" y="1000655"/>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Not every address is reachable from the internet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631422"/>
          <a:ext cx="10557933" cy="2840038"/>
        </p:xfrm>
        <a:graphic>
          <a:graphicData uri="http://schemas.openxmlformats.org/drawingml/2006/table">
            <a:tbl>
              <a:tblPr/>
              <a:tblGrid>
                <a:gridCol w="2322745">
                  <a:extLst>
                    <a:ext uri="{9D8B030D-6E8A-4147-A177-3AD203B41FA5}">
                      <a16:colId xmlns:a16="http://schemas.microsoft.com/office/drawing/2014/main" val="20000"/>
                    </a:ext>
                  </a:extLst>
                </a:gridCol>
                <a:gridCol w="2956221">
                  <a:extLst>
                    <a:ext uri="{9D8B030D-6E8A-4147-A177-3AD203B41FA5}">
                      <a16:colId xmlns:a16="http://schemas.microsoft.com/office/drawing/2014/main" val="20001"/>
                    </a:ext>
                  </a:extLst>
                </a:gridCol>
                <a:gridCol w="5278967">
                  <a:extLst>
                    <a:ext uri="{9D8B030D-6E8A-4147-A177-3AD203B41FA5}">
                      <a16:colId xmlns:a16="http://schemas.microsoft.com/office/drawing/2014/main" val="20002"/>
                    </a:ext>
                  </a:extLst>
                </a:gridCol>
              </a:tblGrid>
              <a:tr h="328348">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Type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Range</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Where you meet it</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541602">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Private (RFC 1918)</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10.0.0.0/8 · 172.16.0.0/12 · 192.168.0.0/16</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Home LANs, offices, every VPC and VNet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Public</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Everything globally routable</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ISP-assigned, Elastic IP (AWS), Public IP (Azure)</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2"/>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Loopback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127.0.0.0/8 (::1 in IPv6)</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The machine talking to itself</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Link-local / APIPA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169.254.0.0/16 (fe80::/10)</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No DHCP answer; cloud metadata at 169.254.169.254</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4"/>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Shared / CGNAT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100.64.0.0/10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Carrier NAT; sometimes used to extend VPCs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Multicast · Broadcast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224.0.0.0/4 · 255.255.255.255</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One-to-many on LANs; not supported in VPC/VNet</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6"/>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IPv6 global / ULA</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2000::/3 · fc00::/7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Dual-stack VPCs and VNets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5975" y="4677835"/>
            <a:ext cx="5200650" cy="691092"/>
          </a:xfrm>
          <a:prstGeom prst="roundRect">
            <a:avLst>
              <a:gd name="adj" fmla="val 10567"/>
            </a:avLst>
          </a:prstGeom>
          <a:solidFill>
            <a:srgbClr val="FCFBF7"/>
          </a:solidFill>
          <a:ln w="6350">
            <a:solidFill>
              <a:srgbClr val="DCD8CC"/>
            </a:solidFill>
            <a:prstDash val="solid"/>
          </a:ln>
        </p:spPr>
        <p:txBody>
          <a:bodyPr wrap="square" lIns="136303" tIns="110903" rIns="0" bIns="85503" rtlCol="0" anchor="t">
            <a:normAutofit/>
          </a:bodyPr>
          <a:lstStyle/>
          <a:p>
            <a:pPr marL="0" indent="0" algn="l">
              <a:lnSpc>
                <a:spcPts val="1680"/>
              </a:lnSpc>
              <a:buNone/>
            </a:pPr>
            <a:r>
              <a:rPr lang="en-US" sz="1200" b="1" dirty="0">
                <a:solidFill>
                  <a:srgbClr val="3D4A5C"/>
                </a:solidFill>
                <a:latin typeface="IBM Plex Sans" pitchFamily="34" charset="0"/>
                <a:ea typeface="IBM Plex Sans" pitchFamily="34" charset="-122"/>
                <a:cs typeface="IBM Plex Sans" pitchFamily="34" charset="-120"/>
              </a:rPr>
              <a:t>Static vs dynamic:</a:t>
            </a:r>
            <a:r>
              <a:rPr lang="en-US" sz="1200" dirty="0">
                <a:solidFill>
                  <a:srgbClr val="3D4A5C"/>
                </a:solidFill>
                <a:latin typeface="IBM Plex Sans" pitchFamily="34" charset="0"/>
                <a:ea typeface="IBM Plex Sans" pitchFamily="34" charset="-122"/>
                <a:cs typeface="IBM Plex Sans" pitchFamily="34" charset="-120"/>
              </a:rPr>
              <a:t> fixed by an admin, or leased by DHCP.</a:t>
            </a:r>
            <a:endParaRPr lang="en-US" sz="1200" dirty="0"/>
          </a:p>
        </p:txBody>
      </p:sp>
      <p:sp>
        <p:nvSpPr>
          <p:cNvPr id="6" name="Text 3"/>
          <p:cNvSpPr/>
          <p:nvPr/>
        </p:nvSpPr>
        <p:spPr>
          <a:xfrm>
            <a:off x="6175375" y="4677835"/>
            <a:ext cx="5200650" cy="691092"/>
          </a:xfrm>
          <a:prstGeom prst="roundRect">
            <a:avLst>
              <a:gd name="adj" fmla="val 10567"/>
            </a:avLst>
          </a:prstGeom>
          <a:solidFill>
            <a:srgbClr val="FCFBF7"/>
          </a:solidFill>
          <a:ln w="6350">
            <a:solidFill>
              <a:srgbClr val="DCD8CC"/>
            </a:solidFill>
            <a:prstDash val="solid"/>
          </a:ln>
        </p:spPr>
        <p:txBody>
          <a:bodyPr wrap="square" lIns="136303" tIns="110903" rIns="0" bIns="85503" rtlCol="0" anchor="t">
            <a:normAutofit/>
          </a:bodyPr>
          <a:lstStyle/>
          <a:p>
            <a:pPr marL="0" indent="0" algn="l">
              <a:lnSpc>
                <a:spcPts val="1680"/>
              </a:lnSpc>
              <a:buNone/>
            </a:pPr>
            <a:r>
              <a:rPr lang="en-US" sz="1200" b="1" dirty="0">
                <a:solidFill>
                  <a:srgbClr val="3D4A5C"/>
                </a:solidFill>
                <a:latin typeface="IBM Plex Sans" pitchFamily="34" charset="0"/>
                <a:ea typeface="IBM Plex Sans" pitchFamily="34" charset="-122"/>
                <a:cs typeface="IBM Plex Sans" pitchFamily="34" charset="-120"/>
              </a:rPr>
              <a:t>Delivery:</a:t>
            </a:r>
            <a:r>
              <a:rPr lang="en-US" sz="1200" dirty="0">
                <a:solidFill>
                  <a:srgbClr val="3D4A5C"/>
                </a:solidFill>
                <a:latin typeface="IBM Plex Sans" pitchFamily="34" charset="0"/>
                <a:ea typeface="IBM Plex Sans" pitchFamily="34" charset="-122"/>
                <a:cs typeface="IBM Plex Sans" pitchFamily="34" charset="-120"/>
              </a:rPr>
              <a:t> unicast (one), broadcast (all), multicast (group), anycast (nearest).</a:t>
            </a:r>
            <a:endParaRPr lang="en-US" sz="1200" dirty="0"/>
          </a:p>
        </p:txBody>
      </p:sp>
      <p:sp>
        <p:nvSpPr>
          <p:cNvPr id="7" name="Text 4"/>
          <p:cNvSpPr/>
          <p:nvPr/>
        </p:nvSpPr>
        <p:spPr>
          <a:xfrm>
            <a:off x="812800" y="6238348"/>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SUBNETTING WITH CIDR</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Addresses in a block = 2</a:t>
            </a:r>
            <a:r>
              <a:rPr lang="en-US" sz="3000" b="1" i="0" dirty="0">
                <a:solidFill>
                  <a:srgbClr val="B8521F"/>
                </a:solidFill>
                <a:latin typeface="IBM Plex Sans" pitchFamily="34" charset="0"/>
                <a:ea typeface="IBM Plex Sans" pitchFamily="34" charset="-122"/>
                <a:cs typeface="IBM Plex Sans" pitchFamily="34" charset="-120"/>
              </a:rPr>
              <a:t>^(32 − prefix)</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631425"/>
          <a:ext cx="6849533" cy="3425564"/>
        </p:xfrm>
        <a:graphic>
          <a:graphicData uri="http://schemas.openxmlformats.org/drawingml/2006/table">
            <a:tbl>
              <a:tblPr/>
              <a:tblGrid>
                <a:gridCol w="958935">
                  <a:extLst>
                    <a:ext uri="{9D8B030D-6E8A-4147-A177-3AD203B41FA5}">
                      <a16:colId xmlns:a16="http://schemas.microsoft.com/office/drawing/2014/main" val="20000"/>
                    </a:ext>
                  </a:extLst>
                </a:gridCol>
                <a:gridCol w="2054860">
                  <a:extLst>
                    <a:ext uri="{9D8B030D-6E8A-4147-A177-3AD203B41FA5}">
                      <a16:colId xmlns:a16="http://schemas.microsoft.com/office/drawing/2014/main" val="20001"/>
                    </a:ext>
                  </a:extLst>
                </a:gridCol>
                <a:gridCol w="1232916">
                  <a:extLst>
                    <a:ext uri="{9D8B030D-6E8A-4147-A177-3AD203B41FA5}">
                      <a16:colId xmlns:a16="http://schemas.microsoft.com/office/drawing/2014/main" val="20002"/>
                    </a:ext>
                  </a:extLst>
                </a:gridCol>
                <a:gridCol w="1301411">
                  <a:extLst>
                    <a:ext uri="{9D8B030D-6E8A-4147-A177-3AD203B41FA5}">
                      <a16:colId xmlns:a16="http://schemas.microsoft.com/office/drawing/2014/main" val="20003"/>
                    </a:ext>
                  </a:extLst>
                </a:gridCol>
                <a:gridCol w="1301411">
                  <a:extLst>
                    <a:ext uri="{9D8B030D-6E8A-4147-A177-3AD203B41FA5}">
                      <a16:colId xmlns:a16="http://schemas.microsoft.com/office/drawing/2014/main" val="20004"/>
                    </a:ext>
                  </a:extLst>
                </a:gridCol>
              </a:tblGrid>
              <a:tr h="354939">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Prefix</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Mask</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Total</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Usable LAN</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Usable cloud</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255.255.0.0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65,536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65,534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65,531</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8B8A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8AB"/>
                      </a:solidFill>
                      <a:prstDash val="solid"/>
                      <a:round/>
                      <a:headEnd type="none" w="med" len="med"/>
                      <a:tailEnd type="none" w="med" len="med"/>
                    </a:lnB>
                    <a:solidFill>
                      <a:srgbClr val="FBE6D6"/>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255.255.255.0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8AB"/>
                      </a:solidFill>
                      <a:prstDash val="solid"/>
                      <a:round/>
                      <a:headEnd type="none" w="med" len="med"/>
                      <a:tailEnd type="none" w="med" len="med"/>
                    </a:lnL>
                    <a:lnR w="12700" cap="flat" cmpd="sng" algn="ctr">
                      <a:solidFill>
                        <a:srgbClr val="C8B8A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8AB"/>
                      </a:solidFill>
                      <a:prstDash val="solid"/>
                      <a:round/>
                      <a:headEnd type="none" w="med" len="med"/>
                      <a:tailEnd type="none" w="med" len="med"/>
                    </a:lnB>
                    <a:solidFill>
                      <a:srgbClr val="FBE6D6"/>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256</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8AB"/>
                      </a:solidFill>
                      <a:prstDash val="solid"/>
                      <a:round/>
                      <a:headEnd type="none" w="med" len="med"/>
                      <a:tailEnd type="none" w="med" len="med"/>
                    </a:lnL>
                    <a:lnR w="12700" cap="flat" cmpd="sng" algn="ctr">
                      <a:solidFill>
                        <a:srgbClr val="C8B8A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8AB"/>
                      </a:solidFill>
                      <a:prstDash val="solid"/>
                      <a:round/>
                      <a:headEnd type="none" w="med" len="med"/>
                      <a:tailEnd type="none" w="med" len="med"/>
                    </a:lnB>
                    <a:solidFill>
                      <a:srgbClr val="FBE6D6"/>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254</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8AB"/>
                      </a:solidFill>
                      <a:prstDash val="solid"/>
                      <a:round/>
                      <a:headEnd type="none" w="med" len="med"/>
                      <a:tailEnd type="none" w="med" len="med"/>
                    </a:lnL>
                    <a:lnR w="12700" cap="flat" cmpd="sng" algn="ctr">
                      <a:solidFill>
                        <a:srgbClr val="C8B8A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8AB"/>
                      </a:solidFill>
                      <a:prstDash val="solid"/>
                      <a:round/>
                      <a:headEnd type="none" w="med" len="med"/>
                      <a:tailEnd type="none" w="med" len="med"/>
                    </a:lnB>
                    <a:solidFill>
                      <a:srgbClr val="FBE6D6"/>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251</a:t>
                      </a:r>
                      <a:endParaRPr lang="en-US" sz="1300" dirty="0">
                        <a:latin typeface="IBM Plex Sans" charset="0"/>
                        <a:ea typeface="IBM Plex Sans" charset="0"/>
                        <a:cs typeface="IBM Plex Sans" charset="0"/>
                      </a:endParaRPr>
                    </a:p>
                  </a:txBody>
                  <a:tcPr marL="57785" marR="57785" marT="57785" marB="57785">
                    <a:lnL w="12700" cap="flat" cmpd="sng" algn="ctr">
                      <a:solidFill>
                        <a:srgbClr val="C8B8AB"/>
                      </a:solidFill>
                      <a:prstDash val="solid"/>
                      <a:round/>
                      <a:headEnd type="none" w="med" len="med"/>
                      <a:tailEnd type="none" w="med" len="med"/>
                    </a:lnL>
                    <a:lnR w="12700" cap="flat" cmpd="sng" algn="ctr">
                      <a:solidFill>
                        <a:srgbClr val="C8B8AB"/>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8B8AB"/>
                      </a:solidFill>
                      <a:prstDash val="solid"/>
                      <a:round/>
                      <a:headEnd type="none" w="med" len="med"/>
                      <a:tailEnd type="none" w="med" len="med"/>
                    </a:lnB>
                    <a:solidFill>
                      <a:srgbClr val="FBE6D6"/>
                    </a:solidFill>
                  </a:tcPr>
                </a:tc>
                <a:extLst>
                  <a:ext uri="{0D108BD9-81ED-4DB2-BD59-A6C34878D82A}">
                    <a16:rowId xmlns:a16="http://schemas.microsoft.com/office/drawing/2014/main" val="10002"/>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8AB"/>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255.255.255.128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8AB"/>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128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8AB"/>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126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8AB"/>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123</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8B8AB"/>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255.255.255.192</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64</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62</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59</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4"/>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/27</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255.255.255.224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32</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30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27</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255.255.255.240</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16</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14</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11</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6"/>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/29</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255.255.255.248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3 (Azure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7"/>
                  </a:ext>
                </a:extLst>
              </a:tr>
              <a:tr h="586052">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/30</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255.255.255.252</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 (router links)</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8"/>
                  </a:ext>
                </a:extLst>
              </a:tr>
            </a:tbl>
          </a:graphicData>
        </a:graphic>
      </p:graphicFrame>
      <p:sp>
        <p:nvSpPr>
          <p:cNvPr id="5" name="Shape 2"/>
          <p:cNvSpPr/>
          <p:nvPr/>
        </p:nvSpPr>
        <p:spPr>
          <a:xfrm>
            <a:off x="7924800" y="1622958"/>
            <a:ext cx="3454400" cy="1272117"/>
          </a:xfrm>
          <a:prstGeom prst="roundRect">
            <a:avLst>
              <a:gd name="adj" fmla="val 7987"/>
            </a:avLst>
          </a:prstGeom>
          <a:solidFill>
            <a:srgbClr val="13233A"/>
          </a:solidFill>
          <a:ln/>
        </p:spPr>
        <p:txBody>
          <a:bodyPr/>
          <a:lstStyle/>
          <a:p>
            <a:endParaRPr lang="en-US"/>
          </a:p>
        </p:txBody>
      </p:sp>
      <p:sp>
        <p:nvSpPr>
          <p:cNvPr id="6" name="Text 3"/>
          <p:cNvSpPr/>
          <p:nvPr/>
        </p:nvSpPr>
        <p:spPr>
          <a:xfrm>
            <a:off x="8102600" y="1800758"/>
            <a:ext cx="3191764"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Why cloud = total − 5</a:t>
            </a:r>
            <a:endParaRPr lang="en-US" sz="1400" dirty="0"/>
          </a:p>
        </p:txBody>
      </p:sp>
      <p:sp>
        <p:nvSpPr>
          <p:cNvPr id="7" name="Text 4"/>
          <p:cNvSpPr/>
          <p:nvPr/>
        </p:nvSpPr>
        <p:spPr>
          <a:xfrm>
            <a:off x="8102600" y="2077510"/>
            <a:ext cx="3191764" cy="66516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DF3"/>
                </a:solidFill>
                <a:latin typeface="IBM Plex Sans" pitchFamily="34" charset="0"/>
                <a:ea typeface="IBM Plex Sans" pitchFamily="34" charset="-122"/>
                <a:cs typeface="IBM Plex Sans" pitchFamily="34" charset="-120"/>
              </a:rPr>
              <a:t>AWS and Azure each reserve 5 addresses per subnet: network, .1 router, .2 DNS, .3 future, and the last one.</a:t>
            </a:r>
            <a:endParaRPr lang="en-US" sz="1200" dirty="0"/>
          </a:p>
        </p:txBody>
      </p:sp>
      <p:sp>
        <p:nvSpPr>
          <p:cNvPr id="8" name="Shape 5"/>
          <p:cNvSpPr/>
          <p:nvPr/>
        </p:nvSpPr>
        <p:spPr>
          <a:xfrm>
            <a:off x="7927975" y="3025248"/>
            <a:ext cx="3448050" cy="1069446"/>
          </a:xfrm>
          <a:prstGeom prst="roundRect">
            <a:avLst>
              <a:gd name="adj" fmla="val 9203"/>
            </a:avLst>
          </a:prstGeom>
          <a:solidFill>
            <a:srgbClr val="FCFBF7"/>
          </a:solidFill>
          <a:ln w="6350">
            <a:solidFill>
              <a:srgbClr val="DCD8CC"/>
            </a:solidFill>
            <a:prstDash val="solid"/>
          </a:ln>
        </p:spPr>
        <p:txBody>
          <a:bodyPr/>
          <a:lstStyle/>
          <a:p>
            <a:endParaRPr lang="en-US"/>
          </a:p>
        </p:txBody>
      </p:sp>
      <p:sp>
        <p:nvSpPr>
          <p:cNvPr id="9" name="Text 6"/>
          <p:cNvSpPr/>
          <p:nvPr/>
        </p:nvSpPr>
        <p:spPr>
          <a:xfrm>
            <a:off x="8111067" y="3208338"/>
            <a:ext cx="3174323"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Size limits</a:t>
            </a:r>
            <a:endParaRPr lang="en-US" sz="1400" dirty="0"/>
          </a:p>
        </p:txBody>
      </p:sp>
      <p:sp>
        <p:nvSpPr>
          <p:cNvPr id="10" name="Text 7"/>
          <p:cNvSpPr/>
          <p:nvPr/>
        </p:nvSpPr>
        <p:spPr>
          <a:xfrm>
            <a:off x="8111067" y="3485096"/>
            <a:ext cx="3174323"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AWS VPC and subnet: /16 to /28. Azure smallest subnet: /29.</a:t>
            </a:r>
            <a:endParaRPr lang="en-US" sz="1200" dirty="0"/>
          </a:p>
        </p:txBody>
      </p:sp>
      <p:sp>
        <p:nvSpPr>
          <p:cNvPr id="11" name="Text 8"/>
          <p:cNvSpPr/>
          <p:nvPr/>
        </p:nvSpPr>
        <p:spPr>
          <a:xfrm>
            <a:off x="812800" y="6238348"/>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EXERCISE · 5 MINUTES</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Plan today's address space before you click anything</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631425"/>
          <a:ext cx="10557933" cy="2484573"/>
        </p:xfrm>
        <a:graphic>
          <a:graphicData uri="http://schemas.openxmlformats.org/drawingml/2006/table">
            <a:tbl>
              <a:tblPr/>
              <a:tblGrid>
                <a:gridCol w="1900428">
                  <a:extLst>
                    <a:ext uri="{9D8B030D-6E8A-4147-A177-3AD203B41FA5}">
                      <a16:colId xmlns:a16="http://schemas.microsoft.com/office/drawing/2014/main" val="20000"/>
                    </a:ext>
                  </a:extLst>
                </a:gridCol>
                <a:gridCol w="2533904">
                  <a:extLst>
                    <a:ext uri="{9D8B030D-6E8A-4147-A177-3AD203B41FA5}">
                      <a16:colId xmlns:a16="http://schemas.microsoft.com/office/drawing/2014/main" val="20001"/>
                    </a:ext>
                  </a:extLst>
                </a:gridCol>
                <a:gridCol w="2533904">
                  <a:extLst>
                    <a:ext uri="{9D8B030D-6E8A-4147-A177-3AD203B41FA5}">
                      <a16:colId xmlns:a16="http://schemas.microsoft.com/office/drawing/2014/main" val="20002"/>
                    </a:ext>
                  </a:extLst>
                </a:gridCol>
                <a:gridCol w="3589697">
                  <a:extLst>
                    <a:ext uri="{9D8B030D-6E8A-4147-A177-3AD203B41FA5}">
                      <a16:colId xmlns:a16="http://schemas.microsoft.com/office/drawing/2014/main" val="20003"/>
                    </a:ext>
                  </a:extLst>
                </a:gridCol>
              </a:tblGrid>
              <a:tr h="354939">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Lab</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Network</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Subnet</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820"/>
                        </a:lnSpc>
                        <a:buNone/>
                      </a:pPr>
                      <a:r>
                        <a:rPr lang="en-US" sz="1300" b="1" dirty="0">
                          <a:solidFill>
                            <a:srgbClr val="2A3646"/>
                          </a:solidFill>
                          <a:latin typeface="IBM Plex Sans" pitchFamily="34" charset="0"/>
                          <a:ea typeface="IBM Plex Sans" pitchFamily="34" charset="-122"/>
                          <a:cs typeface="IBM Plex Sans" pitchFamily="34" charset="-120"/>
                        </a:rPr>
                        <a:t>Purpose</a:t>
                      </a:r>
                      <a:endParaRPr lang="en-US" sz="1300" dirty="0">
                        <a:latin typeface="IBM Plex Sans" charset="0"/>
                        <a:ea typeface="IBM Plex Sans" charset="0"/>
                        <a:cs typeface="IBM Plex Sans" charset="0"/>
                      </a:endParaRPr>
                    </a:p>
                  </a:txBody>
                  <a:tcPr marL="57785" marR="57785" marT="57785" marB="57785">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AWS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lab-vpc 10.0.0.0/16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10.0.1.0/24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lab-public (route to internet gateway)</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AWS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lab-vpc 10.0.0.0/16</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10.0.2.0/24</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lab-private (local route only)</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2"/>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Azure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vnet-lab 10.1.0.0/16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10.1.1.0/24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snet-web (VM with public IP)</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Azure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vnet-lab 10.1.0.0/16</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10.1.2.0/24</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snet-app (private, UDR applied)</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4"/>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Packet Tracer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192.168.0.0/16</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192.168.10.0/24 · .20.0/24</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VLAN 10 Staff · VLAN 20 Students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r h="354939">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Packet Tracer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10.0.0.0/30</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.1 and .2</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820"/>
                        </a:lnSpc>
                        <a:buNone/>
                      </a:pPr>
                      <a:r>
                        <a:rPr lang="en-US" sz="1300" dirty="0">
                          <a:solidFill>
                            <a:srgbClr val="2A3646"/>
                          </a:solidFill>
                          <a:latin typeface="IBM Plex Sans" pitchFamily="34" charset="0"/>
                          <a:ea typeface="IBM Plex Sans" pitchFamily="34" charset="-122"/>
                          <a:cs typeface="IBM Plex Sans" pitchFamily="34" charset="-120"/>
                        </a:rPr>
                        <a:t>Router-to-router link</a:t>
                      </a:r>
                      <a:endParaRPr lang="en-US" sz="1300" dirty="0">
                        <a:latin typeface="IBM Plex Sans" charset="0"/>
                        <a:ea typeface="IBM Plex Sans" charset="0"/>
                        <a:cs typeface="IBM Plex Sans" charset="0"/>
                      </a:endParaRPr>
                    </a:p>
                  </a:txBody>
                  <a:tcPr marL="57785" marR="57785" marT="57785" marB="57785">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319191"/>
            <a:ext cx="5207000" cy="767027"/>
          </a:xfrm>
          <a:prstGeom prst="roundRect">
            <a:avLst>
              <a:gd name="adj" fmla="val 9934"/>
            </a:avLst>
          </a:prstGeom>
          <a:solidFill>
            <a:srgbClr val="13233A"/>
          </a:solidFill>
          <a:ln/>
        </p:spPr>
        <p:txBody>
          <a:bodyPr wrap="square" lIns="155482" tIns="130082" rIns="9940" bIns="104682" rtlCol="0" anchor="t">
            <a:normAutofit/>
          </a:bodyPr>
          <a:lstStyle/>
          <a:p>
            <a:pPr marL="0" indent="0" algn="l">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Quiz:</a:t>
            </a:r>
            <a:r>
              <a:rPr lang="en-US" sz="1300" dirty="0">
                <a:solidFill>
                  <a:srgbClr val="F6F4EE"/>
                </a:solidFill>
                <a:latin typeface="IBM Plex Sans" pitchFamily="34" charset="0"/>
                <a:ea typeface="IBM Plex Sans" pitchFamily="34" charset="-122"/>
                <a:cs typeface="IBM Plex Sans" pitchFamily="34" charset="-120"/>
              </a:rPr>
              <a:t> first IP a VM can get in 10.0.2.0/24 on AWS or Azure? </a:t>
            </a:r>
            <a:r>
              <a:rPr lang="en-US" sz="1300" dirty="0">
                <a:solidFill>
                  <a:srgbClr val="F2A65A"/>
                </a:solidFill>
                <a:latin typeface="IBM Plex Sans" pitchFamily="34" charset="0"/>
                <a:ea typeface="IBM Plex Sans" pitchFamily="34" charset="-122"/>
                <a:cs typeface="IBM Plex Sans" pitchFamily="34" charset="-120"/>
              </a:rPr>
              <a:t>10.0.2.4</a:t>
            </a:r>
            <a:endParaRPr lang="en-US" sz="1300" dirty="0"/>
          </a:p>
        </p:txBody>
      </p:sp>
      <p:sp>
        <p:nvSpPr>
          <p:cNvPr id="6" name="Text 3"/>
          <p:cNvSpPr/>
          <p:nvPr/>
        </p:nvSpPr>
        <p:spPr>
          <a:xfrm>
            <a:off x="6172200" y="4319191"/>
            <a:ext cx="5207000" cy="767027"/>
          </a:xfrm>
          <a:prstGeom prst="roundRect">
            <a:avLst>
              <a:gd name="adj" fmla="val 9934"/>
            </a:avLst>
          </a:prstGeom>
          <a:solidFill>
            <a:srgbClr val="13233A"/>
          </a:solidFill>
          <a:ln/>
        </p:spPr>
        <p:txBody>
          <a:bodyPr wrap="square" lIns="155482" tIns="130082" rIns="9940" bIns="104682" rtlCol="0" anchor="t">
            <a:normAutofit/>
          </a:bodyPr>
          <a:lstStyle/>
          <a:p>
            <a:pPr marL="0" indent="0" algn="l">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Why different CIDRs?</a:t>
            </a:r>
            <a:r>
              <a:rPr lang="en-US" sz="1300" dirty="0">
                <a:solidFill>
                  <a:srgbClr val="F6F4EE"/>
                </a:solidFill>
                <a:latin typeface="IBM Plex Sans" pitchFamily="34" charset="0"/>
                <a:ea typeface="IBM Plex Sans" pitchFamily="34" charset="-122"/>
                <a:cs typeface="IBM Plex Sans" pitchFamily="34" charset="-120"/>
              </a:rPr>
              <a:t> So AWS, Azure and on-prem could be connected later without overlap.</a:t>
            </a:r>
            <a:endParaRPr lang="en-US" sz="1300" dirty="0"/>
          </a:p>
        </p:txBody>
      </p:sp>
      <p:sp>
        <p:nvSpPr>
          <p:cNvPr id="7" name="Text 4"/>
          <p:cNvSpPr/>
          <p:nvPr/>
        </p:nvSpPr>
        <p:spPr>
          <a:xfrm>
            <a:off x="812800" y="6238348"/>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CONVENTIONAL ROUTING &amp; SWITCHING</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Following one packet from VLAN 10 to VLAN 20</a:t>
            </a:r>
            <a:endParaRPr lang="en-US" sz="3000" dirty="0"/>
          </a:p>
        </p:txBody>
      </p:sp>
      <p:sp>
        <p:nvSpPr>
          <p:cNvPr id="4" name="Shape 2"/>
          <p:cNvSpPr/>
          <p:nvPr/>
        </p:nvSpPr>
        <p:spPr>
          <a:xfrm>
            <a:off x="812800" y="1648358"/>
            <a:ext cx="2546350" cy="980281"/>
          </a:xfrm>
          <a:prstGeom prst="roundRect">
            <a:avLst>
              <a:gd name="adj" fmla="val 10364"/>
            </a:avLst>
          </a:prstGeom>
          <a:solidFill>
            <a:srgbClr val="2B67A8"/>
          </a:solidFill>
          <a:ln/>
        </p:spPr>
        <p:txBody>
          <a:bodyPr/>
          <a:lstStyle/>
          <a:p>
            <a:endParaRPr lang="en-US"/>
          </a:p>
        </p:txBody>
      </p:sp>
      <p:sp>
        <p:nvSpPr>
          <p:cNvPr id="5" name="Text 3"/>
          <p:cNvSpPr/>
          <p:nvPr/>
        </p:nvSpPr>
        <p:spPr>
          <a:xfrm>
            <a:off x="965200" y="1800758"/>
            <a:ext cx="2308796"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CE8F5"/>
                </a:solidFill>
                <a:latin typeface="IBM Plex Sans" pitchFamily="34" charset="0"/>
                <a:ea typeface="IBM Plex Sans" pitchFamily="34" charset="-122"/>
                <a:cs typeface="IBM Plex Sans" pitchFamily="34" charset="-120"/>
              </a:rPr>
              <a:t>1 · PC-A</a:t>
            </a:r>
            <a:endParaRPr lang="en-US" sz="1200" dirty="0"/>
          </a:p>
        </p:txBody>
      </p:sp>
      <p:sp>
        <p:nvSpPr>
          <p:cNvPr id="6" name="Text 4"/>
          <p:cNvSpPr/>
          <p:nvPr/>
        </p:nvSpPr>
        <p:spPr>
          <a:xfrm>
            <a:off x="965200" y="2064810"/>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CFBF7"/>
                </a:solidFill>
                <a:latin typeface="IBM Plex Sans" pitchFamily="34" charset="0"/>
                <a:ea typeface="IBM Plex Sans" pitchFamily="34" charset="-122"/>
                <a:cs typeface="IBM Plex Sans" pitchFamily="34" charset="-120"/>
              </a:rPr>
              <a:t>192.168.10.10 sees the target is off-subnet, ARPs for gateway .1</a:t>
            </a:r>
            <a:endParaRPr lang="en-US" sz="1200" dirty="0"/>
          </a:p>
        </p:txBody>
      </p:sp>
      <p:sp>
        <p:nvSpPr>
          <p:cNvPr id="7" name="Shape 5"/>
          <p:cNvSpPr/>
          <p:nvPr/>
        </p:nvSpPr>
        <p:spPr>
          <a:xfrm>
            <a:off x="3486150" y="1648358"/>
            <a:ext cx="2546350" cy="980281"/>
          </a:xfrm>
          <a:prstGeom prst="roundRect">
            <a:avLst>
              <a:gd name="adj" fmla="val 10364"/>
            </a:avLst>
          </a:prstGeom>
          <a:solidFill>
            <a:srgbClr val="2B67A8"/>
          </a:solidFill>
          <a:ln/>
        </p:spPr>
        <p:txBody>
          <a:bodyPr/>
          <a:lstStyle/>
          <a:p>
            <a:endParaRPr lang="en-US"/>
          </a:p>
        </p:txBody>
      </p:sp>
      <p:sp>
        <p:nvSpPr>
          <p:cNvPr id="8" name="Text 6"/>
          <p:cNvSpPr/>
          <p:nvPr/>
        </p:nvSpPr>
        <p:spPr>
          <a:xfrm>
            <a:off x="3638550" y="1800758"/>
            <a:ext cx="2308796"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CE8F5"/>
                </a:solidFill>
                <a:latin typeface="IBM Plex Sans" pitchFamily="34" charset="0"/>
                <a:ea typeface="IBM Plex Sans" pitchFamily="34" charset="-122"/>
                <a:cs typeface="IBM Plex Sans" pitchFamily="34" charset="-120"/>
              </a:rPr>
              <a:t>2 · Switch</a:t>
            </a:r>
            <a:endParaRPr lang="en-US" sz="1200" dirty="0"/>
          </a:p>
        </p:txBody>
      </p:sp>
      <p:sp>
        <p:nvSpPr>
          <p:cNvPr id="9" name="Text 7"/>
          <p:cNvSpPr/>
          <p:nvPr/>
        </p:nvSpPr>
        <p:spPr>
          <a:xfrm>
            <a:off x="3638550" y="2064810"/>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CFBF7"/>
                </a:solidFill>
                <a:latin typeface="IBM Plex Sans" pitchFamily="34" charset="0"/>
                <a:ea typeface="IBM Plex Sans" pitchFamily="34" charset="-122"/>
                <a:cs typeface="IBM Plex Sans" pitchFamily="34" charset="-120"/>
              </a:rPr>
              <a:t>Looks up gateway MAC, tags the frame VLAN 10 on the trunk</a:t>
            </a:r>
            <a:endParaRPr lang="en-US" sz="1200" dirty="0"/>
          </a:p>
        </p:txBody>
      </p:sp>
      <p:sp>
        <p:nvSpPr>
          <p:cNvPr id="10" name="Shape 8"/>
          <p:cNvSpPr/>
          <p:nvPr/>
        </p:nvSpPr>
        <p:spPr>
          <a:xfrm>
            <a:off x="6159500" y="1648358"/>
            <a:ext cx="2546350" cy="980281"/>
          </a:xfrm>
          <a:prstGeom prst="roundRect">
            <a:avLst>
              <a:gd name="adj" fmla="val 10364"/>
            </a:avLst>
          </a:prstGeom>
          <a:solidFill>
            <a:srgbClr val="B8521F"/>
          </a:solidFill>
          <a:ln/>
        </p:spPr>
        <p:txBody>
          <a:bodyPr/>
          <a:lstStyle/>
          <a:p>
            <a:endParaRPr lang="en-US"/>
          </a:p>
        </p:txBody>
      </p:sp>
      <p:sp>
        <p:nvSpPr>
          <p:cNvPr id="11" name="Text 9"/>
          <p:cNvSpPr/>
          <p:nvPr/>
        </p:nvSpPr>
        <p:spPr>
          <a:xfrm>
            <a:off x="6311900" y="1800758"/>
            <a:ext cx="2308796"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BE6D6"/>
                </a:solidFill>
                <a:latin typeface="IBM Plex Sans" pitchFamily="34" charset="0"/>
                <a:ea typeface="IBM Plex Sans" pitchFamily="34" charset="-122"/>
                <a:cs typeface="IBM Plex Sans" pitchFamily="34" charset="-120"/>
              </a:rPr>
              <a:t>3 · Router</a:t>
            </a:r>
            <a:endParaRPr lang="en-US" sz="1200" dirty="0"/>
          </a:p>
        </p:txBody>
      </p:sp>
      <p:sp>
        <p:nvSpPr>
          <p:cNvPr id="12" name="Text 10"/>
          <p:cNvSpPr/>
          <p:nvPr/>
        </p:nvSpPr>
        <p:spPr>
          <a:xfrm>
            <a:off x="6311900" y="2064810"/>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CFBF7"/>
                </a:solidFill>
                <a:latin typeface="IBM Plex Sans" pitchFamily="34" charset="0"/>
                <a:ea typeface="IBM Plex Sans" pitchFamily="34" charset="-122"/>
                <a:cs typeface="IBM Plex Sans" pitchFamily="34" charset="-120"/>
              </a:rPr>
              <a:t>Longest-prefix match, new L2 header, TTL − 1, out sub-int .20</a:t>
            </a:r>
            <a:endParaRPr lang="en-US" sz="1200" dirty="0"/>
          </a:p>
        </p:txBody>
      </p:sp>
      <p:sp>
        <p:nvSpPr>
          <p:cNvPr id="13" name="Shape 11"/>
          <p:cNvSpPr/>
          <p:nvPr/>
        </p:nvSpPr>
        <p:spPr>
          <a:xfrm>
            <a:off x="8832850" y="1648358"/>
            <a:ext cx="2546350" cy="980281"/>
          </a:xfrm>
          <a:prstGeom prst="roundRect">
            <a:avLst>
              <a:gd name="adj" fmla="val 10364"/>
            </a:avLst>
          </a:prstGeom>
          <a:solidFill>
            <a:srgbClr val="2B67A8"/>
          </a:solidFill>
          <a:ln/>
        </p:spPr>
        <p:txBody>
          <a:bodyPr/>
          <a:lstStyle/>
          <a:p>
            <a:endParaRPr lang="en-US"/>
          </a:p>
        </p:txBody>
      </p:sp>
      <p:sp>
        <p:nvSpPr>
          <p:cNvPr id="14" name="Text 12"/>
          <p:cNvSpPr/>
          <p:nvPr/>
        </p:nvSpPr>
        <p:spPr>
          <a:xfrm>
            <a:off x="8985250" y="1800758"/>
            <a:ext cx="2308796"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DCE8F5"/>
                </a:solidFill>
                <a:latin typeface="IBM Plex Sans" pitchFamily="34" charset="0"/>
                <a:ea typeface="IBM Plex Sans" pitchFamily="34" charset="-122"/>
                <a:cs typeface="IBM Plex Sans" pitchFamily="34" charset="-120"/>
              </a:rPr>
              <a:t>4 · PC-B</a:t>
            </a:r>
            <a:endParaRPr lang="en-US" sz="1200" dirty="0"/>
          </a:p>
        </p:txBody>
      </p:sp>
      <p:sp>
        <p:nvSpPr>
          <p:cNvPr id="15" name="Text 13"/>
          <p:cNvSpPr/>
          <p:nvPr/>
        </p:nvSpPr>
        <p:spPr>
          <a:xfrm>
            <a:off x="8985250" y="2064810"/>
            <a:ext cx="2308796"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FCFBF7"/>
                </a:solidFill>
                <a:latin typeface="IBM Plex Sans" pitchFamily="34" charset="0"/>
                <a:ea typeface="IBM Plex Sans" pitchFamily="34" charset="-122"/>
                <a:cs typeface="IBM Plex Sans" pitchFamily="34" charset="-120"/>
              </a:rPr>
              <a:t>192.168.20.10 receives it; reply takes the reverse path</a:t>
            </a:r>
            <a:endParaRPr lang="en-US" sz="1200" dirty="0"/>
          </a:p>
        </p:txBody>
      </p:sp>
      <p:sp>
        <p:nvSpPr>
          <p:cNvPr id="16" name="Shape 14"/>
          <p:cNvSpPr/>
          <p:nvPr/>
        </p:nvSpPr>
        <p:spPr>
          <a:xfrm>
            <a:off x="812800" y="2857240"/>
            <a:ext cx="5814351" cy="1516063"/>
          </a:xfrm>
          <a:prstGeom prst="roundRect">
            <a:avLst>
              <a:gd name="adj" fmla="val 6702"/>
            </a:avLst>
          </a:prstGeom>
          <a:solidFill>
            <a:srgbClr val="13233A"/>
          </a:solidFill>
          <a:ln/>
        </p:spPr>
        <p:txBody>
          <a:bodyPr/>
          <a:lstStyle/>
          <a:p>
            <a:endParaRPr lang="en-US"/>
          </a:p>
        </p:txBody>
      </p:sp>
      <p:sp>
        <p:nvSpPr>
          <p:cNvPr id="17" name="Text 15"/>
          <p:cNvSpPr/>
          <p:nvPr/>
        </p:nvSpPr>
        <p:spPr>
          <a:xfrm>
            <a:off x="990600" y="3035040"/>
            <a:ext cx="5622514"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R1# show ip route</a:t>
            </a:r>
            <a:endParaRPr lang="en-US" sz="1200" dirty="0"/>
          </a:p>
        </p:txBody>
      </p:sp>
      <p:sp>
        <p:nvSpPr>
          <p:cNvPr id="18" name="Text 16"/>
          <p:cNvSpPr/>
          <p:nvPr/>
        </p:nvSpPr>
        <p:spPr>
          <a:xfrm>
            <a:off x="990600" y="3311792"/>
            <a:ext cx="5622514" cy="909108"/>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C 192.168.10.0/24 is directly connected, Gi0/0.10</a:t>
            </a:r>
            <a:endParaRPr lang="en-US" sz="1200" dirty="0"/>
          </a:p>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C 192.168.20.0/24 is directly connected, Gi0/0.20</a:t>
            </a:r>
            <a:endParaRPr lang="en-US" sz="1200" dirty="0"/>
          </a:p>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C 10.0.0.0/30 is directly connected, Gi0/1</a:t>
            </a:r>
            <a:endParaRPr lang="en-US" sz="1200" dirty="0"/>
          </a:p>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S* 0.0.0.0/0 [1/0] via 10.0.0.2</a:t>
            </a:r>
            <a:endParaRPr lang="en-US" sz="1200" dirty="0"/>
          </a:p>
        </p:txBody>
      </p:sp>
      <p:sp>
        <p:nvSpPr>
          <p:cNvPr id="19" name="Text 17"/>
          <p:cNvSpPr/>
          <p:nvPr/>
        </p:nvSpPr>
        <p:spPr>
          <a:xfrm>
            <a:off x="6830351" y="2857240"/>
            <a:ext cx="4685315"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C</a:t>
            </a:r>
            <a:r>
              <a:rPr lang="en-US" sz="1300" dirty="0">
                <a:solidFill>
                  <a:srgbClr val="3D4A5C"/>
                </a:solidFill>
                <a:latin typeface="IBM Plex Sans" pitchFamily="34" charset="0"/>
                <a:ea typeface="IBM Plex Sans" pitchFamily="34" charset="-122"/>
                <a:cs typeface="IBM Plex Sans" pitchFamily="34" charset="-120"/>
              </a:rPr>
              <a:t> connected · </a:t>
            </a:r>
            <a:r>
              <a:rPr lang="en-US" sz="1300" b="1" dirty="0">
                <a:solidFill>
                  <a:srgbClr val="3D4A5C"/>
                </a:solidFill>
                <a:latin typeface="IBM Plex Sans" pitchFamily="34" charset="0"/>
                <a:ea typeface="IBM Plex Sans" pitchFamily="34" charset="-122"/>
                <a:cs typeface="IBM Plex Sans" pitchFamily="34" charset="-120"/>
              </a:rPr>
              <a:t>S</a:t>
            </a:r>
            <a:r>
              <a:rPr lang="en-US" sz="1300" dirty="0">
                <a:solidFill>
                  <a:srgbClr val="3D4A5C"/>
                </a:solidFill>
                <a:latin typeface="IBM Plex Sans" pitchFamily="34" charset="0"/>
                <a:ea typeface="IBM Plex Sans" pitchFamily="34" charset="-122"/>
                <a:cs typeface="IBM Plex Sans" pitchFamily="34" charset="-120"/>
              </a:rPr>
              <a:t> static · </a:t>
            </a:r>
            <a:r>
              <a:rPr lang="en-US" sz="1300" b="1" dirty="0">
                <a:solidFill>
                  <a:srgbClr val="3D4A5C"/>
                </a:solidFill>
                <a:latin typeface="IBM Plex Sans" pitchFamily="34" charset="0"/>
                <a:ea typeface="IBM Plex Sans" pitchFamily="34" charset="-122"/>
                <a:cs typeface="IBM Plex Sans" pitchFamily="34" charset="-120"/>
              </a:rPr>
              <a:t>O</a:t>
            </a:r>
            <a:r>
              <a:rPr lang="en-US" sz="1300" dirty="0">
                <a:solidFill>
                  <a:srgbClr val="3D4A5C"/>
                </a:solidFill>
                <a:latin typeface="IBM Plex Sans" pitchFamily="34" charset="0"/>
                <a:ea typeface="IBM Plex Sans" pitchFamily="34" charset="-122"/>
                <a:cs typeface="IBM Plex Sans" pitchFamily="34" charset="-120"/>
              </a:rPr>
              <a:t> OSPF · </a:t>
            </a:r>
            <a:r>
              <a:rPr lang="en-US" sz="1300" b="1" dirty="0">
                <a:solidFill>
                  <a:srgbClr val="3D4A5C"/>
                </a:solidFill>
                <a:latin typeface="IBM Plex Sans" pitchFamily="34" charset="0"/>
                <a:ea typeface="IBM Plex Sans" pitchFamily="34" charset="-122"/>
                <a:cs typeface="IBM Plex Sans" pitchFamily="34" charset="-120"/>
              </a:rPr>
              <a:t>*</a:t>
            </a:r>
            <a:r>
              <a:rPr lang="en-US" sz="1300" dirty="0">
                <a:solidFill>
                  <a:srgbClr val="3D4A5C"/>
                </a:solidFill>
                <a:latin typeface="IBM Plex Sans" pitchFamily="34" charset="0"/>
                <a:ea typeface="IBM Plex Sans" pitchFamily="34" charset="-122"/>
                <a:cs typeface="IBM Plex Sans" pitchFamily="34" charset="-120"/>
              </a:rPr>
              <a:t> default route</a:t>
            </a:r>
            <a:endParaRPr lang="en-US" sz="1300" dirty="0"/>
          </a:p>
        </p:txBody>
      </p:sp>
      <p:sp>
        <p:nvSpPr>
          <p:cNvPr id="20" name="Text 18"/>
          <p:cNvSpPr/>
          <p:nvPr/>
        </p:nvSpPr>
        <p:spPr>
          <a:xfrm>
            <a:off x="6830351" y="3164551"/>
            <a:ext cx="4685315"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Same idea in the cloud: the "local" route is C; your 0.0.0.0/0 entry is S*.</a:t>
            </a:r>
            <a:endParaRPr lang="en-US" sz="1300" dirty="0"/>
          </a:p>
        </p:txBody>
      </p:sp>
      <p:sp>
        <p:nvSpPr>
          <p:cNvPr id="21" name="Text 19"/>
          <p:cNvSpPr/>
          <p:nvPr/>
        </p:nvSpPr>
        <p:spPr>
          <a:xfrm>
            <a:off x="812800" y="6238348"/>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CONVENTIONAL LAB · PACKET TRACER</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Build the same ideas on simulated Cisco gear</a:t>
            </a:r>
            <a:endParaRPr lang="en-US" sz="3000" dirty="0"/>
          </a:p>
        </p:txBody>
      </p:sp>
      <p:sp>
        <p:nvSpPr>
          <p:cNvPr id="4" name="Text 2"/>
          <p:cNvSpPr/>
          <p:nvPr/>
        </p:nvSpPr>
        <p:spPr>
          <a:xfrm>
            <a:off x="812800" y="1648358"/>
            <a:ext cx="531088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67A8"/>
                </a:solidFill>
                <a:latin typeface="IBM Plex Sans" pitchFamily="34" charset="0"/>
                <a:ea typeface="IBM Plex Sans" pitchFamily="34" charset="-122"/>
                <a:cs typeface="IBM Plex Sans" pitchFamily="34" charset="-120"/>
              </a:rPr>
              <a:t>Topology</a:t>
            </a:r>
            <a:endParaRPr lang="en-US" sz="1600" dirty="0"/>
          </a:p>
        </p:txBody>
      </p:sp>
      <p:sp>
        <p:nvSpPr>
          <p:cNvPr id="5" name="Text 3"/>
          <p:cNvSpPr/>
          <p:nvPr/>
        </p:nvSpPr>
        <p:spPr>
          <a:xfrm>
            <a:off x="898144" y="1993770"/>
            <a:ext cx="5217922" cy="982662"/>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R1 (ISR 4331) router-on-a-stick, R2 as "ISP"</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SW1 (2960) with VLAN 10 Staff and VLAN 20 Students</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4 PCs on DHCP, 1 DNS/web server at 192.168.10.5</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Static default route R1 → R2 over 10.0.0.0/30</a:t>
            </a:r>
            <a:endParaRPr lang="en-US" sz="1300" dirty="0"/>
          </a:p>
        </p:txBody>
      </p:sp>
      <p:sp>
        <p:nvSpPr>
          <p:cNvPr id="6" name="Text 4"/>
          <p:cNvSpPr/>
          <p:nvPr/>
        </p:nvSpPr>
        <p:spPr>
          <a:xfrm>
            <a:off x="6223000" y="1648358"/>
            <a:ext cx="5310886"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67A8"/>
                </a:solidFill>
                <a:latin typeface="IBM Plex Sans" pitchFamily="34" charset="0"/>
                <a:ea typeface="IBM Plex Sans" pitchFamily="34" charset="-122"/>
                <a:cs typeface="IBM Plex Sans" pitchFamily="34" charset="-120"/>
              </a:rPr>
              <a:t>You will prove</a:t>
            </a:r>
            <a:endParaRPr lang="en-US" sz="1600" dirty="0"/>
          </a:p>
        </p:txBody>
      </p:sp>
      <p:sp>
        <p:nvSpPr>
          <p:cNvPr id="7" name="Text 5"/>
          <p:cNvSpPr/>
          <p:nvPr/>
        </p:nvSpPr>
        <p:spPr>
          <a:xfrm>
            <a:off x="6308344" y="1993770"/>
            <a:ext cx="5217922" cy="982662"/>
          </a:xfrm>
          <a:prstGeom prst="rect">
            <a:avLst/>
          </a:prstGeom>
          <a:noFill/>
          <a:ln/>
        </p:spPr>
        <p:txBody>
          <a:bodyPr wrap="square" lIns="0" tIns="0" rIns="0" bIns="0" rtlCol="0" anchor="t">
            <a:normAutofit/>
          </a:bodyPr>
          <a:lstStyle/>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Switching: VLANs, access vs trunk ports</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Routing: inter-VLAN + static routes</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DHCP: router pools with excluded addresses</a:t>
            </a:r>
            <a:endParaRPr lang="en-US" sz="1300" dirty="0"/>
          </a:p>
          <a:p>
            <a:pPr marL="168656" indent="-168656" algn="l">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DNS: browse to </a:t>
            </a:r>
            <a:r>
              <a:rPr lang="en-US" sz="1300" b="1" dirty="0">
                <a:solidFill>
                  <a:srgbClr val="3D4A5C"/>
                </a:solidFill>
                <a:latin typeface="IBM Plex Sans" pitchFamily="34" charset="0"/>
                <a:ea typeface="IBM Plex Sans" pitchFamily="34" charset="-122"/>
                <a:cs typeface="IBM Plex Sans" pitchFamily="34" charset="-120"/>
              </a:rPr>
              <a:t>www.iec.lab</a:t>
            </a:r>
            <a:r>
              <a:rPr lang="en-US" sz="1300" dirty="0">
                <a:solidFill>
                  <a:srgbClr val="3D4A5C"/>
                </a:solidFill>
                <a:latin typeface="IBM Plex Sans" pitchFamily="34" charset="0"/>
                <a:ea typeface="IBM Plex Sans" pitchFamily="34" charset="-122"/>
                <a:cs typeface="IBM Plex Sans" pitchFamily="34" charset="-120"/>
              </a:rPr>
              <a:t> by name</a:t>
            </a:r>
            <a:endParaRPr lang="en-US" sz="1300" dirty="0"/>
          </a:p>
        </p:txBody>
      </p:sp>
      <p:sp>
        <p:nvSpPr>
          <p:cNvPr id="8" name="Text 6"/>
          <p:cNvSpPr/>
          <p:nvPr/>
        </p:nvSpPr>
        <p:spPr>
          <a:xfrm>
            <a:off x="812800" y="3179632"/>
            <a:ext cx="10566400" cy="767027"/>
          </a:xfrm>
          <a:prstGeom prst="roundRect">
            <a:avLst>
              <a:gd name="adj" fmla="val 9934"/>
            </a:avLst>
          </a:prstGeom>
          <a:solidFill>
            <a:srgbClr val="13233A"/>
          </a:solidFill>
          <a:ln/>
        </p:spPr>
        <p:txBody>
          <a:bodyPr wrap="square" lIns="180882" tIns="130082" rIns="0" bIns="104682"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Free download: netacad.com › Resources › Packet Tracer (free Skills for All sign-in). Full step-by-step guide is in the separate Packet Tracer document.</a:t>
            </a:r>
            <a:endParaRPr lang="en-US" sz="1300" dirty="0"/>
          </a:p>
        </p:txBody>
      </p:sp>
      <p:sp>
        <p:nvSpPr>
          <p:cNvPr id="9" name="Text 7"/>
          <p:cNvSpPr/>
          <p:nvPr/>
        </p:nvSpPr>
        <p:spPr>
          <a:xfrm>
            <a:off x="812800" y="6238348"/>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812800" y="1901298"/>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2A65A"/>
                </a:solidFill>
                <a:latin typeface="IBM Plex Sans" pitchFamily="34" charset="0"/>
                <a:ea typeface="IBM Plex Sans" pitchFamily="34" charset="-122"/>
                <a:cs typeface="IBM Plex Sans" pitchFamily="34" charset="-120"/>
              </a:rPr>
              <a:t>02</a:t>
            </a:r>
            <a:endParaRPr lang="en-US" sz="8000" dirty="0"/>
          </a:p>
        </p:txBody>
      </p:sp>
      <p:sp>
        <p:nvSpPr>
          <p:cNvPr id="3" name="Text 1"/>
          <p:cNvSpPr>
            <a:spLocks noGrp="1"/>
          </p:cNvSpPr>
          <p:nvPr>
            <p:ph type="title"/>
          </p:nvPr>
        </p:nvSpPr>
        <p:spPr>
          <a:xfrm>
            <a:off x="812800" y="3095098"/>
            <a:ext cx="10883392" cy="665427"/>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E"/>
                </a:solidFill>
                <a:latin typeface="IBM Plex Sans" pitchFamily="34" charset="0"/>
                <a:ea typeface="IBM Plex Sans" pitchFamily="34" charset="-122"/>
                <a:cs typeface="IBM Plex Sans" pitchFamily="34" charset="-120"/>
              </a:rPr>
              <a:t>Free tier &amp; accounts</a:t>
            </a:r>
            <a:endParaRPr lang="en-US" sz="4800" dirty="0"/>
          </a:p>
        </p:txBody>
      </p:sp>
      <p:sp>
        <p:nvSpPr>
          <p:cNvPr id="4" name="Text 2"/>
          <p:cNvSpPr/>
          <p:nvPr/>
        </p:nvSpPr>
        <p:spPr>
          <a:xfrm>
            <a:off x="812800" y="3912927"/>
            <a:ext cx="8502650" cy="642408"/>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9C6D6"/>
                </a:solidFill>
                <a:latin typeface="IBM Plex Sans" pitchFamily="34" charset="0"/>
                <a:ea typeface="IBM Plex Sans" pitchFamily="34" charset="-122"/>
                <a:cs typeface="IBM Plex Sans" pitchFamily="34" charset="-120"/>
              </a:rPr>
              <a:t>What each provider gives you for free in 2026, how to sign up, and the guardrails that keep it free.</a:t>
            </a:r>
            <a:endParaRPr lang="en-US" sz="1800" dirty="0"/>
          </a:p>
        </p:txBody>
      </p:sp>
      <p:sp>
        <p:nvSpPr>
          <p:cNvPr id="5" name="Text 3"/>
          <p:cNvSpPr/>
          <p:nvPr/>
        </p:nvSpPr>
        <p:spPr>
          <a:xfrm>
            <a:off x="812800" y="470773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A65A"/>
                </a:solidFill>
                <a:latin typeface="IBM Plex Sans" pitchFamily="34" charset="0"/>
                <a:ea typeface="IBM Plex Sans" pitchFamily="34" charset="-122"/>
                <a:cs typeface="IBM Plex Sans" pitchFamily="34" charset="-120"/>
              </a:rPr>
              <a:t>0:35 – 0:45 · 10 minutes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WHAT IS FREE IN 2026</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AWS gives credits; Azure gives credit plus free services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631425"/>
          <a:ext cx="10557933" cy="2724944"/>
        </p:xfrm>
        <a:graphic>
          <a:graphicData uri="http://schemas.openxmlformats.org/drawingml/2006/table">
            <a:tbl>
              <a:tblPr/>
              <a:tblGrid>
                <a:gridCol w="1478111">
                  <a:extLst>
                    <a:ext uri="{9D8B030D-6E8A-4147-A177-3AD203B41FA5}">
                      <a16:colId xmlns:a16="http://schemas.microsoft.com/office/drawing/2014/main" val="20000"/>
                    </a:ext>
                  </a:extLst>
                </a:gridCol>
                <a:gridCol w="4539911">
                  <a:extLst>
                    <a:ext uri="{9D8B030D-6E8A-4147-A177-3AD203B41FA5}">
                      <a16:colId xmlns:a16="http://schemas.microsoft.com/office/drawing/2014/main" val="20001"/>
                    </a:ext>
                  </a:extLst>
                </a:gridCol>
                <a:gridCol w="4539911">
                  <a:extLst>
                    <a:ext uri="{9D8B030D-6E8A-4147-A177-3AD203B41FA5}">
                      <a16:colId xmlns:a16="http://schemas.microsoft.com/office/drawing/2014/main" val="20002"/>
                    </a:ext>
                  </a:extLst>
                </a:gridCol>
              </a:tblGrid>
              <a:tr h="328348">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Item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AWS (accounts opened after 15 Jul 2025)</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Azure free account</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Credit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$100 at sign-up + up to $100 more for onboarding activities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$200 to use in the first 30 days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How long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Free plan: 6 months or until credits run out</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12 months of popular services + 55+ always-free services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2"/>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Free VM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No free EC2 hours; t3.micro draws a few cents/hr from credits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750 hrs/month B1s Linux and Windows VM for 12 months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Always free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e.g. Lambda 1M requests, DynamoDB 25 GB per month</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e.g. Azure Policy, Advisor, App Service free tier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4"/>
                  </a:ext>
                </a:extLst>
              </a:tr>
              <a:tr h="541602">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When it ends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Free plan never bills; account closes, data kept 90 days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Spending limit stops services unless you move to pay-as-you-go</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r h="541602">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Gotchas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Organizations / Control Tower upgrade you to Paid and void credits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Move to pay-as-you-go within 30 days to keep the 12-month services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6238348"/>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14 · Verify current terms at aws.amazon.com/free and azure.microsoft.com/free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SIGN-UP · AWS · PRE-WORK</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Create an AWS account on the Free plan</a:t>
            </a:r>
            <a:endParaRPr lang="en-US" sz="3000" dirty="0"/>
          </a:p>
        </p:txBody>
      </p:sp>
      <p:sp>
        <p:nvSpPr>
          <p:cNvPr id="4" name="Text 2"/>
          <p:cNvSpPr/>
          <p:nvPr/>
        </p:nvSpPr>
        <p:spPr>
          <a:xfrm>
            <a:off x="812800" y="1648358"/>
            <a:ext cx="634169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Where to click</a:t>
            </a:r>
            <a:endParaRPr lang="en-US" sz="1500" dirty="0"/>
          </a:p>
        </p:txBody>
      </p:sp>
      <p:sp>
        <p:nvSpPr>
          <p:cNvPr id="5" name="Text 3"/>
          <p:cNvSpPr/>
          <p:nvPr/>
        </p:nvSpPr>
        <p:spPr>
          <a:xfrm>
            <a:off x="883841" y="1965858"/>
            <a:ext cx="6263036" cy="2336535"/>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aws.amazon.com/free › </a:t>
            </a:r>
            <a:r>
              <a:rPr lang="en-US" sz="1300" b="1" dirty="0">
                <a:solidFill>
                  <a:srgbClr val="2A3646"/>
                </a:solidFill>
                <a:latin typeface="IBM Plex Sans" pitchFamily="34" charset="0"/>
                <a:ea typeface="IBM Plex Sans" pitchFamily="34" charset="-122"/>
                <a:cs typeface="IBM Plex Sans" pitchFamily="34" charset="-120"/>
              </a:rPr>
              <a:t>Create a free account</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Root email + account name › enter the emailed code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Set root password › contact info: </a:t>
            </a:r>
            <a:r>
              <a:rPr lang="en-US" sz="1300" b="1" dirty="0">
                <a:solidFill>
                  <a:srgbClr val="2A3646"/>
                </a:solidFill>
                <a:latin typeface="IBM Plex Sans" pitchFamily="34" charset="0"/>
                <a:ea typeface="IBM Plex Sans" pitchFamily="34" charset="-122"/>
                <a:cs typeface="IBM Plex Sans" pitchFamily="34" charset="-120"/>
              </a:rPr>
              <a:t>Personal</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Choose account plan: </a:t>
            </a:r>
            <a:r>
              <a:rPr lang="en-US" sz="1300" b="1" dirty="0">
                <a:solidFill>
                  <a:srgbClr val="2A3646"/>
                </a:solidFill>
                <a:latin typeface="IBM Plex Sans" pitchFamily="34" charset="0"/>
                <a:ea typeface="IBM Plex Sans" pitchFamily="34" charset="-122"/>
                <a:cs typeface="IBM Plex Sans" pitchFamily="34" charset="-120"/>
              </a:rPr>
              <a:t>Free plan</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Card (verification only) › phone SMS or voice code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Support plan: </a:t>
            </a:r>
            <a:r>
              <a:rPr lang="en-US" sz="1300" b="1" dirty="0">
                <a:solidFill>
                  <a:srgbClr val="2A3646"/>
                </a:solidFill>
                <a:latin typeface="IBM Plex Sans" pitchFamily="34" charset="0"/>
                <a:ea typeface="IBM Plex Sans" pitchFamily="34" charset="-122"/>
                <a:cs typeface="IBM Plex Sans" pitchFamily="34" charset="-120"/>
              </a:rPr>
              <a:t>Basic support – Free</a:t>
            </a:r>
            <a:r>
              <a:rPr lang="en-US" sz="1300" dirty="0">
                <a:solidFill>
                  <a:srgbClr val="2A3646"/>
                </a:solidFill>
                <a:latin typeface="IBM Plex Sans" pitchFamily="34" charset="0"/>
                <a:ea typeface="IBM Plex Sans" pitchFamily="34" charset="-122"/>
                <a:cs typeface="IBM Plex Sans" pitchFamily="34" charset="-120"/>
              </a:rPr>
              <a:t> › Complete sign up</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Sign in as root › account menu › </a:t>
            </a:r>
            <a:r>
              <a:rPr lang="en-US" sz="1300" b="1" dirty="0">
                <a:solidFill>
                  <a:srgbClr val="2A3646"/>
                </a:solidFill>
                <a:latin typeface="IBM Plex Sans" pitchFamily="34" charset="0"/>
                <a:ea typeface="IBM Plex Sans" pitchFamily="34" charset="-122"/>
                <a:cs typeface="IBM Plex Sans" pitchFamily="34" charset="-120"/>
              </a:rPr>
              <a:t>Security credentials</a:t>
            </a:r>
            <a:r>
              <a:rPr lang="en-US" sz="1300" dirty="0">
                <a:solidFill>
                  <a:srgbClr val="2A3646"/>
                </a:solidFill>
                <a:latin typeface="IBM Plex Sans" pitchFamily="34" charset="0"/>
                <a:ea typeface="IBM Plex Sans" pitchFamily="34" charset="-122"/>
                <a:cs typeface="IBM Plex Sans" pitchFamily="34" charset="-120"/>
              </a:rPr>
              <a:t> › Assign MFA device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IAM › Users › Create user › attach </a:t>
            </a:r>
            <a:r>
              <a:rPr lang="en-US" sz="1300" b="1" dirty="0">
                <a:solidFill>
                  <a:srgbClr val="2A3646"/>
                </a:solidFill>
                <a:latin typeface="IBM Plex Sans" pitchFamily="34" charset="0"/>
                <a:ea typeface="IBM Plex Sans" pitchFamily="34" charset="-122"/>
                <a:cs typeface="IBM Plex Sans" pitchFamily="34" charset="-120"/>
              </a:rPr>
              <a:t>AdministratorAccess</a:t>
            </a:r>
            <a:r>
              <a:rPr lang="en-US" sz="1300" dirty="0">
                <a:solidFill>
                  <a:srgbClr val="2A3646"/>
                </a:solidFill>
                <a:latin typeface="IBM Plex Sans" pitchFamily="34" charset="0"/>
                <a:ea typeface="IBM Plex Sans" pitchFamily="34" charset="-122"/>
                <a:cs typeface="IBM Plex Sans" pitchFamily="34" charset="-120"/>
              </a:rPr>
              <a:t>; use this user from now on</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Top-right region selector › </a:t>
            </a:r>
            <a:r>
              <a:rPr lang="en-US" sz="1300" b="1" dirty="0">
                <a:solidFill>
                  <a:srgbClr val="2A3646"/>
                </a:solidFill>
                <a:latin typeface="IBM Plex Sans" pitchFamily="34" charset="0"/>
                <a:ea typeface="IBM Plex Sans" pitchFamily="34" charset="-122"/>
                <a:cs typeface="IBM Plex Sans" pitchFamily="34" charset="-120"/>
              </a:rPr>
              <a:t>US East (N. Virginia) us-east-1</a:t>
            </a:r>
            <a:endParaRPr lang="en-US" sz="1300" dirty="0"/>
          </a:p>
        </p:txBody>
      </p:sp>
      <p:sp>
        <p:nvSpPr>
          <p:cNvPr id="6" name="Text 4"/>
          <p:cNvSpPr/>
          <p:nvPr/>
        </p:nvSpPr>
        <p:spPr>
          <a:xfrm>
            <a:off x="7280937" y="1654708"/>
            <a:ext cx="4091914" cy="735542"/>
          </a:xfrm>
          <a:prstGeom prst="roundRect">
            <a:avLst>
              <a:gd name="adj" fmla="val 9496"/>
            </a:avLst>
          </a:prstGeom>
          <a:noFill/>
          <a:ln w="12700">
            <a:solidFill>
              <a:srgbClr val="9AA5B4"/>
            </a:solidFill>
            <a:prstDash val="dash"/>
          </a:ln>
        </p:spPr>
        <p:txBody>
          <a:bodyPr wrap="square" lIns="134058" tIns="134058" rIns="20573" bIns="108658"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Screenshot slot:</a:t>
            </a:r>
            <a:r>
              <a:rPr lang="en-US" sz="1200" dirty="0">
                <a:solidFill>
                  <a:srgbClr val="4A5568"/>
                </a:solidFill>
                <a:latin typeface="IBM Plex Sans" pitchFamily="34" charset="0"/>
                <a:ea typeface="IBM Plex Sans" pitchFamily="34" charset="-122"/>
                <a:cs typeface="IBM Plex Sans" pitchFamily="34" charset="-120"/>
              </a:rPr>
              <a:t> the "Choose your account plan" page with Free plan selected</a:t>
            </a:r>
            <a:endParaRPr lang="en-US" sz="1200" dirty="0"/>
          </a:p>
        </p:txBody>
      </p:sp>
      <p:sp>
        <p:nvSpPr>
          <p:cNvPr id="7" name="Text 5"/>
          <p:cNvSpPr/>
          <p:nvPr/>
        </p:nvSpPr>
        <p:spPr>
          <a:xfrm>
            <a:off x="7280937" y="2529948"/>
            <a:ext cx="4091914" cy="735542"/>
          </a:xfrm>
          <a:prstGeom prst="roundRect">
            <a:avLst>
              <a:gd name="adj" fmla="val 9496"/>
            </a:avLst>
          </a:prstGeom>
          <a:noFill/>
          <a:ln w="12700">
            <a:solidFill>
              <a:srgbClr val="9AA5B4"/>
            </a:solidFill>
            <a:prstDash val="dash"/>
          </a:ln>
        </p:spPr>
        <p:txBody>
          <a:bodyPr wrap="square" lIns="134058" tIns="134058" rIns="20573" bIns="108658"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Screenshot slot:</a:t>
            </a:r>
            <a:r>
              <a:rPr lang="en-US" sz="1200" dirty="0">
                <a:solidFill>
                  <a:srgbClr val="4A5568"/>
                </a:solidFill>
                <a:latin typeface="IBM Plex Sans" pitchFamily="34" charset="0"/>
                <a:ea typeface="IBM Plex Sans" pitchFamily="34" charset="-122"/>
                <a:cs typeface="IBM Plex Sans" pitchFamily="34" charset="-120"/>
              </a:rPr>
              <a:t> Console Home showing the Credits / Free plan widget</a:t>
            </a:r>
            <a:endParaRPr lang="en-US" sz="1200" dirty="0"/>
          </a:p>
        </p:txBody>
      </p:sp>
      <p:sp>
        <p:nvSpPr>
          <p:cNvPr id="8" name="Text 6"/>
          <p:cNvSpPr/>
          <p:nvPr/>
        </p:nvSpPr>
        <p:spPr>
          <a:xfrm>
            <a:off x="7274587" y="3398838"/>
            <a:ext cx="4104614" cy="680508"/>
          </a:xfrm>
          <a:prstGeom prst="roundRect">
            <a:avLst>
              <a:gd name="adj" fmla="val 11198"/>
            </a:avLst>
          </a:prstGeom>
          <a:solidFill>
            <a:srgbClr val="FBE6D6"/>
          </a:solidFill>
          <a:ln/>
        </p:spPr>
        <p:txBody>
          <a:bodyPr wrap="square" lIns="130082" tIns="104682" rIns="16087" bIns="79282"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Check: Billing and Cost Management › Credits shows your $100.</a:t>
            </a:r>
            <a:endParaRPr lang="en-US" sz="1200" dirty="0"/>
          </a:p>
        </p:txBody>
      </p:sp>
      <p:sp>
        <p:nvSpPr>
          <p:cNvPr id="9" name="Text 7"/>
          <p:cNvSpPr/>
          <p:nvPr/>
        </p:nvSpPr>
        <p:spPr>
          <a:xfrm>
            <a:off x="812800" y="6238348"/>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SIGN-UP · AZURE · PRE-WORK</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Create an Azure free account</a:t>
            </a:r>
            <a:endParaRPr lang="en-US" sz="3000" dirty="0"/>
          </a:p>
        </p:txBody>
      </p:sp>
      <p:sp>
        <p:nvSpPr>
          <p:cNvPr id="4" name="Text 2"/>
          <p:cNvSpPr/>
          <p:nvPr/>
        </p:nvSpPr>
        <p:spPr>
          <a:xfrm>
            <a:off x="812800" y="1648358"/>
            <a:ext cx="634169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Where to click</a:t>
            </a:r>
            <a:endParaRPr lang="en-US" sz="1500" dirty="0"/>
          </a:p>
        </p:txBody>
      </p:sp>
      <p:sp>
        <p:nvSpPr>
          <p:cNvPr id="5" name="Text 3"/>
          <p:cNvSpPr/>
          <p:nvPr/>
        </p:nvSpPr>
        <p:spPr>
          <a:xfrm>
            <a:off x="883841" y="1965858"/>
            <a:ext cx="6263036" cy="2105422"/>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azure.microsoft.com/free › </a:t>
            </a:r>
            <a:r>
              <a:rPr lang="en-US" sz="1300" b="1" dirty="0">
                <a:solidFill>
                  <a:srgbClr val="2A3646"/>
                </a:solidFill>
                <a:latin typeface="IBM Plex Sans" pitchFamily="34" charset="0"/>
                <a:ea typeface="IBM Plex Sans" pitchFamily="34" charset="-122"/>
                <a:cs typeface="IBM Plex Sans" pitchFamily="34" charset="-120"/>
              </a:rPr>
              <a:t>Try Azure for free</a:t>
            </a:r>
            <a:r>
              <a:rPr lang="en-US" sz="1300" dirty="0">
                <a:solidFill>
                  <a:srgbClr val="2A3646"/>
                </a:solidFill>
                <a:latin typeface="IBM Plex Sans" pitchFamily="34" charset="0"/>
                <a:ea typeface="IBM Plex Sans" pitchFamily="34" charset="-122"/>
                <a:cs typeface="IBM Plex Sans" pitchFamily="34" charset="-120"/>
              </a:rPr>
              <a:t> (students: Azure for Students)</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Sign in with a Microsoft account, or create one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Profile: country, name, email, phone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Identity verification by phone (text or call)</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Card verification (no charge on the free account)</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Accept the agreement › </a:t>
            </a:r>
            <a:r>
              <a:rPr lang="en-US" sz="1300" b="1" dirty="0">
                <a:solidFill>
                  <a:srgbClr val="2A3646"/>
                </a:solidFill>
                <a:latin typeface="IBM Plex Sans" pitchFamily="34" charset="0"/>
                <a:ea typeface="IBM Plex Sans" pitchFamily="34" charset="-122"/>
                <a:cs typeface="IBM Plex Sans" pitchFamily="34" charset="-120"/>
              </a:rPr>
              <a:t>Sign up</a:t>
            </a:r>
            <a:r>
              <a:rPr lang="en-US" sz="1300" dirty="0">
                <a:solidFill>
                  <a:srgbClr val="2A3646"/>
                </a:solidFill>
                <a:latin typeface="IBM Plex Sans" pitchFamily="34" charset="0"/>
                <a:ea typeface="IBM Plex Sans" pitchFamily="34" charset="-122"/>
                <a:cs typeface="IBM Plex Sans" pitchFamily="34" charset="-120"/>
              </a:rPr>
              <a:t> › lands in portal.azure.com</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a:t>
            </a:r>
            <a:r>
              <a:rPr lang="en-US" sz="1300" b="1" dirty="0">
                <a:solidFill>
                  <a:srgbClr val="2A3646"/>
                </a:solidFill>
                <a:latin typeface="IBM Plex Sans" pitchFamily="34" charset="0"/>
                <a:ea typeface="IBM Plex Sans" pitchFamily="34" charset="-122"/>
                <a:cs typeface="IBM Plex Sans" pitchFamily="34" charset="-120"/>
              </a:rPr>
              <a:t>Subscriptions</a:t>
            </a:r>
            <a:r>
              <a:rPr lang="en-US" sz="1300" dirty="0">
                <a:solidFill>
                  <a:srgbClr val="2A3646"/>
                </a:solidFill>
                <a:latin typeface="IBM Plex Sans" pitchFamily="34" charset="0"/>
                <a:ea typeface="IBM Plex Sans" pitchFamily="34" charset="-122"/>
                <a:cs typeface="IBM Plex Sans" pitchFamily="34" charset="-120"/>
              </a:rPr>
              <a:t> › confirm "Azure subscription 1", offer Free Trial</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a:t>
            </a:r>
            <a:r>
              <a:rPr lang="en-US" sz="1300" b="1" dirty="0">
                <a:solidFill>
                  <a:srgbClr val="2A3646"/>
                </a:solidFill>
                <a:latin typeface="IBM Plex Sans" pitchFamily="34" charset="0"/>
                <a:ea typeface="IBM Plex Sans" pitchFamily="34" charset="-122"/>
                <a:cs typeface="IBM Plex Sans" pitchFamily="34" charset="-120"/>
              </a:rPr>
              <a:t>Cost Management</a:t>
            </a:r>
            <a:r>
              <a:rPr lang="en-US" sz="1300" dirty="0">
                <a:solidFill>
                  <a:srgbClr val="2A3646"/>
                </a:solidFill>
                <a:latin typeface="IBM Plex Sans" pitchFamily="34" charset="0"/>
                <a:ea typeface="IBM Plex Sans" pitchFamily="34" charset="-122"/>
                <a:cs typeface="IBM Plex Sans" pitchFamily="34" charset="-120"/>
              </a:rPr>
              <a:t> › Credits: shows remaining $200</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Default region for the lab: </a:t>
            </a:r>
            <a:r>
              <a:rPr lang="en-US" sz="1300" b="1" dirty="0">
                <a:solidFill>
                  <a:srgbClr val="2A3646"/>
                </a:solidFill>
                <a:latin typeface="IBM Plex Sans" pitchFamily="34" charset="0"/>
                <a:ea typeface="IBM Plex Sans" pitchFamily="34" charset="-122"/>
                <a:cs typeface="IBM Plex Sans" pitchFamily="34" charset="-120"/>
              </a:rPr>
              <a:t>East US 2</a:t>
            </a:r>
            <a:endParaRPr lang="en-US" sz="1300" dirty="0"/>
          </a:p>
        </p:txBody>
      </p:sp>
      <p:sp>
        <p:nvSpPr>
          <p:cNvPr id="6" name="Text 4"/>
          <p:cNvSpPr/>
          <p:nvPr/>
        </p:nvSpPr>
        <p:spPr>
          <a:xfrm>
            <a:off x="7280937" y="1654708"/>
            <a:ext cx="4091914" cy="735542"/>
          </a:xfrm>
          <a:prstGeom prst="roundRect">
            <a:avLst>
              <a:gd name="adj" fmla="val 9496"/>
            </a:avLst>
          </a:prstGeom>
          <a:noFill/>
          <a:ln w="12700">
            <a:solidFill>
              <a:srgbClr val="9AA5B4"/>
            </a:solidFill>
            <a:prstDash val="dash"/>
          </a:ln>
        </p:spPr>
        <p:txBody>
          <a:bodyPr wrap="square" lIns="134058" tIns="134058" rIns="20573" bIns="108658"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Screenshot slot:</a:t>
            </a:r>
            <a:r>
              <a:rPr lang="en-US" sz="1200" dirty="0">
                <a:solidFill>
                  <a:srgbClr val="4A5568"/>
                </a:solidFill>
                <a:latin typeface="IBM Plex Sans" pitchFamily="34" charset="0"/>
                <a:ea typeface="IBM Plex Sans" pitchFamily="34" charset="-122"/>
                <a:cs typeface="IBM Plex Sans" pitchFamily="34" charset="-120"/>
              </a:rPr>
              <a:t> portal Home with the "Free services" tile</a:t>
            </a:r>
            <a:endParaRPr lang="en-US" sz="1200" dirty="0"/>
          </a:p>
        </p:txBody>
      </p:sp>
      <p:sp>
        <p:nvSpPr>
          <p:cNvPr id="7" name="Text 5"/>
          <p:cNvSpPr/>
          <p:nvPr/>
        </p:nvSpPr>
        <p:spPr>
          <a:xfrm>
            <a:off x="7280937" y="2529954"/>
            <a:ext cx="4091914" cy="735542"/>
          </a:xfrm>
          <a:prstGeom prst="roundRect">
            <a:avLst>
              <a:gd name="adj" fmla="val 9496"/>
            </a:avLst>
          </a:prstGeom>
          <a:noFill/>
          <a:ln w="12700">
            <a:solidFill>
              <a:srgbClr val="9AA5B4"/>
            </a:solidFill>
            <a:prstDash val="dash"/>
          </a:ln>
        </p:spPr>
        <p:txBody>
          <a:bodyPr wrap="square" lIns="134058" tIns="134058" rIns="20573" bIns="108658"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Screenshot slot:</a:t>
            </a:r>
            <a:r>
              <a:rPr lang="en-US" sz="1200" dirty="0">
                <a:solidFill>
                  <a:srgbClr val="4A5568"/>
                </a:solidFill>
                <a:latin typeface="IBM Plex Sans" pitchFamily="34" charset="0"/>
                <a:ea typeface="IBM Plex Sans" pitchFamily="34" charset="-122"/>
                <a:cs typeface="IBM Plex Sans" pitchFamily="34" charset="-120"/>
              </a:rPr>
              <a:t> Subscriptions blade showing offer and status</a:t>
            </a:r>
            <a:endParaRPr lang="en-US" sz="1200" dirty="0"/>
          </a:p>
        </p:txBody>
      </p:sp>
      <p:sp>
        <p:nvSpPr>
          <p:cNvPr id="8" name="Text 6"/>
          <p:cNvSpPr/>
          <p:nvPr/>
        </p:nvSpPr>
        <p:spPr>
          <a:xfrm>
            <a:off x="7274587" y="3398838"/>
            <a:ext cx="4104614" cy="680508"/>
          </a:xfrm>
          <a:prstGeom prst="roundRect">
            <a:avLst>
              <a:gd name="adj" fmla="val 11198"/>
            </a:avLst>
          </a:prstGeom>
          <a:solidFill>
            <a:srgbClr val="FBE6D6"/>
          </a:solidFill>
          <a:ln/>
        </p:spPr>
        <p:txBody>
          <a:bodyPr wrap="square" lIns="130082" tIns="104682" rIns="16087" bIns="79282"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Why East US 2: it supports the free Bastion Developer SKU.</a:t>
            </a:r>
            <a:endParaRPr lang="en-US" sz="1200" dirty="0"/>
          </a:p>
        </p:txBody>
      </p:sp>
      <p:sp>
        <p:nvSpPr>
          <p:cNvPr id="9" name="Text 7"/>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DO THIS FIRST · 3 MINUTES</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Turn on a budget alert in both clouds</a:t>
            </a:r>
            <a:endParaRPr lang="en-US" sz="3000" dirty="0"/>
          </a:p>
        </p:txBody>
      </p:sp>
      <p:sp>
        <p:nvSpPr>
          <p:cNvPr id="4" name="Shape 2"/>
          <p:cNvSpPr/>
          <p:nvPr/>
        </p:nvSpPr>
        <p:spPr>
          <a:xfrm>
            <a:off x="815975" y="1651533"/>
            <a:ext cx="5175250" cy="1905265"/>
          </a:xfrm>
          <a:prstGeom prst="roundRect">
            <a:avLst>
              <a:gd name="adj" fmla="val 5166"/>
            </a:avLst>
          </a:prstGeom>
          <a:solidFill>
            <a:srgbClr val="FCFBF7"/>
          </a:solidFill>
          <a:ln w="6350">
            <a:solidFill>
              <a:srgbClr val="DCD8CC"/>
            </a:solidFill>
            <a:prstDash val="solid"/>
          </a:ln>
        </p:spPr>
        <p:txBody>
          <a:bodyPr/>
          <a:lstStyle/>
          <a:p>
            <a:endParaRPr lang="en-US"/>
          </a:p>
        </p:txBody>
      </p:sp>
      <p:sp>
        <p:nvSpPr>
          <p:cNvPr id="5" name="Text 3"/>
          <p:cNvSpPr/>
          <p:nvPr/>
        </p:nvSpPr>
        <p:spPr>
          <a:xfrm>
            <a:off x="1024467" y="1860029"/>
            <a:ext cx="490101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67A8"/>
                </a:solidFill>
                <a:latin typeface="IBM Plex Sans" pitchFamily="34" charset="0"/>
                <a:ea typeface="IBM Plex Sans" pitchFamily="34" charset="-122"/>
                <a:cs typeface="IBM Plex Sans" pitchFamily="34" charset="-120"/>
              </a:rPr>
              <a:t>AWS</a:t>
            </a:r>
            <a:endParaRPr lang="en-US" sz="1600" dirty="0"/>
          </a:p>
        </p:txBody>
      </p:sp>
      <p:sp>
        <p:nvSpPr>
          <p:cNvPr id="6" name="Text 4"/>
          <p:cNvSpPr/>
          <p:nvPr/>
        </p:nvSpPr>
        <p:spPr>
          <a:xfrm>
            <a:off x="1095507" y="2192734"/>
            <a:ext cx="4822354" cy="1180968"/>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a:t>
            </a:r>
            <a:r>
              <a:rPr lang="en-US" sz="1300" b="1" dirty="0">
                <a:solidFill>
                  <a:srgbClr val="2A3646"/>
                </a:solidFill>
                <a:latin typeface="IBM Plex Sans" pitchFamily="34" charset="0"/>
                <a:ea typeface="IBM Plex Sans" pitchFamily="34" charset="-122"/>
                <a:cs typeface="IBM Plex Sans" pitchFamily="34" charset="-120"/>
              </a:rPr>
              <a:t>Budgets</a:t>
            </a:r>
            <a:r>
              <a:rPr lang="en-US" sz="1300" dirty="0">
                <a:solidFill>
                  <a:srgbClr val="2A3646"/>
                </a:solidFill>
                <a:latin typeface="IBM Plex Sans" pitchFamily="34" charset="0"/>
                <a:ea typeface="IBM Plex Sans" pitchFamily="34" charset="-122"/>
                <a:cs typeface="IBM Plex Sans" pitchFamily="34" charset="-120"/>
              </a:rPr>
              <a:t> › Billing and Cost Management › Budgets</a:t>
            </a:r>
            <a:endParaRPr lang="en-US" sz="1300" dirty="0"/>
          </a:p>
          <a:p>
            <a:pPr marL="182959" indent="-182959" algn="l">
              <a:lnSpc>
                <a:spcPts val="1820"/>
              </a:lnSpc>
              <a:buSzPct val="100000"/>
              <a:buFontTx/>
              <a:buAutoNum type="arabicPeriod"/>
            </a:pPr>
            <a:r>
              <a:rPr lang="en-US" sz="1300" b="1" dirty="0">
                <a:solidFill>
                  <a:srgbClr val="2A3646"/>
                </a:solidFill>
                <a:latin typeface="IBM Plex Sans" pitchFamily="34" charset="0"/>
                <a:ea typeface="IBM Plex Sans" pitchFamily="34" charset="-122"/>
                <a:cs typeface="IBM Plex Sans" pitchFamily="34" charset="-120"/>
              </a:rPr>
              <a:t>Create budget</a:t>
            </a:r>
            <a:r>
              <a:rPr lang="en-US" sz="1300" dirty="0">
                <a:solidFill>
                  <a:srgbClr val="2A3646"/>
                </a:solidFill>
                <a:latin typeface="IBM Plex Sans" pitchFamily="34" charset="0"/>
                <a:ea typeface="IBM Plex Sans" pitchFamily="34" charset="-122"/>
                <a:cs typeface="IBM Plex Sans" pitchFamily="34" charset="-120"/>
              </a:rPr>
              <a:t> › Use a template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Template: </a:t>
            </a:r>
            <a:r>
              <a:rPr lang="en-US" sz="1300" b="1" dirty="0">
                <a:solidFill>
                  <a:srgbClr val="2A3646"/>
                </a:solidFill>
                <a:latin typeface="IBM Plex Sans" pitchFamily="34" charset="0"/>
                <a:ea typeface="IBM Plex Sans" pitchFamily="34" charset="-122"/>
                <a:cs typeface="IBM Plex Sans" pitchFamily="34" charset="-120"/>
              </a:rPr>
              <a:t>Zero spend budget</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Email recipients › your email › Create budget</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Billing preferences › ✓ Free Tier usage alerts</a:t>
            </a:r>
            <a:endParaRPr lang="en-US" sz="1300" dirty="0"/>
          </a:p>
        </p:txBody>
      </p:sp>
      <p:sp>
        <p:nvSpPr>
          <p:cNvPr id="7" name="Shape 5"/>
          <p:cNvSpPr/>
          <p:nvPr/>
        </p:nvSpPr>
        <p:spPr>
          <a:xfrm>
            <a:off x="6200775" y="1651533"/>
            <a:ext cx="5175250" cy="1905265"/>
          </a:xfrm>
          <a:prstGeom prst="roundRect">
            <a:avLst>
              <a:gd name="adj" fmla="val 5166"/>
            </a:avLst>
          </a:prstGeom>
          <a:solidFill>
            <a:srgbClr val="FCFBF7"/>
          </a:solidFill>
          <a:ln w="6350">
            <a:solidFill>
              <a:srgbClr val="DCD8CC"/>
            </a:solidFill>
            <a:prstDash val="solid"/>
          </a:ln>
        </p:spPr>
        <p:txBody>
          <a:bodyPr/>
          <a:lstStyle/>
          <a:p>
            <a:endParaRPr lang="en-US"/>
          </a:p>
        </p:txBody>
      </p:sp>
      <p:sp>
        <p:nvSpPr>
          <p:cNvPr id="8" name="Text 6"/>
          <p:cNvSpPr/>
          <p:nvPr/>
        </p:nvSpPr>
        <p:spPr>
          <a:xfrm>
            <a:off x="6409267" y="1860029"/>
            <a:ext cx="490101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67A8"/>
                </a:solidFill>
                <a:latin typeface="IBM Plex Sans" pitchFamily="34" charset="0"/>
                <a:ea typeface="IBM Plex Sans" pitchFamily="34" charset="-122"/>
                <a:cs typeface="IBM Plex Sans" pitchFamily="34" charset="-120"/>
              </a:rPr>
              <a:t>Azure</a:t>
            </a:r>
            <a:endParaRPr lang="en-US" sz="1600" dirty="0"/>
          </a:p>
        </p:txBody>
      </p:sp>
      <p:sp>
        <p:nvSpPr>
          <p:cNvPr id="9" name="Text 7"/>
          <p:cNvSpPr/>
          <p:nvPr/>
        </p:nvSpPr>
        <p:spPr>
          <a:xfrm>
            <a:off x="6480308" y="2192734"/>
            <a:ext cx="4822354" cy="1180968"/>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a:t>
            </a:r>
            <a:r>
              <a:rPr lang="en-US" sz="1300" b="1" dirty="0">
                <a:solidFill>
                  <a:srgbClr val="2A3646"/>
                </a:solidFill>
                <a:latin typeface="IBM Plex Sans" pitchFamily="34" charset="0"/>
                <a:ea typeface="IBM Plex Sans" pitchFamily="34" charset="-122"/>
                <a:cs typeface="IBM Plex Sans" pitchFamily="34" charset="-120"/>
              </a:rPr>
              <a:t>Cost Management</a:t>
            </a:r>
            <a:r>
              <a:rPr lang="en-US" sz="1300" dirty="0">
                <a:solidFill>
                  <a:srgbClr val="2A3646"/>
                </a:solidFill>
                <a:latin typeface="IBM Plex Sans" pitchFamily="34" charset="0"/>
                <a:ea typeface="IBM Plex Sans" pitchFamily="34" charset="-122"/>
                <a:cs typeface="IBM Plex Sans" pitchFamily="34" charset="-120"/>
              </a:rPr>
              <a:t> › Budgets › </a:t>
            </a:r>
            <a:r>
              <a:rPr lang="en-US" sz="1300" b="1" dirty="0">
                <a:solidFill>
                  <a:srgbClr val="2A3646"/>
                </a:solidFill>
                <a:latin typeface="IBM Plex Sans" pitchFamily="34" charset="0"/>
                <a:ea typeface="IBM Plex Sans" pitchFamily="34" charset="-122"/>
                <a:cs typeface="IBM Plex Sans" pitchFamily="34" charset="-120"/>
              </a:rPr>
              <a:t>+ Add</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Scope: Azure subscription 1 · Name budget-lab</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Reset: Monthly · Amount: </a:t>
            </a:r>
            <a:r>
              <a:rPr lang="en-US" sz="1300" b="1" dirty="0">
                <a:solidFill>
                  <a:srgbClr val="2A3646"/>
                </a:solidFill>
                <a:latin typeface="IBM Plex Sans" pitchFamily="34" charset="0"/>
                <a:ea typeface="IBM Plex Sans" pitchFamily="34" charset="-122"/>
                <a:cs typeface="IBM Plex Sans" pitchFamily="34" charset="-120"/>
              </a:rPr>
              <a:t>5</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Alerts: Actual 50% and 100% › your email</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Create · spending limit stays </a:t>
            </a:r>
            <a:r>
              <a:rPr lang="en-US" sz="1300" b="1" dirty="0">
                <a:solidFill>
                  <a:srgbClr val="2A3646"/>
                </a:solidFill>
                <a:latin typeface="IBM Plex Sans" pitchFamily="34" charset="0"/>
                <a:ea typeface="IBM Plex Sans" pitchFamily="34" charset="-122"/>
                <a:cs typeface="IBM Plex Sans" pitchFamily="34" charset="-120"/>
              </a:rPr>
              <a:t>On</a:t>
            </a:r>
            <a:r>
              <a:rPr lang="en-US" sz="1300" dirty="0">
                <a:solidFill>
                  <a:srgbClr val="2A3646"/>
                </a:solidFill>
                <a:latin typeface="IBM Plex Sans" pitchFamily="34" charset="0"/>
                <a:ea typeface="IBM Plex Sans" pitchFamily="34" charset="-122"/>
                <a:cs typeface="IBM Plex Sans" pitchFamily="34" charset="-120"/>
              </a:rPr>
              <a:t> (default)</a:t>
            </a:r>
            <a:endParaRPr lang="en-US" sz="1300" dirty="0"/>
          </a:p>
        </p:txBody>
      </p:sp>
      <p:sp>
        <p:nvSpPr>
          <p:cNvPr id="10" name="Text 8"/>
          <p:cNvSpPr/>
          <p:nvPr/>
        </p:nvSpPr>
        <p:spPr>
          <a:xfrm>
            <a:off x="812800" y="3788569"/>
            <a:ext cx="10566400" cy="535914"/>
          </a:xfrm>
          <a:prstGeom prst="roundRect">
            <a:avLst>
              <a:gd name="adj" fmla="val 14219"/>
            </a:avLst>
          </a:prstGeom>
          <a:solidFill>
            <a:srgbClr val="13233A"/>
          </a:solidFill>
          <a:ln/>
        </p:spPr>
        <p:txBody>
          <a:bodyPr wrap="square" lIns="180882" tIns="130082" rIns="0" bIns="104682"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Tag everything </a:t>
            </a:r>
            <a:r>
              <a:rPr lang="en-US" sz="1300" b="1" dirty="0">
                <a:solidFill>
                  <a:srgbClr val="F6F4EE"/>
                </a:solidFill>
                <a:latin typeface="IBM Plex Sans" pitchFamily="34" charset="0"/>
                <a:ea typeface="IBM Plex Sans" pitchFamily="34" charset="-122"/>
                <a:cs typeface="IBM Plex Sans" pitchFamily="34" charset="-120"/>
              </a:rPr>
              <a:t>Owner = yourname</a:t>
            </a:r>
            <a:r>
              <a:rPr lang="en-US" sz="1300" dirty="0">
                <a:solidFill>
                  <a:srgbClr val="F6F4EE"/>
                </a:solidFill>
                <a:latin typeface="IBM Plex Sans" pitchFamily="34" charset="0"/>
                <a:ea typeface="IBM Plex Sans" pitchFamily="34" charset="-122"/>
                <a:cs typeface="IBM Plex Sans" pitchFamily="34" charset="-120"/>
              </a:rPr>
              <a:t> and </a:t>
            </a:r>
            <a:r>
              <a:rPr lang="en-US" sz="1300" b="1" dirty="0">
                <a:solidFill>
                  <a:srgbClr val="F6F4EE"/>
                </a:solidFill>
                <a:latin typeface="IBM Plex Sans" pitchFamily="34" charset="0"/>
                <a:ea typeface="IBM Plex Sans" pitchFamily="34" charset="-122"/>
                <a:cs typeface="IBM Plex Sans" pitchFamily="34" charset="-120"/>
              </a:rPr>
              <a:t>Lab = netlab</a:t>
            </a:r>
            <a:r>
              <a:rPr lang="en-US" sz="1300" dirty="0">
                <a:solidFill>
                  <a:srgbClr val="F6F4EE"/>
                </a:solidFill>
                <a:latin typeface="IBM Plex Sans" pitchFamily="34" charset="0"/>
                <a:ea typeface="IBM Plex Sans" pitchFamily="34" charset="-122"/>
                <a:cs typeface="IBM Plex Sans" pitchFamily="34" charset="-120"/>
              </a:rPr>
              <a:t> so cleanup takes one filter.</a:t>
            </a:r>
            <a:endParaRPr lang="en-US" sz="1300" dirty="0"/>
          </a:p>
        </p:txBody>
      </p:sp>
      <p:sp>
        <p:nvSpPr>
          <p:cNvPr id="11" name="Text 9"/>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812800" y="1901304"/>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2A65A"/>
                </a:solidFill>
                <a:latin typeface="IBM Plex Sans" pitchFamily="34" charset="0"/>
                <a:ea typeface="IBM Plex Sans" pitchFamily="34" charset="-122"/>
                <a:cs typeface="IBM Plex Sans" pitchFamily="34" charset="-120"/>
              </a:rPr>
              <a:t>03</a:t>
            </a:r>
            <a:endParaRPr lang="en-US" sz="8000" dirty="0"/>
          </a:p>
        </p:txBody>
      </p:sp>
      <p:sp>
        <p:nvSpPr>
          <p:cNvPr id="3" name="Text 1"/>
          <p:cNvSpPr>
            <a:spLocks noGrp="1"/>
          </p:cNvSpPr>
          <p:nvPr>
            <p:ph type="title"/>
          </p:nvPr>
        </p:nvSpPr>
        <p:spPr>
          <a:xfrm>
            <a:off x="812800" y="3095104"/>
            <a:ext cx="10883392" cy="665427"/>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E"/>
                </a:solidFill>
                <a:latin typeface="IBM Plex Sans" pitchFamily="34" charset="0"/>
                <a:ea typeface="IBM Plex Sans" pitchFamily="34" charset="-122"/>
                <a:cs typeface="IBM Plex Sans" pitchFamily="34" charset="-120"/>
              </a:rPr>
              <a:t>AWS hands-on lab</a:t>
            </a:r>
            <a:endParaRPr lang="en-US" sz="4800" dirty="0"/>
          </a:p>
        </p:txBody>
      </p:sp>
      <p:sp>
        <p:nvSpPr>
          <p:cNvPr id="4" name="Text 2"/>
          <p:cNvSpPr/>
          <p:nvPr/>
        </p:nvSpPr>
        <p:spPr>
          <a:xfrm>
            <a:off x="812800" y="3912927"/>
            <a:ext cx="8502650" cy="642408"/>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9C6D6"/>
                </a:solidFill>
                <a:latin typeface="IBM Plex Sans" pitchFamily="34" charset="0"/>
                <a:ea typeface="IBM Plex Sans" pitchFamily="34" charset="-122"/>
                <a:cs typeface="IBM Plex Sans" pitchFamily="34" charset="-120"/>
              </a:rPr>
              <a:t>VPC, public and private subnets, internet gateway, route tables, security groups, network ACLs, EC2, and reaching a private instance with and without a bastion.</a:t>
            </a:r>
            <a:endParaRPr lang="en-US" sz="1800" dirty="0"/>
          </a:p>
        </p:txBody>
      </p:sp>
      <p:sp>
        <p:nvSpPr>
          <p:cNvPr id="5" name="Text 3"/>
          <p:cNvSpPr/>
          <p:nvPr/>
        </p:nvSpPr>
        <p:spPr>
          <a:xfrm>
            <a:off x="812800" y="470773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A65A"/>
                </a:solidFill>
                <a:latin typeface="IBM Plex Sans" pitchFamily="34" charset="0"/>
                <a:ea typeface="IBM Plex Sans" pitchFamily="34" charset="-122"/>
                <a:cs typeface="IBM Plex Sans" pitchFamily="34" charset="-120"/>
              </a:rPr>
              <a:t>0:45 – 1:10 · 25 minutes · region us-east-1</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AWS LAB · WHAT WE WILL BUILD</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One VPC, a public and a private subnet</a:t>
            </a:r>
            <a:endParaRPr lang="en-US" sz="3000" dirty="0"/>
          </a:p>
        </p:txBody>
      </p:sp>
      <p:sp>
        <p:nvSpPr>
          <p:cNvPr id="4" name="Shape 2"/>
          <p:cNvSpPr/>
          <p:nvPr/>
        </p:nvSpPr>
        <p:spPr>
          <a:xfrm>
            <a:off x="819150" y="1654708"/>
            <a:ext cx="6599503" cy="2422790"/>
          </a:xfrm>
          <a:prstGeom prst="roundRect">
            <a:avLst>
              <a:gd name="adj" fmla="val 3931"/>
            </a:avLst>
          </a:prstGeom>
          <a:noFill/>
          <a:ln w="12700">
            <a:solidFill>
              <a:srgbClr val="9AA5B4"/>
            </a:solidFill>
            <a:prstDash val="dash"/>
          </a:ln>
        </p:spPr>
        <p:txBody>
          <a:bodyPr/>
          <a:lstStyle/>
          <a:p>
            <a:endParaRPr lang="en-US"/>
          </a:p>
        </p:txBody>
      </p:sp>
      <p:sp>
        <p:nvSpPr>
          <p:cNvPr id="5" name="Text 3"/>
          <p:cNvSpPr/>
          <p:nvPr/>
        </p:nvSpPr>
        <p:spPr>
          <a:xfrm>
            <a:off x="973667" y="1809229"/>
            <a:ext cx="6479183"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Region us-east-1 · Availability Zone us-east-1a</a:t>
            </a:r>
            <a:endParaRPr lang="en-US" sz="1200" dirty="0"/>
          </a:p>
        </p:txBody>
      </p:sp>
      <p:sp>
        <p:nvSpPr>
          <p:cNvPr id="6" name="Shape 4"/>
          <p:cNvSpPr/>
          <p:nvPr/>
        </p:nvSpPr>
        <p:spPr>
          <a:xfrm>
            <a:off x="983192" y="2133600"/>
            <a:ext cx="6271419" cy="1779852"/>
          </a:xfrm>
          <a:prstGeom prst="roundRect">
            <a:avLst>
              <a:gd name="adj" fmla="val 5173"/>
            </a:avLst>
          </a:prstGeom>
          <a:noFill/>
          <a:ln w="19050">
            <a:solidFill>
              <a:srgbClr val="2B67A8"/>
            </a:solidFill>
            <a:prstDash val="solid"/>
          </a:ln>
        </p:spPr>
        <p:txBody>
          <a:bodyPr/>
          <a:lstStyle/>
          <a:p>
            <a:endParaRPr lang="en-US"/>
          </a:p>
        </p:txBody>
      </p:sp>
      <p:sp>
        <p:nvSpPr>
          <p:cNvPr id="7" name="Text 5"/>
          <p:cNvSpPr/>
          <p:nvPr/>
        </p:nvSpPr>
        <p:spPr>
          <a:xfrm>
            <a:off x="1143000" y="2330190"/>
            <a:ext cx="274494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B67A8"/>
                </a:solidFill>
                <a:latin typeface="IBM Plex Sans" pitchFamily="34" charset="0"/>
                <a:ea typeface="IBM Plex Sans" pitchFamily="34" charset="-122"/>
                <a:cs typeface="IBM Plex Sans" pitchFamily="34" charset="-120"/>
              </a:rPr>
              <a:t>VPC lab-vpc · 10.0.0.0/16</a:t>
            </a:r>
            <a:endParaRPr lang="en-US" sz="1500" dirty="0"/>
          </a:p>
        </p:txBody>
      </p:sp>
      <p:sp>
        <p:nvSpPr>
          <p:cNvPr id="8" name="Text 6"/>
          <p:cNvSpPr/>
          <p:nvPr/>
        </p:nvSpPr>
        <p:spPr>
          <a:xfrm>
            <a:off x="5125773" y="2293417"/>
            <a:ext cx="1969029" cy="340254"/>
          </a:xfrm>
          <a:prstGeom prst="roundRect">
            <a:avLst>
              <a:gd name="adj" fmla="val 50000"/>
            </a:avLst>
          </a:prstGeom>
          <a:solidFill>
            <a:srgbClr val="B8521F"/>
          </a:solidFill>
          <a:ln/>
        </p:spPr>
        <p:txBody>
          <a:bodyPr wrap="none" lIns="0" tIns="0" rIns="0" bIns="0" rtlCol="0" anchor="ctr">
            <a:normAutofit/>
          </a:bodyPr>
          <a:lstStyle/>
          <a:p>
            <a:pPr marL="0" indent="0" algn="ctr">
              <a:lnSpc>
                <a:spcPts val="1680"/>
              </a:lnSpc>
              <a:buNone/>
            </a:pPr>
            <a:r>
              <a:rPr lang="en-US" sz="1200" dirty="0">
                <a:solidFill>
                  <a:srgbClr val="FCFBF7"/>
                </a:solidFill>
                <a:latin typeface="IBM Plex Sans" pitchFamily="34" charset="0"/>
                <a:ea typeface="IBM Plex Sans" pitchFamily="34" charset="-122"/>
                <a:cs typeface="IBM Plex Sans" pitchFamily="34" charset="-120"/>
              </a:rPr>
              <a:t>Internet gateway lab-igw</a:t>
            </a:r>
            <a:endParaRPr lang="en-US" sz="1200" dirty="0"/>
          </a:p>
        </p:txBody>
      </p:sp>
      <p:sp>
        <p:nvSpPr>
          <p:cNvPr id="9" name="Shape 7"/>
          <p:cNvSpPr/>
          <p:nvPr/>
        </p:nvSpPr>
        <p:spPr>
          <a:xfrm>
            <a:off x="1143000" y="2760663"/>
            <a:ext cx="2912401" cy="992981"/>
          </a:xfrm>
          <a:prstGeom prst="roundRect">
            <a:avLst>
              <a:gd name="adj" fmla="val 7674"/>
            </a:avLst>
          </a:prstGeom>
          <a:solidFill>
            <a:srgbClr val="E3EDF8"/>
          </a:solidFill>
          <a:ln/>
        </p:spPr>
        <p:txBody>
          <a:bodyPr/>
          <a:lstStyle/>
          <a:p>
            <a:endParaRPr lang="en-US"/>
          </a:p>
        </p:txBody>
      </p:sp>
      <p:sp>
        <p:nvSpPr>
          <p:cNvPr id="10" name="Text 8"/>
          <p:cNvSpPr/>
          <p:nvPr/>
        </p:nvSpPr>
        <p:spPr>
          <a:xfrm>
            <a:off x="1295400" y="2913063"/>
            <a:ext cx="2685829"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lab-public 10.0.1.0/24</a:t>
            </a:r>
            <a:endParaRPr lang="en-US" sz="1400" dirty="0"/>
          </a:p>
        </p:txBody>
      </p:sp>
      <p:sp>
        <p:nvSpPr>
          <p:cNvPr id="11" name="Text 9"/>
          <p:cNvSpPr/>
          <p:nvPr/>
        </p:nvSpPr>
        <p:spPr>
          <a:xfrm>
            <a:off x="1295400" y="3189821"/>
            <a:ext cx="2685829"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IBM Plex Sans" pitchFamily="34" charset="0"/>
                <a:ea typeface="IBM Plex Sans" pitchFamily="34" charset="-122"/>
                <a:cs typeface="IBM Plex Sans" pitchFamily="34" charset="-120"/>
              </a:rPr>
              <a:t>web-1 · t3.micro · public IP</a:t>
            </a:r>
            <a:endParaRPr lang="en-US" sz="1200" dirty="0"/>
          </a:p>
          <a:p>
            <a:pPr marL="0" indent="0" algn="l">
              <a:lnSpc>
                <a:spcPts val="1620"/>
              </a:lnSpc>
              <a:buNone/>
            </a:pPr>
            <a:r>
              <a:rPr lang="en-US" sz="1200" dirty="0">
                <a:solidFill>
                  <a:srgbClr val="3D4A5C"/>
                </a:solidFill>
                <a:latin typeface="IBM Plex Sans" pitchFamily="34" charset="0"/>
                <a:ea typeface="IBM Plex Sans" pitchFamily="34" charset="-122"/>
                <a:cs typeface="IBM Plex Sans" pitchFamily="34" charset="-120"/>
              </a:rPr>
              <a:t>SG sg-web · NACL nacl-public</a:t>
            </a:r>
            <a:endParaRPr lang="en-US" sz="1200" dirty="0"/>
          </a:p>
        </p:txBody>
      </p:sp>
      <p:sp>
        <p:nvSpPr>
          <p:cNvPr id="12" name="Shape 10"/>
          <p:cNvSpPr/>
          <p:nvPr/>
        </p:nvSpPr>
        <p:spPr>
          <a:xfrm>
            <a:off x="4182401" y="2760663"/>
            <a:ext cx="2912401" cy="992981"/>
          </a:xfrm>
          <a:prstGeom prst="roundRect">
            <a:avLst>
              <a:gd name="adj" fmla="val 7674"/>
            </a:avLst>
          </a:prstGeom>
          <a:solidFill>
            <a:srgbClr val="EDEAE1"/>
          </a:solidFill>
          <a:ln/>
        </p:spPr>
        <p:txBody>
          <a:bodyPr/>
          <a:lstStyle/>
          <a:p>
            <a:endParaRPr lang="en-US"/>
          </a:p>
        </p:txBody>
      </p:sp>
      <p:sp>
        <p:nvSpPr>
          <p:cNvPr id="13" name="Text 11"/>
          <p:cNvSpPr/>
          <p:nvPr/>
        </p:nvSpPr>
        <p:spPr>
          <a:xfrm>
            <a:off x="4334801" y="2913063"/>
            <a:ext cx="2685829"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lab-private 10.0.2.0/24</a:t>
            </a:r>
            <a:endParaRPr lang="en-US" sz="1400" dirty="0"/>
          </a:p>
        </p:txBody>
      </p:sp>
      <p:sp>
        <p:nvSpPr>
          <p:cNvPr id="14" name="Text 12"/>
          <p:cNvSpPr/>
          <p:nvPr/>
        </p:nvSpPr>
        <p:spPr>
          <a:xfrm>
            <a:off x="4334801" y="3189821"/>
            <a:ext cx="2685829"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IBM Plex Sans" pitchFamily="34" charset="0"/>
                <a:ea typeface="IBM Plex Sans" pitchFamily="34" charset="-122"/>
                <a:cs typeface="IBM Plex Sans" pitchFamily="34" charset="-120"/>
              </a:rPr>
              <a:t>app-1 · t3.micro · no public IP</a:t>
            </a:r>
            <a:endParaRPr lang="en-US" sz="1200" dirty="0"/>
          </a:p>
          <a:p>
            <a:pPr marL="0" indent="0" algn="l">
              <a:lnSpc>
                <a:spcPts val="1620"/>
              </a:lnSpc>
              <a:buNone/>
            </a:pPr>
            <a:r>
              <a:rPr lang="en-US" sz="1200" dirty="0">
                <a:solidFill>
                  <a:srgbClr val="3D4A5C"/>
                </a:solidFill>
                <a:latin typeface="IBM Plex Sans" pitchFamily="34" charset="0"/>
                <a:ea typeface="IBM Plex Sans" pitchFamily="34" charset="-122"/>
                <a:cs typeface="IBM Plex Sans" pitchFamily="34" charset="-120"/>
              </a:rPr>
              <a:t>SG sg-app · EIC Endpoint</a:t>
            </a:r>
            <a:endParaRPr lang="en-US" sz="1200" dirty="0"/>
          </a:p>
        </p:txBody>
      </p:sp>
      <p:sp>
        <p:nvSpPr>
          <p:cNvPr id="15" name="Shape 13"/>
          <p:cNvSpPr/>
          <p:nvPr/>
        </p:nvSpPr>
        <p:spPr>
          <a:xfrm>
            <a:off x="7679003" y="1648358"/>
            <a:ext cx="3700198" cy="1074208"/>
          </a:xfrm>
          <a:prstGeom prst="roundRect">
            <a:avLst>
              <a:gd name="adj" fmla="val 9458"/>
            </a:avLst>
          </a:prstGeom>
          <a:solidFill>
            <a:srgbClr val="13233A"/>
          </a:solidFill>
          <a:ln/>
        </p:spPr>
        <p:txBody>
          <a:bodyPr/>
          <a:lstStyle/>
          <a:p>
            <a:endParaRPr lang="en-US"/>
          </a:p>
        </p:txBody>
      </p:sp>
      <p:sp>
        <p:nvSpPr>
          <p:cNvPr id="16" name="Text 14"/>
          <p:cNvSpPr/>
          <p:nvPr/>
        </p:nvSpPr>
        <p:spPr>
          <a:xfrm>
            <a:off x="7856803" y="1826158"/>
            <a:ext cx="3444936"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rt-public (lab-public)</a:t>
            </a:r>
            <a:endParaRPr lang="en-US" sz="1200" dirty="0"/>
          </a:p>
        </p:txBody>
      </p:sp>
      <p:sp>
        <p:nvSpPr>
          <p:cNvPr id="17" name="Text 15"/>
          <p:cNvSpPr/>
          <p:nvPr/>
        </p:nvSpPr>
        <p:spPr>
          <a:xfrm>
            <a:off x="7856803" y="2102917"/>
            <a:ext cx="3444936"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10.0.0.0/16 → local</a:t>
            </a:r>
            <a:endParaRPr lang="en-US" sz="1200" dirty="0"/>
          </a:p>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0.0.0.0/0 → lab-igw</a:t>
            </a:r>
            <a:endParaRPr lang="en-US" sz="1200" dirty="0"/>
          </a:p>
        </p:txBody>
      </p:sp>
      <p:sp>
        <p:nvSpPr>
          <p:cNvPr id="18" name="Shape 16"/>
          <p:cNvSpPr/>
          <p:nvPr/>
        </p:nvSpPr>
        <p:spPr>
          <a:xfrm>
            <a:off x="7679003" y="2849563"/>
            <a:ext cx="3700198" cy="853281"/>
          </a:xfrm>
          <a:prstGeom prst="roundRect">
            <a:avLst>
              <a:gd name="adj" fmla="val 11907"/>
            </a:avLst>
          </a:prstGeom>
          <a:solidFill>
            <a:srgbClr val="13233A"/>
          </a:solidFill>
          <a:ln/>
        </p:spPr>
        <p:txBody>
          <a:bodyPr/>
          <a:lstStyle/>
          <a:p>
            <a:endParaRPr lang="en-US"/>
          </a:p>
        </p:txBody>
      </p:sp>
      <p:sp>
        <p:nvSpPr>
          <p:cNvPr id="19" name="Text 17"/>
          <p:cNvSpPr/>
          <p:nvPr/>
        </p:nvSpPr>
        <p:spPr>
          <a:xfrm>
            <a:off x="7856803" y="3027363"/>
            <a:ext cx="3444936"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main route table (lab-private)</a:t>
            </a:r>
            <a:endParaRPr lang="en-US" sz="1200" dirty="0"/>
          </a:p>
        </p:txBody>
      </p:sp>
      <p:sp>
        <p:nvSpPr>
          <p:cNvPr id="20" name="Text 18"/>
          <p:cNvSpPr/>
          <p:nvPr/>
        </p:nvSpPr>
        <p:spPr>
          <a:xfrm>
            <a:off x="7856803" y="3304121"/>
            <a:ext cx="3444936" cy="246327"/>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10.0.0.0/16 → local</a:t>
            </a:r>
            <a:endParaRPr lang="en-US" sz="1200" dirty="0"/>
          </a:p>
        </p:txBody>
      </p:sp>
      <p:sp>
        <p:nvSpPr>
          <p:cNvPr id="21" name="Text 19"/>
          <p:cNvSpPr/>
          <p:nvPr/>
        </p:nvSpPr>
        <p:spPr>
          <a:xfrm>
            <a:off x="7679003" y="3829844"/>
            <a:ext cx="3811204"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No NAT gateway: the private subnet has no internet on purpose (NAT is billed hourly).</a:t>
            </a:r>
            <a:endParaRPr lang="en-US" sz="1200" dirty="0"/>
          </a:p>
        </p:txBody>
      </p:sp>
      <p:sp>
        <p:nvSpPr>
          <p:cNvPr id="22" name="Text 20"/>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AWS LAB 1 · 5 MIN · FREE</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Create the VPC and two subnets</a:t>
            </a:r>
            <a:endParaRPr lang="en-US" sz="3000" dirty="0"/>
          </a:p>
        </p:txBody>
      </p:sp>
      <p:sp>
        <p:nvSpPr>
          <p:cNvPr id="4" name="Text 2"/>
          <p:cNvSpPr/>
          <p:nvPr/>
        </p:nvSpPr>
        <p:spPr>
          <a:xfrm>
            <a:off x="812800" y="1648358"/>
            <a:ext cx="625544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Click path</a:t>
            </a:r>
            <a:endParaRPr lang="en-US" sz="1500" dirty="0"/>
          </a:p>
        </p:txBody>
      </p:sp>
      <p:sp>
        <p:nvSpPr>
          <p:cNvPr id="5" name="Text 3"/>
          <p:cNvSpPr/>
          <p:nvPr/>
        </p:nvSpPr>
        <p:spPr>
          <a:xfrm>
            <a:off x="883841" y="1965858"/>
            <a:ext cx="6176783" cy="1874308"/>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bar › </a:t>
            </a:r>
            <a:r>
              <a:rPr lang="en-US" sz="1300" b="1" dirty="0">
                <a:solidFill>
                  <a:srgbClr val="2A3646"/>
                </a:solidFill>
                <a:latin typeface="IBM Plex Sans" pitchFamily="34" charset="0"/>
                <a:ea typeface="IBM Plex Sans" pitchFamily="34" charset="-122"/>
                <a:cs typeface="IBM Plex Sans" pitchFamily="34" charset="-120"/>
              </a:rPr>
              <a:t>VPC</a:t>
            </a:r>
            <a:r>
              <a:rPr lang="en-US" sz="1300" dirty="0">
                <a:solidFill>
                  <a:srgbClr val="2A3646"/>
                </a:solidFill>
                <a:latin typeface="IBM Plex Sans" pitchFamily="34" charset="0"/>
                <a:ea typeface="IBM Plex Sans" pitchFamily="34" charset="-122"/>
                <a:cs typeface="IBM Plex Sans" pitchFamily="34" charset="-120"/>
              </a:rPr>
              <a:t> › Your VPCs › </a:t>
            </a:r>
            <a:r>
              <a:rPr lang="en-US" sz="1300" b="1" dirty="0">
                <a:solidFill>
                  <a:srgbClr val="2A3646"/>
                </a:solidFill>
                <a:latin typeface="IBM Plex Sans" pitchFamily="34" charset="0"/>
                <a:ea typeface="IBM Plex Sans" pitchFamily="34" charset="-122"/>
                <a:cs typeface="IBM Plex Sans" pitchFamily="34" charset="-120"/>
              </a:rPr>
              <a:t>Create VPC</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Resources to create: </a:t>
            </a:r>
            <a:r>
              <a:rPr lang="en-US" sz="1300" b="1" dirty="0">
                <a:solidFill>
                  <a:srgbClr val="2A3646"/>
                </a:solidFill>
                <a:latin typeface="IBM Plex Sans" pitchFamily="34" charset="0"/>
                <a:ea typeface="IBM Plex Sans" pitchFamily="34" charset="-122"/>
                <a:cs typeface="IBM Plex Sans" pitchFamily="34" charset="-120"/>
              </a:rPr>
              <a:t>VPC only</a:t>
            </a:r>
            <a:r>
              <a:rPr lang="en-US" sz="1300" dirty="0">
                <a:solidFill>
                  <a:srgbClr val="2A3646"/>
                </a:solidFill>
                <a:latin typeface="IBM Plex Sans" pitchFamily="34" charset="0"/>
                <a:ea typeface="IBM Plex Sans" pitchFamily="34" charset="-122"/>
                <a:cs typeface="IBM Plex Sans" pitchFamily="34" charset="-120"/>
              </a:rPr>
              <a:t> · Name tag lab-vpc</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IPv4 CIDR manual input </a:t>
            </a:r>
            <a:r>
              <a:rPr lang="en-US" sz="1300" b="1" dirty="0">
                <a:solidFill>
                  <a:srgbClr val="2A3646"/>
                </a:solidFill>
                <a:latin typeface="IBM Plex Sans" pitchFamily="34" charset="0"/>
                <a:ea typeface="IBM Plex Sans" pitchFamily="34" charset="-122"/>
                <a:cs typeface="IBM Plex Sans" pitchFamily="34" charset="-120"/>
              </a:rPr>
              <a:t>10.0.0.0/16</a:t>
            </a:r>
            <a:r>
              <a:rPr lang="en-US" sz="1300" dirty="0">
                <a:solidFill>
                  <a:srgbClr val="2A3646"/>
                </a:solidFill>
                <a:latin typeface="IBM Plex Sans" pitchFamily="34" charset="0"/>
                <a:ea typeface="IBM Plex Sans" pitchFamily="34" charset="-122"/>
                <a:cs typeface="IBM Plex Sans" pitchFamily="34" charset="-120"/>
              </a:rPr>
              <a:t> · No IPv6 · Default tenancy › Create VPC</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Left menu › Subnets › </a:t>
            </a:r>
            <a:r>
              <a:rPr lang="en-US" sz="1300" b="1" dirty="0">
                <a:solidFill>
                  <a:srgbClr val="2A3646"/>
                </a:solidFill>
                <a:latin typeface="IBM Plex Sans" pitchFamily="34" charset="0"/>
                <a:ea typeface="IBM Plex Sans" pitchFamily="34" charset="-122"/>
                <a:cs typeface="IBM Plex Sans" pitchFamily="34" charset="-120"/>
              </a:rPr>
              <a:t>Create subnet</a:t>
            </a:r>
            <a:r>
              <a:rPr lang="en-US" sz="1300" dirty="0">
                <a:solidFill>
                  <a:srgbClr val="2A3646"/>
                </a:solidFill>
                <a:latin typeface="IBM Plex Sans" pitchFamily="34" charset="0"/>
                <a:ea typeface="IBM Plex Sans" pitchFamily="34" charset="-122"/>
                <a:cs typeface="IBM Plex Sans" pitchFamily="34" charset="-120"/>
              </a:rPr>
              <a:t> › VPC ID lab-vpc</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Subnet 1: </a:t>
            </a:r>
            <a:r>
              <a:rPr lang="en-US" sz="1300" b="1" dirty="0">
                <a:solidFill>
                  <a:srgbClr val="2A3646"/>
                </a:solidFill>
                <a:latin typeface="IBM Plex Sans" pitchFamily="34" charset="0"/>
                <a:ea typeface="IBM Plex Sans" pitchFamily="34" charset="-122"/>
                <a:cs typeface="IBM Plex Sans" pitchFamily="34" charset="-120"/>
              </a:rPr>
              <a:t>lab-public</a:t>
            </a:r>
            <a:r>
              <a:rPr lang="en-US" sz="1300" dirty="0">
                <a:solidFill>
                  <a:srgbClr val="2A3646"/>
                </a:solidFill>
                <a:latin typeface="IBM Plex Sans" pitchFamily="34" charset="0"/>
                <a:ea typeface="IBM Plex Sans" pitchFamily="34" charset="-122"/>
                <a:cs typeface="IBM Plex Sans" pitchFamily="34" charset="-120"/>
              </a:rPr>
              <a:t> · us-east-1a · 10.0.1.0/24</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Add new subnet: </a:t>
            </a:r>
            <a:r>
              <a:rPr lang="en-US" sz="1300" b="1" dirty="0">
                <a:solidFill>
                  <a:srgbClr val="2A3646"/>
                </a:solidFill>
                <a:latin typeface="IBM Plex Sans" pitchFamily="34" charset="0"/>
                <a:ea typeface="IBM Plex Sans" pitchFamily="34" charset="-122"/>
                <a:cs typeface="IBM Plex Sans" pitchFamily="34" charset="-120"/>
              </a:rPr>
              <a:t>lab-private</a:t>
            </a:r>
            <a:r>
              <a:rPr lang="en-US" sz="1300" dirty="0">
                <a:solidFill>
                  <a:srgbClr val="2A3646"/>
                </a:solidFill>
                <a:latin typeface="IBM Plex Sans" pitchFamily="34" charset="0"/>
                <a:ea typeface="IBM Plex Sans" pitchFamily="34" charset="-122"/>
                <a:cs typeface="IBM Plex Sans" pitchFamily="34" charset="-120"/>
              </a:rPr>
              <a:t> · us-east-1a · 10.0.2.0/24 › Create subnet</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Select lab-public › Actions › Edit subnet settings › ✓ Enable auto-assign public IPv4 › Save</a:t>
            </a:r>
            <a:endParaRPr lang="en-US" sz="1300" dirty="0"/>
          </a:p>
        </p:txBody>
      </p:sp>
      <p:sp>
        <p:nvSpPr>
          <p:cNvPr id="6" name="Text 4"/>
          <p:cNvSpPr/>
          <p:nvPr/>
        </p:nvSpPr>
        <p:spPr>
          <a:xfrm>
            <a:off x="812800" y="3903663"/>
            <a:ext cx="6073246" cy="416454"/>
          </a:xfrm>
          <a:prstGeom prst="roundRect">
            <a:avLst>
              <a:gd name="adj" fmla="val 18297"/>
            </a:avLst>
          </a:prstGeom>
          <a:solidFill>
            <a:srgbClr val="FBE6D6"/>
          </a:solidFill>
          <a:ln/>
        </p:spPr>
        <p:txBody>
          <a:bodyPr wrap="square" lIns="104682" tIns="79282" rIns="0" bIns="53882" rtlCol="0" anchor="t">
            <a:normAutofit/>
          </a:bodyPr>
          <a:lstStyle/>
          <a:p>
            <a:pPr marL="0" indent="0" algn="l">
              <a:lnSpc>
                <a:spcPts val="1680"/>
              </a:lnSpc>
              <a:buNone/>
            </a:pPr>
            <a:r>
              <a:rPr lang="en-US" sz="1200" b="1" dirty="0">
                <a:solidFill>
                  <a:srgbClr val="3D4A5C"/>
                </a:solidFill>
                <a:latin typeface="IBM Plex Sans" pitchFamily="34" charset="0"/>
                <a:ea typeface="IBM Plex Sans" pitchFamily="34" charset="-122"/>
                <a:cs typeface="IBM Plex Sans" pitchFamily="34" charset="-120"/>
              </a:rPr>
              <a:t>Checkpoint:</a:t>
            </a:r>
            <a:r>
              <a:rPr lang="en-US" sz="1200" dirty="0">
                <a:solidFill>
                  <a:srgbClr val="3D4A5C"/>
                </a:solidFill>
                <a:latin typeface="IBM Plex Sans" pitchFamily="34" charset="0"/>
                <a:ea typeface="IBM Plex Sans" pitchFamily="34" charset="-122"/>
                <a:cs typeface="IBM Plex Sans" pitchFamily="34" charset="-120"/>
              </a:rPr>
              <a:t> both subnets show 251 available IPv4 addresses.</a:t>
            </a:r>
            <a:endParaRPr lang="en-US" sz="1200" dirty="0"/>
          </a:p>
        </p:txBody>
      </p:sp>
      <p:sp>
        <p:nvSpPr>
          <p:cNvPr id="7" name="Shape 5"/>
          <p:cNvSpPr/>
          <p:nvPr/>
        </p:nvSpPr>
        <p:spPr>
          <a:xfrm>
            <a:off x="7190846" y="1648358"/>
            <a:ext cx="4188354" cy="1911879"/>
          </a:xfrm>
          <a:prstGeom prst="roundRect">
            <a:avLst>
              <a:gd name="adj" fmla="val 5314"/>
            </a:avLst>
          </a:prstGeom>
          <a:solidFill>
            <a:srgbClr val="13233A"/>
          </a:solidFill>
          <a:ln/>
        </p:spPr>
        <p:txBody>
          <a:bodyPr/>
          <a:lstStyle/>
          <a:p>
            <a:endParaRPr lang="en-US"/>
          </a:p>
        </p:txBody>
      </p:sp>
      <p:sp>
        <p:nvSpPr>
          <p:cNvPr id="8" name="Text 6"/>
          <p:cNvSpPr/>
          <p:nvPr/>
        </p:nvSpPr>
        <p:spPr>
          <a:xfrm>
            <a:off x="7368646" y="1826158"/>
            <a:ext cx="3947737"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CloudShell equivalent</a:t>
            </a:r>
            <a:endParaRPr lang="en-US" sz="1200" dirty="0"/>
          </a:p>
        </p:txBody>
      </p:sp>
      <p:sp>
        <p:nvSpPr>
          <p:cNvPr id="9" name="Text 7"/>
          <p:cNvSpPr/>
          <p:nvPr/>
        </p:nvSpPr>
        <p:spPr>
          <a:xfrm>
            <a:off x="7368646" y="2102917"/>
            <a:ext cx="3947737" cy="130492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DF3"/>
                </a:solidFill>
                <a:latin typeface="JetBrains Mono" pitchFamily="49" charset="0"/>
                <a:ea typeface="JetBrains Mono" pitchFamily="49" charset="-122"/>
                <a:cs typeface="JetBrains Mono" pitchFamily="49" charset="-120"/>
              </a:rPr>
              <a:t>VPC=$(aws ec2 create-vpc --cidr-block 10.0.0.0/16 --query Vpc.VpcId --output text)</a:t>
            </a:r>
            <a:endParaRPr lang="en-US" sz="1200" dirty="0"/>
          </a:p>
          <a:p>
            <a:pPr marL="0" indent="0" algn="l">
              <a:lnSpc>
                <a:spcPts val="1680"/>
              </a:lnSpc>
              <a:buNone/>
            </a:pPr>
            <a:r>
              <a:rPr lang="en-US" sz="1200" dirty="0">
                <a:solidFill>
                  <a:srgbClr val="E8EDF3"/>
                </a:solidFill>
                <a:latin typeface="JetBrains Mono" pitchFamily="49" charset="0"/>
                <a:ea typeface="JetBrains Mono" pitchFamily="49" charset="-122"/>
                <a:cs typeface="JetBrains Mono" pitchFamily="49" charset="-120"/>
              </a:rPr>
              <a:t>aws ec2 create-subnet --vpc-id $VPC --cidr-block 10.0.1.0/24 --availability-zone us-east-1a</a:t>
            </a:r>
            <a:endParaRPr lang="en-US" sz="1200" dirty="0"/>
          </a:p>
        </p:txBody>
      </p:sp>
      <p:sp>
        <p:nvSpPr>
          <p:cNvPr id="10" name="Text 8"/>
          <p:cNvSpPr/>
          <p:nvPr/>
        </p:nvSpPr>
        <p:spPr>
          <a:xfrm>
            <a:off x="7197196" y="3693592"/>
            <a:ext cx="4175654" cy="735542"/>
          </a:xfrm>
          <a:prstGeom prst="roundRect">
            <a:avLst>
              <a:gd name="adj" fmla="val 9496"/>
            </a:avLst>
          </a:prstGeom>
          <a:noFill/>
          <a:ln w="12700">
            <a:solidFill>
              <a:srgbClr val="9AA5B4"/>
            </a:solidFill>
            <a:prstDash val="dash"/>
          </a:ln>
        </p:spPr>
        <p:txBody>
          <a:bodyPr wrap="square" lIns="134058" tIns="134058" rIns="18060" bIns="108658"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Screenshot slot:</a:t>
            </a:r>
            <a:r>
              <a:rPr lang="en-US" sz="1200" dirty="0">
                <a:solidFill>
                  <a:srgbClr val="4A5568"/>
                </a:solidFill>
                <a:latin typeface="IBM Plex Sans" pitchFamily="34" charset="0"/>
                <a:ea typeface="IBM Plex Sans" pitchFamily="34" charset="-122"/>
                <a:cs typeface="IBM Plex Sans" pitchFamily="34" charset="-120"/>
              </a:rPr>
              <a:t> Create VPC form with "VPC only" and the CIDR filled in</a:t>
            </a:r>
            <a:endParaRPr lang="en-US" sz="1200" dirty="0"/>
          </a:p>
        </p:txBody>
      </p:sp>
      <p:sp>
        <p:nvSpPr>
          <p:cNvPr id="11" name="Text 9"/>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AWS LAB 2 · 5 MIN · FREE</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Internet gateway and route tables</a:t>
            </a:r>
            <a:endParaRPr lang="en-US" sz="3000" dirty="0"/>
          </a:p>
        </p:txBody>
      </p:sp>
      <p:sp>
        <p:nvSpPr>
          <p:cNvPr id="4" name="Text 2"/>
          <p:cNvSpPr/>
          <p:nvPr/>
        </p:nvSpPr>
        <p:spPr>
          <a:xfrm>
            <a:off x="812800" y="1648358"/>
            <a:ext cx="625544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Click path</a:t>
            </a:r>
            <a:endParaRPr lang="en-US" sz="1500" dirty="0"/>
          </a:p>
        </p:txBody>
      </p:sp>
      <p:sp>
        <p:nvSpPr>
          <p:cNvPr id="5" name="Text 3"/>
          <p:cNvSpPr/>
          <p:nvPr/>
        </p:nvSpPr>
        <p:spPr>
          <a:xfrm>
            <a:off x="883841" y="1965858"/>
            <a:ext cx="6176783" cy="1643195"/>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VPC › Internet gateways › </a:t>
            </a:r>
            <a:r>
              <a:rPr lang="en-US" sz="1300" b="1" dirty="0">
                <a:solidFill>
                  <a:srgbClr val="2A3646"/>
                </a:solidFill>
                <a:latin typeface="IBM Plex Sans" pitchFamily="34" charset="0"/>
                <a:ea typeface="IBM Plex Sans" pitchFamily="34" charset="-122"/>
                <a:cs typeface="IBM Plex Sans" pitchFamily="34" charset="-120"/>
              </a:rPr>
              <a:t>Create internet gateway</a:t>
            </a:r>
            <a:r>
              <a:rPr lang="en-US" sz="1300" dirty="0">
                <a:solidFill>
                  <a:srgbClr val="2A3646"/>
                </a:solidFill>
                <a:latin typeface="IBM Plex Sans" pitchFamily="34" charset="0"/>
                <a:ea typeface="IBM Plex Sans" pitchFamily="34" charset="-122"/>
                <a:cs typeface="IBM Plex Sans" pitchFamily="34" charset="-120"/>
              </a:rPr>
              <a:t> › lab-igw › Create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Green banner or Actions › </a:t>
            </a:r>
            <a:r>
              <a:rPr lang="en-US" sz="1300" b="1" dirty="0">
                <a:solidFill>
                  <a:srgbClr val="2A3646"/>
                </a:solidFill>
                <a:latin typeface="IBM Plex Sans" pitchFamily="34" charset="0"/>
                <a:ea typeface="IBM Plex Sans" pitchFamily="34" charset="-122"/>
                <a:cs typeface="IBM Plex Sans" pitchFamily="34" charset="-120"/>
              </a:rPr>
              <a:t>Attach to VPC</a:t>
            </a:r>
            <a:r>
              <a:rPr lang="en-US" sz="1300" dirty="0">
                <a:solidFill>
                  <a:srgbClr val="2A3646"/>
                </a:solidFill>
                <a:latin typeface="IBM Plex Sans" pitchFamily="34" charset="0"/>
                <a:ea typeface="IBM Plex Sans" pitchFamily="34" charset="-122"/>
                <a:cs typeface="IBM Plex Sans" pitchFamily="34" charset="-120"/>
              </a:rPr>
              <a:t> › lab-vpc › Attach</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Route tables › </a:t>
            </a:r>
            <a:r>
              <a:rPr lang="en-US" sz="1300" b="1" dirty="0">
                <a:solidFill>
                  <a:srgbClr val="2A3646"/>
                </a:solidFill>
                <a:latin typeface="IBM Plex Sans" pitchFamily="34" charset="0"/>
                <a:ea typeface="IBM Plex Sans" pitchFamily="34" charset="-122"/>
                <a:cs typeface="IBM Plex Sans" pitchFamily="34" charset="-120"/>
              </a:rPr>
              <a:t>Create route table</a:t>
            </a:r>
            <a:r>
              <a:rPr lang="en-US" sz="1300" dirty="0">
                <a:solidFill>
                  <a:srgbClr val="2A3646"/>
                </a:solidFill>
                <a:latin typeface="IBM Plex Sans" pitchFamily="34" charset="0"/>
                <a:ea typeface="IBM Plex Sans" pitchFamily="34" charset="-122"/>
                <a:cs typeface="IBM Plex Sans" pitchFamily="34" charset="-120"/>
              </a:rPr>
              <a:t> › Name rt-public · VPC lab-vpc › Create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Routes tab › </a:t>
            </a:r>
            <a:r>
              <a:rPr lang="en-US" sz="1300" b="1" dirty="0">
                <a:solidFill>
                  <a:srgbClr val="2A3646"/>
                </a:solidFill>
                <a:latin typeface="IBM Plex Sans" pitchFamily="34" charset="0"/>
                <a:ea typeface="IBM Plex Sans" pitchFamily="34" charset="-122"/>
                <a:cs typeface="IBM Plex Sans" pitchFamily="34" charset="-120"/>
              </a:rPr>
              <a:t>Edit routes</a:t>
            </a:r>
            <a:r>
              <a:rPr lang="en-US" sz="1300" dirty="0">
                <a:solidFill>
                  <a:srgbClr val="2A3646"/>
                </a:solidFill>
                <a:latin typeface="IBM Plex Sans" pitchFamily="34" charset="0"/>
                <a:ea typeface="IBM Plex Sans" pitchFamily="34" charset="-122"/>
                <a:cs typeface="IBM Plex Sans" pitchFamily="34" charset="-120"/>
              </a:rPr>
              <a:t> › Add route › Destination 0.0.0.0/0 › Target Internet Gateway › lab-igw › Save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Subnet associations tab › Edit subnet associations › ✓ lab-public › Save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Leave lab-private on the </a:t>
            </a:r>
            <a:r>
              <a:rPr lang="en-US" sz="1300" b="1" dirty="0">
                <a:solidFill>
                  <a:srgbClr val="2A3646"/>
                </a:solidFill>
                <a:latin typeface="IBM Plex Sans" pitchFamily="34" charset="0"/>
                <a:ea typeface="IBM Plex Sans" pitchFamily="34" charset="-122"/>
                <a:cs typeface="IBM Plex Sans" pitchFamily="34" charset="-120"/>
              </a:rPr>
              <a:t>main</a:t>
            </a:r>
            <a:r>
              <a:rPr lang="en-US" sz="1300" dirty="0">
                <a:solidFill>
                  <a:srgbClr val="2A3646"/>
                </a:solidFill>
                <a:latin typeface="IBM Plex Sans" pitchFamily="34" charset="0"/>
                <a:ea typeface="IBM Plex Sans" pitchFamily="34" charset="-122"/>
                <a:cs typeface="IBM Plex Sans" pitchFamily="34" charset="-120"/>
              </a:rPr>
              <a:t> route table (local route only)</a:t>
            </a:r>
            <a:endParaRPr lang="en-US" sz="1300" dirty="0"/>
          </a:p>
        </p:txBody>
      </p:sp>
      <p:sp>
        <p:nvSpPr>
          <p:cNvPr id="6" name="Text 4"/>
          <p:cNvSpPr/>
          <p:nvPr/>
        </p:nvSpPr>
        <p:spPr>
          <a:xfrm>
            <a:off x="812800" y="3672557"/>
            <a:ext cx="6073246" cy="416454"/>
          </a:xfrm>
          <a:prstGeom prst="roundRect">
            <a:avLst>
              <a:gd name="adj" fmla="val 18297"/>
            </a:avLst>
          </a:prstGeom>
          <a:solidFill>
            <a:srgbClr val="FBE6D6"/>
          </a:solidFill>
          <a:ln/>
        </p:spPr>
        <p:txBody>
          <a:bodyPr wrap="square" lIns="104682" tIns="79282" rIns="0" bIns="53882" rtlCol="0" anchor="t">
            <a:normAutofit/>
          </a:bodyPr>
          <a:lstStyle/>
          <a:p>
            <a:pPr marL="0" indent="0" algn="l">
              <a:lnSpc>
                <a:spcPts val="1680"/>
              </a:lnSpc>
              <a:buNone/>
            </a:pPr>
            <a:r>
              <a:rPr lang="en-US" sz="1200" b="1" dirty="0">
                <a:solidFill>
                  <a:srgbClr val="3D4A5C"/>
                </a:solidFill>
                <a:latin typeface="IBM Plex Sans" pitchFamily="34" charset="0"/>
                <a:ea typeface="IBM Plex Sans" pitchFamily="34" charset="-122"/>
                <a:cs typeface="IBM Plex Sans" pitchFamily="34" charset="-120"/>
              </a:rPr>
              <a:t>Checkpoint:</a:t>
            </a:r>
            <a:r>
              <a:rPr lang="en-US" sz="1200" dirty="0">
                <a:solidFill>
                  <a:srgbClr val="3D4A5C"/>
                </a:solidFill>
                <a:latin typeface="IBM Plex Sans" pitchFamily="34" charset="0"/>
                <a:ea typeface="IBM Plex Sans" pitchFamily="34" charset="-122"/>
                <a:cs typeface="IBM Plex Sans" pitchFamily="34" charset="-120"/>
              </a:rPr>
              <a:t> rt-public lists 10.0.0.0/16 local and 0.0.0.0/0 igw-…</a:t>
            </a:r>
            <a:endParaRPr lang="en-US" sz="1200" dirty="0"/>
          </a:p>
        </p:txBody>
      </p:sp>
      <p:sp>
        <p:nvSpPr>
          <p:cNvPr id="7" name="Shape 5"/>
          <p:cNvSpPr/>
          <p:nvPr/>
        </p:nvSpPr>
        <p:spPr>
          <a:xfrm>
            <a:off x="7190846" y="1648358"/>
            <a:ext cx="4188354" cy="1698625"/>
          </a:xfrm>
          <a:prstGeom prst="roundRect">
            <a:avLst>
              <a:gd name="adj" fmla="val 5981"/>
            </a:avLst>
          </a:prstGeom>
          <a:solidFill>
            <a:srgbClr val="13233A"/>
          </a:solidFill>
          <a:ln/>
        </p:spPr>
        <p:txBody>
          <a:bodyPr/>
          <a:lstStyle/>
          <a:p>
            <a:endParaRPr lang="en-US"/>
          </a:p>
        </p:txBody>
      </p:sp>
      <p:sp>
        <p:nvSpPr>
          <p:cNvPr id="8" name="Text 6"/>
          <p:cNvSpPr/>
          <p:nvPr/>
        </p:nvSpPr>
        <p:spPr>
          <a:xfrm>
            <a:off x="7368646" y="1826158"/>
            <a:ext cx="3947737"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CloudShell equivalent</a:t>
            </a:r>
            <a:endParaRPr lang="en-US" sz="1200" dirty="0"/>
          </a:p>
        </p:txBody>
      </p:sp>
      <p:sp>
        <p:nvSpPr>
          <p:cNvPr id="9" name="Text 7"/>
          <p:cNvSpPr/>
          <p:nvPr/>
        </p:nvSpPr>
        <p:spPr>
          <a:xfrm>
            <a:off x="7368646" y="2102917"/>
            <a:ext cx="3947737" cy="10916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DF3"/>
                </a:solidFill>
                <a:latin typeface="JetBrains Mono" pitchFamily="49" charset="0"/>
                <a:ea typeface="JetBrains Mono" pitchFamily="49" charset="-122"/>
                <a:cs typeface="JetBrains Mono" pitchFamily="49" charset="-120"/>
              </a:rPr>
              <a:t>aws ec2 attach-internet-gateway --vpc-id $VPC --internet-gateway-id $IGW</a:t>
            </a:r>
            <a:endParaRPr lang="en-US" sz="1200" dirty="0"/>
          </a:p>
          <a:p>
            <a:pPr marL="0" indent="0" algn="l">
              <a:lnSpc>
                <a:spcPts val="1680"/>
              </a:lnSpc>
              <a:buNone/>
            </a:pPr>
            <a:r>
              <a:rPr lang="en-US" sz="1200" dirty="0">
                <a:solidFill>
                  <a:srgbClr val="E8EDF3"/>
                </a:solidFill>
                <a:latin typeface="JetBrains Mono" pitchFamily="49" charset="0"/>
                <a:ea typeface="JetBrains Mono" pitchFamily="49" charset="-122"/>
                <a:cs typeface="JetBrains Mono" pitchFamily="49" charset="-120"/>
              </a:rPr>
              <a:t>aws ec2 create-route --route-table-id $RT --destination-cidr-block 0.0.0.0/0 --gateway-id $IGW</a:t>
            </a:r>
            <a:endParaRPr lang="en-US" sz="1200" dirty="0"/>
          </a:p>
        </p:txBody>
      </p:sp>
      <p:sp>
        <p:nvSpPr>
          <p:cNvPr id="10" name="Text 8"/>
          <p:cNvSpPr/>
          <p:nvPr/>
        </p:nvSpPr>
        <p:spPr>
          <a:xfrm>
            <a:off x="7197196" y="3480333"/>
            <a:ext cx="4175654" cy="735542"/>
          </a:xfrm>
          <a:prstGeom prst="roundRect">
            <a:avLst>
              <a:gd name="adj" fmla="val 9496"/>
            </a:avLst>
          </a:prstGeom>
          <a:noFill/>
          <a:ln w="12700">
            <a:solidFill>
              <a:srgbClr val="9AA5B4"/>
            </a:solidFill>
            <a:prstDash val="dash"/>
          </a:ln>
        </p:spPr>
        <p:txBody>
          <a:bodyPr wrap="square" lIns="134058" tIns="134058" rIns="18060" bIns="108658"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Screenshot slot:</a:t>
            </a:r>
            <a:r>
              <a:rPr lang="en-US" sz="1200" dirty="0">
                <a:solidFill>
                  <a:srgbClr val="4A5568"/>
                </a:solidFill>
                <a:latin typeface="IBM Plex Sans" pitchFamily="34" charset="0"/>
                <a:ea typeface="IBM Plex Sans" pitchFamily="34" charset="-122"/>
                <a:cs typeface="IBM Plex Sans" pitchFamily="34" charset="-120"/>
              </a:rPr>
              <a:t> Edit routes page with the 0.0.0.0/0 → igw row</a:t>
            </a:r>
            <a:endParaRPr lang="en-US" sz="1200" dirty="0"/>
          </a:p>
        </p:txBody>
      </p:sp>
      <p:sp>
        <p:nvSpPr>
          <p:cNvPr id="11" name="Text 9"/>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AWS LAB 3 · 6 MIN · FREE</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Security groups (stateful) and network ACLs (stateless)</a:t>
            </a:r>
            <a:endParaRPr lang="en-US" sz="3000" dirty="0"/>
          </a:p>
        </p:txBody>
      </p:sp>
      <p:sp>
        <p:nvSpPr>
          <p:cNvPr id="4" name="Shape 2"/>
          <p:cNvSpPr/>
          <p:nvPr/>
        </p:nvSpPr>
        <p:spPr>
          <a:xfrm>
            <a:off x="815975" y="1626133"/>
            <a:ext cx="5175250" cy="2239963"/>
          </a:xfrm>
          <a:prstGeom prst="roundRect">
            <a:avLst>
              <a:gd name="adj" fmla="val 4394"/>
            </a:avLst>
          </a:prstGeom>
          <a:solidFill>
            <a:srgbClr val="FCFBF7"/>
          </a:solidFill>
          <a:ln w="6350">
            <a:solidFill>
              <a:srgbClr val="DCD8CC"/>
            </a:solidFill>
            <a:prstDash val="solid"/>
          </a:ln>
        </p:spPr>
        <p:txBody>
          <a:bodyPr/>
          <a:lstStyle/>
          <a:p>
            <a:endParaRPr lang="en-US"/>
          </a:p>
        </p:txBody>
      </p:sp>
      <p:sp>
        <p:nvSpPr>
          <p:cNvPr id="5" name="Text 3"/>
          <p:cNvSpPr/>
          <p:nvPr/>
        </p:nvSpPr>
        <p:spPr>
          <a:xfrm>
            <a:off x="999067" y="1809229"/>
            <a:ext cx="495333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Security groups · instance level</a:t>
            </a:r>
            <a:endParaRPr lang="en-US" sz="1500" dirty="0"/>
          </a:p>
        </p:txBody>
      </p:sp>
      <p:sp>
        <p:nvSpPr>
          <p:cNvPr id="6" name="Text 4"/>
          <p:cNvSpPr/>
          <p:nvPr/>
        </p:nvSpPr>
        <p:spPr>
          <a:xfrm>
            <a:off x="1083998" y="2114029"/>
            <a:ext cx="4860788" cy="1304925"/>
          </a:xfrm>
          <a:prstGeom prst="rect">
            <a:avLst/>
          </a:prstGeom>
          <a:noFill/>
          <a:ln/>
        </p:spPr>
        <p:txBody>
          <a:bodyPr wrap="square" lIns="0" tIns="0" rIns="0" bIns="0" rtlCol="0" anchor="t">
            <a:normAutofit/>
          </a:bodyPr>
          <a:lstStyle/>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VPC › Security groups › </a:t>
            </a:r>
            <a:r>
              <a:rPr lang="en-US" sz="1200" b="1" dirty="0">
                <a:solidFill>
                  <a:srgbClr val="2A3646"/>
                </a:solidFill>
                <a:latin typeface="IBM Plex Sans" pitchFamily="34" charset="0"/>
                <a:ea typeface="IBM Plex Sans" pitchFamily="34" charset="-122"/>
                <a:cs typeface="IBM Plex Sans" pitchFamily="34" charset="-120"/>
              </a:rPr>
              <a:t>Create security group</a:t>
            </a:r>
            <a:endParaRPr lang="en-US" sz="1200" dirty="0"/>
          </a:p>
          <a:p>
            <a:pPr marL="169069" indent="-169069" algn="l">
              <a:lnSpc>
                <a:spcPts val="1680"/>
              </a:lnSpc>
              <a:buSzPct val="100000"/>
              <a:buFontTx/>
              <a:buAutoNum type="arabicPeriod"/>
            </a:pPr>
            <a:r>
              <a:rPr lang="en-US" sz="1200" b="1" dirty="0">
                <a:solidFill>
                  <a:srgbClr val="2A3646"/>
                </a:solidFill>
                <a:latin typeface="IBM Plex Sans" pitchFamily="34" charset="0"/>
                <a:ea typeface="IBM Plex Sans" pitchFamily="34" charset="-122"/>
                <a:cs typeface="IBM Plex Sans" pitchFamily="34" charset="-120"/>
              </a:rPr>
              <a:t>sg-web</a:t>
            </a:r>
            <a:r>
              <a:rPr lang="en-US" sz="1200" dirty="0">
                <a:solidFill>
                  <a:srgbClr val="2A3646"/>
                </a:solidFill>
                <a:latin typeface="IBM Plex Sans" pitchFamily="34" charset="0"/>
                <a:ea typeface="IBM Plex Sans" pitchFamily="34" charset="-122"/>
                <a:cs typeface="IBM Plex Sans" pitchFamily="34" charset="-120"/>
              </a:rPr>
              <a:t> · VPC lab-vpc · Inbound: SSH 22 from </a:t>
            </a:r>
            <a:r>
              <a:rPr lang="en-US" sz="1200" b="1" dirty="0">
                <a:solidFill>
                  <a:srgbClr val="2A3646"/>
                </a:solidFill>
                <a:latin typeface="IBM Plex Sans" pitchFamily="34" charset="0"/>
                <a:ea typeface="IBM Plex Sans" pitchFamily="34" charset="-122"/>
                <a:cs typeface="IBM Plex Sans" pitchFamily="34" charset="-120"/>
              </a:rPr>
              <a:t>My IP</a:t>
            </a:r>
            <a:r>
              <a:rPr lang="en-US" sz="1200" dirty="0">
                <a:solidFill>
                  <a:srgbClr val="2A3646"/>
                </a:solidFill>
                <a:latin typeface="IBM Plex Sans" pitchFamily="34" charset="0"/>
                <a:ea typeface="IBM Plex Sans" pitchFamily="34" charset="-122"/>
                <a:cs typeface="IBM Plex Sans" pitchFamily="34" charset="-120"/>
              </a:rPr>
              <a:t>; HTTP 80 from Anywhere-IPv4; All ICMP-IPv4 from 10.0.0.0/16</a:t>
            </a:r>
            <a:endParaRPr lang="en-US" sz="1200" dirty="0"/>
          </a:p>
          <a:p>
            <a:pPr marL="169069" indent="-169069" algn="l">
              <a:lnSpc>
                <a:spcPts val="1680"/>
              </a:lnSpc>
              <a:buSzPct val="100000"/>
              <a:buFontTx/>
              <a:buAutoNum type="arabicPeriod"/>
            </a:pPr>
            <a:r>
              <a:rPr lang="en-US" sz="1200" b="1" dirty="0">
                <a:solidFill>
                  <a:srgbClr val="2A3646"/>
                </a:solidFill>
                <a:latin typeface="IBM Plex Sans" pitchFamily="34" charset="0"/>
                <a:ea typeface="IBM Plex Sans" pitchFamily="34" charset="-122"/>
                <a:cs typeface="IBM Plex Sans" pitchFamily="34" charset="-120"/>
              </a:rPr>
              <a:t>sg-app</a:t>
            </a:r>
            <a:r>
              <a:rPr lang="en-US" sz="1200" dirty="0">
                <a:solidFill>
                  <a:srgbClr val="2A3646"/>
                </a:solidFill>
                <a:latin typeface="IBM Plex Sans" pitchFamily="34" charset="0"/>
                <a:ea typeface="IBM Plex Sans" pitchFamily="34" charset="-122"/>
                <a:cs typeface="IBM Plex Sans" pitchFamily="34" charset="-120"/>
              </a:rPr>
              <a:t> · Inbound: SSH 22 from source </a:t>
            </a:r>
            <a:r>
              <a:rPr lang="en-US" sz="1200" b="1" dirty="0">
                <a:solidFill>
                  <a:srgbClr val="2A3646"/>
                </a:solidFill>
                <a:latin typeface="IBM Plex Sans" pitchFamily="34" charset="0"/>
                <a:ea typeface="IBM Plex Sans" pitchFamily="34" charset="-122"/>
                <a:cs typeface="IBM Plex Sans" pitchFamily="34" charset="-120"/>
              </a:rPr>
              <a:t>sg-web</a:t>
            </a:r>
            <a:r>
              <a:rPr lang="en-US" sz="1200" dirty="0">
                <a:solidFill>
                  <a:srgbClr val="2A3646"/>
                </a:solidFill>
                <a:latin typeface="IBM Plex Sans" pitchFamily="34" charset="0"/>
                <a:ea typeface="IBM Plex Sans" pitchFamily="34" charset="-122"/>
                <a:cs typeface="IBM Plex Sans" pitchFamily="34" charset="-120"/>
              </a:rPr>
              <a:t>; All ICMP-IPv4 from 10.0.0.0/16</a:t>
            </a:r>
            <a:endParaRPr lang="en-US" sz="1200" dirty="0"/>
          </a:p>
          <a:p>
            <a:pPr marL="169069" indent="-169069" algn="l">
              <a:lnSpc>
                <a:spcPts val="1680"/>
              </a:lnSpc>
              <a:buSzPct val="100000"/>
              <a:buFontTx/>
              <a:buAutoNum type="arabicPeriod"/>
            </a:pPr>
            <a:r>
              <a:rPr lang="en-US" sz="1200" b="1" dirty="0">
                <a:solidFill>
                  <a:srgbClr val="2A3646"/>
                </a:solidFill>
                <a:latin typeface="IBM Plex Sans" pitchFamily="34" charset="0"/>
                <a:ea typeface="IBM Plex Sans" pitchFamily="34" charset="-122"/>
                <a:cs typeface="IBM Plex Sans" pitchFamily="34" charset="-120"/>
              </a:rPr>
              <a:t>sg-eice</a:t>
            </a:r>
            <a:r>
              <a:rPr lang="en-US" sz="1200" dirty="0">
                <a:solidFill>
                  <a:srgbClr val="2A3646"/>
                </a:solidFill>
                <a:latin typeface="IBM Plex Sans" pitchFamily="34" charset="0"/>
                <a:ea typeface="IBM Plex Sans" pitchFamily="34" charset="-122"/>
                <a:cs typeface="IBM Plex Sans" pitchFamily="34" charset="-120"/>
              </a:rPr>
              <a:t> · no inbound rules (used in lab 5)</a:t>
            </a:r>
            <a:endParaRPr lang="en-US" sz="1200" dirty="0"/>
          </a:p>
        </p:txBody>
      </p:sp>
      <p:sp>
        <p:nvSpPr>
          <p:cNvPr id="7" name="Text 5"/>
          <p:cNvSpPr/>
          <p:nvPr/>
        </p:nvSpPr>
        <p:spPr>
          <a:xfrm>
            <a:off x="999067" y="3469754"/>
            <a:ext cx="4953339"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Allow rules only · return traffic automatic</a:t>
            </a:r>
            <a:endParaRPr lang="en-US" sz="1200" dirty="0"/>
          </a:p>
        </p:txBody>
      </p:sp>
      <p:sp>
        <p:nvSpPr>
          <p:cNvPr id="8" name="Shape 6"/>
          <p:cNvSpPr/>
          <p:nvPr/>
        </p:nvSpPr>
        <p:spPr>
          <a:xfrm>
            <a:off x="6200775" y="1626133"/>
            <a:ext cx="5175250" cy="2239963"/>
          </a:xfrm>
          <a:prstGeom prst="roundRect">
            <a:avLst>
              <a:gd name="adj" fmla="val 4394"/>
            </a:avLst>
          </a:prstGeom>
          <a:solidFill>
            <a:srgbClr val="FCFBF7"/>
          </a:solidFill>
          <a:ln w="6350">
            <a:solidFill>
              <a:srgbClr val="DCD8CC"/>
            </a:solidFill>
            <a:prstDash val="solid"/>
          </a:ln>
        </p:spPr>
        <p:txBody>
          <a:bodyPr/>
          <a:lstStyle/>
          <a:p>
            <a:endParaRPr lang="en-US"/>
          </a:p>
        </p:txBody>
      </p:sp>
      <p:sp>
        <p:nvSpPr>
          <p:cNvPr id="9" name="Text 7"/>
          <p:cNvSpPr/>
          <p:nvPr/>
        </p:nvSpPr>
        <p:spPr>
          <a:xfrm>
            <a:off x="6383867" y="1809229"/>
            <a:ext cx="495333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Network ACL · subnet level</a:t>
            </a:r>
            <a:endParaRPr lang="en-US" sz="1500" dirty="0"/>
          </a:p>
        </p:txBody>
      </p:sp>
      <p:sp>
        <p:nvSpPr>
          <p:cNvPr id="10" name="Text 8"/>
          <p:cNvSpPr/>
          <p:nvPr/>
        </p:nvSpPr>
        <p:spPr>
          <a:xfrm>
            <a:off x="6468798" y="2114029"/>
            <a:ext cx="4860788" cy="1091671"/>
          </a:xfrm>
          <a:prstGeom prst="rect">
            <a:avLst/>
          </a:prstGeom>
          <a:noFill/>
          <a:ln/>
        </p:spPr>
        <p:txBody>
          <a:bodyPr wrap="square" lIns="0" tIns="0" rIns="0" bIns="0" rtlCol="0" anchor="t">
            <a:normAutofit/>
          </a:bodyPr>
          <a:lstStyle/>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VPC › Network ACLs › </a:t>
            </a:r>
            <a:r>
              <a:rPr lang="en-US" sz="1200" b="1" dirty="0">
                <a:solidFill>
                  <a:srgbClr val="2A3646"/>
                </a:solidFill>
                <a:latin typeface="IBM Plex Sans" pitchFamily="34" charset="0"/>
                <a:ea typeface="IBM Plex Sans" pitchFamily="34" charset="-122"/>
                <a:cs typeface="IBM Plex Sans" pitchFamily="34" charset="-120"/>
              </a:rPr>
              <a:t>Create network ACL</a:t>
            </a:r>
            <a:r>
              <a:rPr lang="en-US" sz="1200" dirty="0">
                <a:solidFill>
                  <a:srgbClr val="2A3646"/>
                </a:solidFill>
                <a:latin typeface="IBM Plex Sans" pitchFamily="34" charset="0"/>
                <a:ea typeface="IBM Plex Sans" pitchFamily="34" charset="-122"/>
                <a:cs typeface="IBM Plex Sans" pitchFamily="34" charset="-120"/>
              </a:rPr>
              <a:t> › nacl-public · lab-vpc</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Inbound: 100 TCP 22 your-IP/32 · 110 TCP 80 0.0.0.0/0 · 120 TCP 1024-65535 0.0.0.0/0 · all Allow</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Outbound: 100 All traffic 0.0.0.0/0 Allow</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Subnet associations › Edit › ✓ lab-public</a:t>
            </a:r>
            <a:endParaRPr lang="en-US" sz="1200" dirty="0"/>
          </a:p>
        </p:txBody>
      </p:sp>
      <p:sp>
        <p:nvSpPr>
          <p:cNvPr id="11" name="Text 9"/>
          <p:cNvSpPr/>
          <p:nvPr/>
        </p:nvSpPr>
        <p:spPr>
          <a:xfrm>
            <a:off x="6383867" y="3256496"/>
            <a:ext cx="4988983"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Allow and deny · lowest number wins · reply traffic needs its own rule</a:t>
            </a:r>
            <a:endParaRPr lang="en-US" sz="1200" dirty="0"/>
          </a:p>
        </p:txBody>
      </p:sp>
      <p:sp>
        <p:nvSpPr>
          <p:cNvPr id="12" name="Text 10"/>
          <p:cNvSpPr/>
          <p:nvPr/>
        </p:nvSpPr>
        <p:spPr>
          <a:xfrm>
            <a:off x="812800" y="4072471"/>
            <a:ext cx="10566400" cy="510514"/>
          </a:xfrm>
          <a:prstGeom prst="roundRect">
            <a:avLst>
              <a:gd name="adj" fmla="val 14926"/>
            </a:avLst>
          </a:prstGeom>
          <a:solidFill>
            <a:srgbClr val="13233A"/>
          </a:solidFill>
          <a:ln/>
        </p:spPr>
        <p:txBody>
          <a:bodyPr wrap="square" lIns="168182" tIns="117382" rIns="0" bIns="91982" rtlCol="0" anchor="t">
            <a:normAutofit/>
          </a:bodyPr>
          <a:lstStyle/>
          <a:p>
            <a:pPr marL="0" indent="0" algn="l">
              <a:lnSpc>
                <a:spcPts val="1820"/>
              </a:lnSpc>
              <a:buNone/>
            </a:pPr>
            <a:r>
              <a:rPr lang="en-US" sz="1300" b="1" dirty="0">
                <a:solidFill>
                  <a:srgbClr val="F6F4EE"/>
                </a:solidFill>
                <a:latin typeface="IBM Plex Sans" pitchFamily="34" charset="0"/>
                <a:ea typeface="IBM Plex Sans" pitchFamily="34" charset="-122"/>
                <a:cs typeface="IBM Plex Sans" pitchFamily="34" charset="-120"/>
              </a:rPr>
              <a:t>Demo after lab 5:</a:t>
            </a:r>
            <a:r>
              <a:rPr lang="en-US" sz="1300" dirty="0">
                <a:solidFill>
                  <a:srgbClr val="F6F4EE"/>
                </a:solidFill>
                <a:latin typeface="IBM Plex Sans" pitchFamily="34" charset="0"/>
                <a:ea typeface="IBM Plex Sans" pitchFamily="34" charset="-122"/>
                <a:cs typeface="IBM Plex Sans" pitchFamily="34" charset="-120"/>
              </a:rPr>
              <a:t> delete outbound rule 100 → your open SSH session freezes. That is "stateless".</a:t>
            </a:r>
            <a:endParaRPr lang="en-US" sz="1300" dirty="0"/>
          </a:p>
        </p:txBody>
      </p:sp>
      <p:sp>
        <p:nvSpPr>
          <p:cNvPr id="13" name="Text 11"/>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AWS LAB 4 · 5 MIN · CREDITS (CENTS)</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Launch a public and a private EC2 instance</a:t>
            </a:r>
            <a:endParaRPr lang="en-US" sz="3000" dirty="0"/>
          </a:p>
        </p:txBody>
      </p:sp>
      <p:sp>
        <p:nvSpPr>
          <p:cNvPr id="4" name="Text 2"/>
          <p:cNvSpPr/>
          <p:nvPr/>
        </p:nvSpPr>
        <p:spPr>
          <a:xfrm>
            <a:off x="812800" y="1648358"/>
            <a:ext cx="625544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Click path</a:t>
            </a:r>
            <a:endParaRPr lang="en-US" sz="1500" dirty="0"/>
          </a:p>
        </p:txBody>
      </p:sp>
      <p:sp>
        <p:nvSpPr>
          <p:cNvPr id="5" name="Text 3"/>
          <p:cNvSpPr/>
          <p:nvPr/>
        </p:nvSpPr>
        <p:spPr>
          <a:xfrm>
            <a:off x="883841" y="1965858"/>
            <a:ext cx="6176783" cy="1874308"/>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a:t>
            </a:r>
            <a:r>
              <a:rPr lang="en-US" sz="1300" b="1" dirty="0">
                <a:solidFill>
                  <a:srgbClr val="2A3646"/>
                </a:solidFill>
                <a:latin typeface="IBM Plex Sans" pitchFamily="34" charset="0"/>
                <a:ea typeface="IBM Plex Sans" pitchFamily="34" charset="-122"/>
                <a:cs typeface="IBM Plex Sans" pitchFamily="34" charset="-120"/>
              </a:rPr>
              <a:t>EC2</a:t>
            </a:r>
            <a:r>
              <a:rPr lang="en-US" sz="1300" dirty="0">
                <a:solidFill>
                  <a:srgbClr val="2A3646"/>
                </a:solidFill>
                <a:latin typeface="IBM Plex Sans" pitchFamily="34" charset="0"/>
                <a:ea typeface="IBM Plex Sans" pitchFamily="34" charset="-122"/>
                <a:cs typeface="IBM Plex Sans" pitchFamily="34" charset="-120"/>
              </a:rPr>
              <a:t> › Instances › </a:t>
            </a:r>
            <a:r>
              <a:rPr lang="en-US" sz="1300" b="1" dirty="0">
                <a:solidFill>
                  <a:srgbClr val="2A3646"/>
                </a:solidFill>
                <a:latin typeface="IBM Plex Sans" pitchFamily="34" charset="0"/>
                <a:ea typeface="IBM Plex Sans" pitchFamily="34" charset="-122"/>
                <a:cs typeface="IBM Plex Sans" pitchFamily="34" charset="-120"/>
              </a:rPr>
              <a:t>Launch instances</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Name web-1 · AMI </a:t>
            </a:r>
            <a:r>
              <a:rPr lang="en-US" sz="1300" b="1" dirty="0">
                <a:solidFill>
                  <a:srgbClr val="2A3646"/>
                </a:solidFill>
                <a:latin typeface="IBM Plex Sans" pitchFamily="34" charset="0"/>
                <a:ea typeface="IBM Plex Sans" pitchFamily="34" charset="-122"/>
                <a:cs typeface="IBM Plex Sans" pitchFamily="34" charset="-120"/>
              </a:rPr>
              <a:t>Amazon Linux 2023</a:t>
            </a:r>
            <a:r>
              <a:rPr lang="en-US" sz="1300" dirty="0">
                <a:solidFill>
                  <a:srgbClr val="2A3646"/>
                </a:solidFill>
                <a:latin typeface="IBM Plex Sans" pitchFamily="34" charset="0"/>
                <a:ea typeface="IBM Plex Sans" pitchFamily="34" charset="-122"/>
                <a:cs typeface="IBM Plex Sans" pitchFamily="34" charset="-120"/>
              </a:rPr>
              <a:t> (Free tier eligible)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Instance type </a:t>
            </a:r>
            <a:r>
              <a:rPr lang="en-US" sz="1300" b="1" dirty="0">
                <a:solidFill>
                  <a:srgbClr val="2A3646"/>
                </a:solidFill>
                <a:latin typeface="IBM Plex Sans" pitchFamily="34" charset="0"/>
                <a:ea typeface="IBM Plex Sans" pitchFamily="34" charset="-122"/>
                <a:cs typeface="IBM Plex Sans" pitchFamily="34" charset="-120"/>
              </a:rPr>
              <a:t>t3.micro</a:t>
            </a:r>
            <a:r>
              <a:rPr lang="en-US" sz="1300" dirty="0">
                <a:solidFill>
                  <a:srgbClr val="2A3646"/>
                </a:solidFill>
                <a:latin typeface="IBM Plex Sans" pitchFamily="34" charset="0"/>
                <a:ea typeface="IBM Plex Sans" pitchFamily="34" charset="-122"/>
                <a:cs typeface="IBM Plex Sans" pitchFamily="34" charset="-120"/>
              </a:rPr>
              <a:t> (or the type marked Free tier eligible)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Key pair › Create new key pair › lab-key · RSA · .pem › downloads</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Network settings › </a:t>
            </a:r>
            <a:r>
              <a:rPr lang="en-US" sz="1300" b="1" dirty="0">
                <a:solidFill>
                  <a:srgbClr val="2A3646"/>
                </a:solidFill>
                <a:latin typeface="IBM Plex Sans" pitchFamily="34" charset="0"/>
                <a:ea typeface="IBM Plex Sans" pitchFamily="34" charset="-122"/>
                <a:cs typeface="IBM Plex Sans" pitchFamily="34" charset="-120"/>
              </a:rPr>
              <a:t>Edit</a:t>
            </a:r>
            <a:r>
              <a:rPr lang="en-US" sz="1300" dirty="0">
                <a:solidFill>
                  <a:srgbClr val="2A3646"/>
                </a:solidFill>
                <a:latin typeface="IBM Plex Sans" pitchFamily="34" charset="0"/>
                <a:ea typeface="IBM Plex Sans" pitchFamily="34" charset="-122"/>
                <a:cs typeface="IBM Plex Sans" pitchFamily="34" charset="-120"/>
              </a:rPr>
              <a:t> › VPC lab-vpc · Subnet lab-public · Auto-assign public IP Enable · Select existing SG sg-web</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Storage 8 GiB gp3 › </a:t>
            </a:r>
            <a:r>
              <a:rPr lang="en-US" sz="1300" b="1" dirty="0">
                <a:solidFill>
                  <a:srgbClr val="2A3646"/>
                </a:solidFill>
                <a:latin typeface="IBM Plex Sans" pitchFamily="34" charset="0"/>
                <a:ea typeface="IBM Plex Sans" pitchFamily="34" charset="-122"/>
                <a:cs typeface="IBM Plex Sans" pitchFamily="34" charset="-120"/>
              </a:rPr>
              <a:t>Launch instance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Repeat: </a:t>
            </a:r>
            <a:r>
              <a:rPr lang="en-US" sz="1300" b="1" dirty="0">
                <a:solidFill>
                  <a:srgbClr val="2A3646"/>
                </a:solidFill>
                <a:latin typeface="IBM Plex Sans" pitchFamily="34" charset="0"/>
                <a:ea typeface="IBM Plex Sans" pitchFamily="34" charset="-122"/>
                <a:cs typeface="IBM Plex Sans" pitchFamily="34" charset="-120"/>
              </a:rPr>
              <a:t>app-1</a:t>
            </a:r>
            <a:r>
              <a:rPr lang="en-US" sz="1300" dirty="0">
                <a:solidFill>
                  <a:srgbClr val="2A3646"/>
                </a:solidFill>
                <a:latin typeface="IBM Plex Sans" pitchFamily="34" charset="0"/>
                <a:ea typeface="IBM Plex Sans" pitchFamily="34" charset="-122"/>
                <a:cs typeface="IBM Plex Sans" pitchFamily="34" charset="-120"/>
              </a:rPr>
              <a:t> · lab-private · Auto-assign </a:t>
            </a:r>
            <a:r>
              <a:rPr lang="en-US" sz="1300" b="1" dirty="0">
                <a:solidFill>
                  <a:srgbClr val="2A3646"/>
                </a:solidFill>
                <a:latin typeface="IBM Plex Sans" pitchFamily="34" charset="0"/>
                <a:ea typeface="IBM Plex Sans" pitchFamily="34" charset="-122"/>
                <a:cs typeface="IBM Plex Sans" pitchFamily="34" charset="-120"/>
              </a:rPr>
              <a:t>Disable</a:t>
            </a:r>
            <a:r>
              <a:rPr lang="en-US" sz="1300" dirty="0">
                <a:solidFill>
                  <a:srgbClr val="2A3646"/>
                </a:solidFill>
                <a:latin typeface="IBM Plex Sans" pitchFamily="34" charset="0"/>
                <a:ea typeface="IBM Plex Sans" pitchFamily="34" charset="-122"/>
                <a:cs typeface="IBM Plex Sans" pitchFamily="34" charset="-120"/>
              </a:rPr>
              <a:t> · sg-app</a:t>
            </a:r>
            <a:endParaRPr lang="en-US" sz="1300" dirty="0"/>
          </a:p>
        </p:txBody>
      </p:sp>
      <p:sp>
        <p:nvSpPr>
          <p:cNvPr id="6" name="Text 4"/>
          <p:cNvSpPr/>
          <p:nvPr/>
        </p:nvSpPr>
        <p:spPr>
          <a:xfrm>
            <a:off x="812800" y="3903663"/>
            <a:ext cx="6073246" cy="416454"/>
          </a:xfrm>
          <a:prstGeom prst="roundRect">
            <a:avLst>
              <a:gd name="adj" fmla="val 18297"/>
            </a:avLst>
          </a:prstGeom>
          <a:solidFill>
            <a:srgbClr val="FBE6D6"/>
          </a:solidFill>
          <a:ln/>
        </p:spPr>
        <p:txBody>
          <a:bodyPr wrap="square" lIns="104682" tIns="79282" rIns="0" bIns="53882" rtlCol="0" anchor="t">
            <a:normAutofit/>
          </a:bodyPr>
          <a:lstStyle/>
          <a:p>
            <a:pPr marL="0" indent="0" algn="l">
              <a:lnSpc>
                <a:spcPts val="1680"/>
              </a:lnSpc>
              <a:buNone/>
            </a:pPr>
            <a:r>
              <a:rPr lang="en-US" sz="1200" b="1" dirty="0">
                <a:solidFill>
                  <a:srgbClr val="3D4A5C"/>
                </a:solidFill>
                <a:latin typeface="IBM Plex Sans" pitchFamily="34" charset="0"/>
                <a:ea typeface="IBM Plex Sans" pitchFamily="34" charset="-122"/>
                <a:cs typeface="IBM Plex Sans" pitchFamily="34" charset="-120"/>
              </a:rPr>
              <a:t>Checkpoint:</a:t>
            </a:r>
            <a:r>
              <a:rPr lang="en-US" sz="1200" dirty="0">
                <a:solidFill>
                  <a:srgbClr val="3D4A5C"/>
                </a:solidFill>
                <a:latin typeface="IBM Plex Sans" pitchFamily="34" charset="0"/>
                <a:ea typeface="IBM Plex Sans" pitchFamily="34" charset="-122"/>
                <a:cs typeface="IBM Plex Sans" pitchFamily="34" charset="-120"/>
              </a:rPr>
              <a:t> web-1 has a public IP + 10.0.1.x; app-1 only 10.0.2.x.</a:t>
            </a:r>
            <a:endParaRPr lang="en-US" sz="1200" dirty="0"/>
          </a:p>
        </p:txBody>
      </p:sp>
      <p:sp>
        <p:nvSpPr>
          <p:cNvPr id="7" name="Shape 5"/>
          <p:cNvSpPr/>
          <p:nvPr/>
        </p:nvSpPr>
        <p:spPr>
          <a:xfrm>
            <a:off x="7190846" y="1648358"/>
            <a:ext cx="4188354" cy="1516063"/>
          </a:xfrm>
          <a:prstGeom prst="roundRect">
            <a:avLst>
              <a:gd name="adj" fmla="val 6702"/>
            </a:avLst>
          </a:prstGeom>
          <a:solidFill>
            <a:srgbClr val="13233A"/>
          </a:solidFill>
          <a:ln/>
        </p:spPr>
        <p:txBody>
          <a:bodyPr/>
          <a:lstStyle/>
          <a:p>
            <a:endParaRPr lang="en-US"/>
          </a:p>
        </p:txBody>
      </p:sp>
      <p:sp>
        <p:nvSpPr>
          <p:cNvPr id="8" name="Text 6"/>
          <p:cNvSpPr/>
          <p:nvPr/>
        </p:nvSpPr>
        <p:spPr>
          <a:xfrm>
            <a:off x="7368646" y="1826158"/>
            <a:ext cx="3947737"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Inside web-1, try</a:t>
            </a:r>
            <a:endParaRPr lang="en-US" sz="1200" dirty="0"/>
          </a:p>
        </p:txBody>
      </p:sp>
      <p:sp>
        <p:nvSpPr>
          <p:cNvPr id="9" name="Text 7"/>
          <p:cNvSpPr/>
          <p:nvPr/>
        </p:nvSpPr>
        <p:spPr>
          <a:xfrm>
            <a:off x="7368646" y="2102917"/>
            <a:ext cx="3947737" cy="909108"/>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ip addr show</a:t>
            </a:r>
            <a:endParaRPr lang="en-US" sz="1200" dirty="0"/>
          </a:p>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ip route</a:t>
            </a:r>
            <a:endParaRPr lang="en-US" sz="1200" dirty="0"/>
          </a:p>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ping -c 3 10.0.2.x</a:t>
            </a:r>
            <a:endParaRPr lang="en-US" sz="1200" dirty="0"/>
          </a:p>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curl -I https://aws.amazon.com</a:t>
            </a:r>
            <a:endParaRPr lang="en-US" sz="1200" dirty="0"/>
          </a:p>
        </p:txBody>
      </p:sp>
      <p:sp>
        <p:nvSpPr>
          <p:cNvPr id="10" name="Text 8"/>
          <p:cNvSpPr/>
          <p:nvPr/>
        </p:nvSpPr>
        <p:spPr>
          <a:xfrm>
            <a:off x="7197196" y="3297771"/>
            <a:ext cx="4175654" cy="735542"/>
          </a:xfrm>
          <a:prstGeom prst="roundRect">
            <a:avLst>
              <a:gd name="adj" fmla="val 9496"/>
            </a:avLst>
          </a:prstGeom>
          <a:noFill/>
          <a:ln w="12700">
            <a:solidFill>
              <a:srgbClr val="9AA5B4"/>
            </a:solidFill>
            <a:prstDash val="dash"/>
          </a:ln>
        </p:spPr>
        <p:txBody>
          <a:bodyPr wrap="square" lIns="134058" tIns="134058" rIns="18060" bIns="108658"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Screenshot slot:</a:t>
            </a:r>
            <a:r>
              <a:rPr lang="en-US" sz="1200" dirty="0">
                <a:solidFill>
                  <a:srgbClr val="4A5568"/>
                </a:solidFill>
                <a:latin typeface="IBM Plex Sans" pitchFamily="34" charset="0"/>
                <a:ea typeface="IBM Plex Sans" pitchFamily="34" charset="-122"/>
                <a:cs typeface="IBM Plex Sans" pitchFamily="34" charset="-120"/>
              </a:rPr>
              <a:t> Launch page, Network settings section in Edit mode</a:t>
            </a:r>
            <a:endParaRPr lang="en-US" sz="1200" dirty="0"/>
          </a:p>
        </p:txBody>
      </p:sp>
      <p:sp>
        <p:nvSpPr>
          <p:cNvPr id="11" name="Text 9"/>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AWS LAB 5 · 6 MIN · FREE</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Reach the private instance: three ways</a:t>
            </a:r>
            <a:endParaRPr lang="en-US" sz="3000" dirty="0"/>
          </a:p>
        </p:txBody>
      </p:sp>
      <p:sp>
        <p:nvSpPr>
          <p:cNvPr id="4" name="Shape 2"/>
          <p:cNvSpPr/>
          <p:nvPr/>
        </p:nvSpPr>
        <p:spPr>
          <a:xfrm>
            <a:off x="815975" y="1613433"/>
            <a:ext cx="3414183" cy="2087563"/>
          </a:xfrm>
          <a:prstGeom prst="roundRect">
            <a:avLst>
              <a:gd name="adj" fmla="val 4715"/>
            </a:avLst>
          </a:prstGeom>
          <a:solidFill>
            <a:srgbClr val="FCFBF7"/>
          </a:solidFill>
          <a:ln w="6350">
            <a:solidFill>
              <a:srgbClr val="DCD8CC"/>
            </a:solidFill>
            <a:prstDash val="solid"/>
          </a:ln>
        </p:spPr>
        <p:txBody>
          <a:bodyPr/>
          <a:lstStyle/>
          <a:p>
            <a:endParaRPr lang="en-US"/>
          </a:p>
        </p:txBody>
      </p:sp>
      <p:sp>
        <p:nvSpPr>
          <p:cNvPr id="5" name="Text 3"/>
          <p:cNvSpPr/>
          <p:nvPr/>
        </p:nvSpPr>
        <p:spPr>
          <a:xfrm>
            <a:off x="999067" y="1796529"/>
            <a:ext cx="3139440"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67A8"/>
                </a:solidFill>
                <a:latin typeface="IBM Plex Sans" pitchFamily="34" charset="0"/>
                <a:ea typeface="IBM Plex Sans" pitchFamily="34" charset="-122"/>
                <a:cs typeface="IBM Plex Sans" pitchFamily="34" charset="-120"/>
              </a:rPr>
              <a:t>A · Direct to public</a:t>
            </a:r>
            <a:endParaRPr lang="en-US" sz="1400" dirty="0"/>
          </a:p>
        </p:txBody>
      </p:sp>
      <p:sp>
        <p:nvSpPr>
          <p:cNvPr id="6" name="Text 4"/>
          <p:cNvSpPr/>
          <p:nvPr/>
        </p:nvSpPr>
        <p:spPr>
          <a:xfrm>
            <a:off x="999067" y="2085975"/>
            <a:ext cx="3139440"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EC2 › web-1 › </a:t>
            </a:r>
            <a:r>
              <a:rPr lang="en-US" sz="1200" b="1" dirty="0">
                <a:solidFill>
                  <a:srgbClr val="3D4A5C"/>
                </a:solidFill>
                <a:latin typeface="IBM Plex Sans" pitchFamily="34" charset="0"/>
                <a:ea typeface="IBM Plex Sans" pitchFamily="34" charset="-122"/>
                <a:cs typeface="IBM Plex Sans" pitchFamily="34" charset="-120"/>
              </a:rPr>
              <a:t>Connect</a:t>
            </a:r>
            <a:r>
              <a:rPr lang="en-US" sz="1200" dirty="0">
                <a:solidFill>
                  <a:srgbClr val="3D4A5C"/>
                </a:solidFill>
                <a:latin typeface="IBM Plex Sans" pitchFamily="34" charset="0"/>
                <a:ea typeface="IBM Plex Sans" pitchFamily="34" charset="-122"/>
                <a:cs typeface="IBM Plex Sans" pitchFamily="34" charset="-120"/>
              </a:rPr>
              <a:t> › EC2 Instance Connect › Connect. Or from a laptop:</a:t>
            </a:r>
            <a:endParaRPr lang="en-US" sz="1200" dirty="0"/>
          </a:p>
        </p:txBody>
      </p:sp>
      <p:sp>
        <p:nvSpPr>
          <p:cNvPr id="7" name="Text 5"/>
          <p:cNvSpPr/>
          <p:nvPr/>
        </p:nvSpPr>
        <p:spPr>
          <a:xfrm>
            <a:off x="999067" y="2588692"/>
            <a:ext cx="3139440"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49" charset="0"/>
                <a:ea typeface="JetBrains Mono" pitchFamily="49" charset="-122"/>
                <a:cs typeface="JetBrains Mono" pitchFamily="49" charset="-120"/>
              </a:rPr>
              <a:t>ssh -i lab-key.pem ec2-user@&lt;web-1 public IP&gt;</a:t>
            </a:r>
            <a:endParaRPr lang="en-US" sz="1200" dirty="0"/>
          </a:p>
        </p:txBody>
      </p:sp>
      <p:sp>
        <p:nvSpPr>
          <p:cNvPr id="8" name="Text 6"/>
          <p:cNvSpPr/>
          <p:nvPr/>
        </p:nvSpPr>
        <p:spPr>
          <a:xfrm>
            <a:off x="999067" y="3091396"/>
            <a:ext cx="3139440"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Browser connect needs SSH from the EC2 Instance Connect prefix list in sg-web.</a:t>
            </a:r>
            <a:endParaRPr lang="en-US" sz="1200" dirty="0"/>
          </a:p>
        </p:txBody>
      </p:sp>
      <p:sp>
        <p:nvSpPr>
          <p:cNvPr id="9" name="Shape 7"/>
          <p:cNvSpPr/>
          <p:nvPr/>
        </p:nvSpPr>
        <p:spPr>
          <a:xfrm>
            <a:off x="4388908" y="1613433"/>
            <a:ext cx="3414183" cy="2087563"/>
          </a:xfrm>
          <a:prstGeom prst="roundRect">
            <a:avLst>
              <a:gd name="adj" fmla="val 4715"/>
            </a:avLst>
          </a:prstGeom>
          <a:solidFill>
            <a:srgbClr val="FCFBF7"/>
          </a:solidFill>
          <a:ln w="6350">
            <a:solidFill>
              <a:srgbClr val="DCD8CC"/>
            </a:solidFill>
            <a:prstDash val="solid"/>
          </a:ln>
        </p:spPr>
        <p:txBody>
          <a:bodyPr/>
          <a:lstStyle/>
          <a:p>
            <a:endParaRPr lang="en-US"/>
          </a:p>
        </p:txBody>
      </p:sp>
      <p:sp>
        <p:nvSpPr>
          <p:cNvPr id="10" name="Text 8"/>
          <p:cNvSpPr/>
          <p:nvPr/>
        </p:nvSpPr>
        <p:spPr>
          <a:xfrm>
            <a:off x="4572000" y="1796529"/>
            <a:ext cx="3139440"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67A8"/>
                </a:solidFill>
                <a:latin typeface="IBM Plex Sans" pitchFamily="34" charset="0"/>
                <a:ea typeface="IBM Plex Sans" pitchFamily="34" charset="-122"/>
                <a:cs typeface="IBM Plex Sans" pitchFamily="34" charset="-120"/>
              </a:rPr>
              <a:t>B · Classic bastion</a:t>
            </a:r>
            <a:endParaRPr lang="en-US" sz="1400" dirty="0"/>
          </a:p>
        </p:txBody>
      </p:sp>
      <p:sp>
        <p:nvSpPr>
          <p:cNvPr id="11" name="Text 9"/>
          <p:cNvSpPr/>
          <p:nvPr/>
        </p:nvSpPr>
        <p:spPr>
          <a:xfrm>
            <a:off x="4572000" y="2085975"/>
            <a:ext cx="3139440"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web-1 is the jump host. On your laptop:</a:t>
            </a:r>
            <a:endParaRPr lang="en-US" sz="1200" dirty="0"/>
          </a:p>
        </p:txBody>
      </p:sp>
      <p:sp>
        <p:nvSpPr>
          <p:cNvPr id="12" name="Text 10"/>
          <p:cNvSpPr/>
          <p:nvPr/>
        </p:nvSpPr>
        <p:spPr>
          <a:xfrm>
            <a:off x="4572000" y="2375433"/>
            <a:ext cx="3139440" cy="66516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49" charset="0"/>
                <a:ea typeface="JetBrains Mono" pitchFamily="49" charset="-122"/>
                <a:cs typeface="JetBrains Mono" pitchFamily="49" charset="-120"/>
              </a:rPr>
              <a:t>ssh-add lab-key.pem</a:t>
            </a:r>
            <a:endParaRPr lang="en-US" sz="1200" dirty="0"/>
          </a:p>
          <a:p>
            <a:pPr marL="0" indent="0" algn="l">
              <a:lnSpc>
                <a:spcPts val="1680"/>
              </a:lnSpc>
              <a:buNone/>
            </a:pPr>
            <a:r>
              <a:rPr lang="en-US" sz="1200" dirty="0">
                <a:solidFill>
                  <a:srgbClr val="13233A"/>
                </a:solidFill>
                <a:latin typeface="JetBrains Mono" pitchFamily="49" charset="0"/>
                <a:ea typeface="JetBrains Mono" pitchFamily="49" charset="-122"/>
                <a:cs typeface="JetBrains Mono" pitchFamily="49" charset="-120"/>
              </a:rPr>
              <a:t>ssh -J ec2-user@&lt;web-1 IP&gt; ec2-user@10.0.2.x</a:t>
            </a:r>
            <a:endParaRPr lang="en-US" sz="1200" dirty="0"/>
          </a:p>
        </p:txBody>
      </p:sp>
      <p:sp>
        <p:nvSpPr>
          <p:cNvPr id="13" name="Text 11"/>
          <p:cNvSpPr/>
          <p:nvPr/>
        </p:nvSpPr>
        <p:spPr>
          <a:xfrm>
            <a:off x="4572000" y="3091396"/>
            <a:ext cx="3139440"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Works because sg-app trusts sg-web.</a:t>
            </a:r>
            <a:endParaRPr lang="en-US" sz="1200" dirty="0"/>
          </a:p>
        </p:txBody>
      </p:sp>
      <p:sp>
        <p:nvSpPr>
          <p:cNvPr id="14" name="Shape 12"/>
          <p:cNvSpPr/>
          <p:nvPr/>
        </p:nvSpPr>
        <p:spPr>
          <a:xfrm>
            <a:off x="7961842" y="1613433"/>
            <a:ext cx="3414183" cy="2087563"/>
          </a:xfrm>
          <a:prstGeom prst="roundRect">
            <a:avLst>
              <a:gd name="adj" fmla="val 4715"/>
            </a:avLst>
          </a:prstGeom>
          <a:solidFill>
            <a:srgbClr val="E3EDF8"/>
          </a:solidFill>
          <a:ln w="6350">
            <a:solidFill>
              <a:srgbClr val="B8CDE6"/>
            </a:solidFill>
            <a:prstDash val="solid"/>
          </a:ln>
        </p:spPr>
        <p:txBody>
          <a:bodyPr/>
          <a:lstStyle/>
          <a:p>
            <a:endParaRPr lang="en-US"/>
          </a:p>
        </p:txBody>
      </p:sp>
      <p:sp>
        <p:nvSpPr>
          <p:cNvPr id="15" name="Text 13"/>
          <p:cNvSpPr/>
          <p:nvPr/>
        </p:nvSpPr>
        <p:spPr>
          <a:xfrm>
            <a:off x="8144934" y="1796529"/>
            <a:ext cx="3139440"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67A8"/>
                </a:solidFill>
                <a:latin typeface="IBM Plex Sans" pitchFamily="34" charset="0"/>
                <a:ea typeface="IBM Plex Sans" pitchFamily="34" charset="-122"/>
                <a:cs typeface="IBM Plex Sans" pitchFamily="34" charset="-120"/>
              </a:rPr>
              <a:t>C · No bastion: EIC Endpoint</a:t>
            </a:r>
            <a:endParaRPr lang="en-US" sz="1400" dirty="0"/>
          </a:p>
        </p:txBody>
      </p:sp>
      <p:sp>
        <p:nvSpPr>
          <p:cNvPr id="16" name="Text 14"/>
          <p:cNvSpPr/>
          <p:nvPr/>
        </p:nvSpPr>
        <p:spPr>
          <a:xfrm>
            <a:off x="8144934" y="2085975"/>
            <a:ext cx="3139440" cy="66516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3646"/>
                </a:solidFill>
                <a:latin typeface="IBM Plex Sans" pitchFamily="34" charset="0"/>
                <a:ea typeface="IBM Plex Sans" pitchFamily="34" charset="-122"/>
                <a:cs typeface="IBM Plex Sans" pitchFamily="34" charset="-120"/>
              </a:rPr>
              <a:t>VPC › Endpoints › </a:t>
            </a:r>
            <a:r>
              <a:rPr lang="en-US" sz="1200" b="1" dirty="0">
                <a:solidFill>
                  <a:srgbClr val="2A3646"/>
                </a:solidFill>
                <a:latin typeface="IBM Plex Sans" pitchFamily="34" charset="0"/>
                <a:ea typeface="IBM Plex Sans" pitchFamily="34" charset="-122"/>
                <a:cs typeface="IBM Plex Sans" pitchFamily="34" charset="-120"/>
              </a:rPr>
              <a:t>Create endpoint</a:t>
            </a:r>
            <a:r>
              <a:rPr lang="en-US" sz="1200" dirty="0">
                <a:solidFill>
                  <a:srgbClr val="2A3646"/>
                </a:solidFill>
                <a:latin typeface="IBM Plex Sans" pitchFamily="34" charset="0"/>
                <a:ea typeface="IBM Plex Sans" pitchFamily="34" charset="-122"/>
                <a:cs typeface="IBM Plex Sans" pitchFamily="34" charset="-120"/>
              </a:rPr>
              <a:t> › type </a:t>
            </a:r>
            <a:r>
              <a:rPr lang="en-US" sz="1200" b="1" dirty="0">
                <a:solidFill>
                  <a:srgbClr val="2A3646"/>
                </a:solidFill>
                <a:latin typeface="IBM Plex Sans" pitchFamily="34" charset="0"/>
                <a:ea typeface="IBM Plex Sans" pitchFamily="34" charset="-122"/>
                <a:cs typeface="IBM Plex Sans" pitchFamily="34" charset="-120"/>
              </a:rPr>
              <a:t>EC2 Instance Connect Endpoint</a:t>
            </a:r>
            <a:r>
              <a:rPr lang="en-US" sz="1200" dirty="0">
                <a:solidFill>
                  <a:srgbClr val="2A3646"/>
                </a:solidFill>
                <a:latin typeface="IBM Plex Sans" pitchFamily="34" charset="0"/>
                <a:ea typeface="IBM Plex Sans" pitchFamily="34" charset="-122"/>
                <a:cs typeface="IBM Plex Sans" pitchFamily="34" charset="-120"/>
              </a:rPr>
              <a:t> › lab-vpc · SG sg-eice · subnet lab-private › Create</a:t>
            </a:r>
            <a:endParaRPr lang="en-US" sz="1200" dirty="0"/>
          </a:p>
        </p:txBody>
      </p:sp>
      <p:sp>
        <p:nvSpPr>
          <p:cNvPr id="17" name="Text 15"/>
          <p:cNvSpPr/>
          <p:nvPr/>
        </p:nvSpPr>
        <p:spPr>
          <a:xfrm>
            <a:off x="8144934" y="2801938"/>
            <a:ext cx="3139440" cy="66516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3646"/>
                </a:solidFill>
                <a:latin typeface="IBM Plex Sans" pitchFamily="34" charset="0"/>
                <a:ea typeface="IBM Plex Sans" pitchFamily="34" charset="-122"/>
                <a:cs typeface="IBM Plex Sans" pitchFamily="34" charset="-120"/>
              </a:rPr>
              <a:t>sg-app: add SSH 22 from sg-eice. Then app-1 › Connect › Connect using a </a:t>
            </a:r>
            <a:r>
              <a:rPr lang="en-US" sz="1200" b="1" dirty="0">
                <a:solidFill>
                  <a:srgbClr val="2A3646"/>
                </a:solidFill>
                <a:latin typeface="IBM Plex Sans" pitchFamily="34" charset="0"/>
                <a:ea typeface="IBM Plex Sans" pitchFamily="34" charset="-122"/>
                <a:cs typeface="IBM Plex Sans" pitchFamily="34" charset="-120"/>
              </a:rPr>
              <a:t>Private IP</a:t>
            </a:r>
            <a:r>
              <a:rPr lang="en-US" sz="1200" dirty="0">
                <a:solidFill>
                  <a:srgbClr val="2A3646"/>
                </a:solidFill>
                <a:latin typeface="IBM Plex Sans" pitchFamily="34" charset="0"/>
                <a:ea typeface="IBM Plex Sans" pitchFamily="34" charset="-122"/>
                <a:cs typeface="IBM Plex Sans" pitchFamily="34" charset="-120"/>
              </a:rPr>
              <a:t> › Connect</a:t>
            </a:r>
            <a:endParaRPr lang="en-US" sz="1200" dirty="0"/>
          </a:p>
        </p:txBody>
      </p:sp>
      <p:sp>
        <p:nvSpPr>
          <p:cNvPr id="18" name="Text 16"/>
          <p:cNvSpPr/>
          <p:nvPr/>
        </p:nvSpPr>
        <p:spPr>
          <a:xfrm>
            <a:off x="812800" y="3894671"/>
            <a:ext cx="10566400" cy="510514"/>
          </a:xfrm>
          <a:prstGeom prst="roundRect">
            <a:avLst>
              <a:gd name="adj" fmla="val 14926"/>
            </a:avLst>
          </a:prstGeom>
          <a:solidFill>
            <a:srgbClr val="13233A"/>
          </a:solidFill>
          <a:ln/>
        </p:spPr>
        <p:txBody>
          <a:bodyPr wrap="square" lIns="168182" tIns="117382" rIns="0" bIns="91982"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CLI for C: </a:t>
            </a:r>
            <a:r>
              <a:rPr lang="en-US" sz="1300" dirty="0">
                <a:solidFill>
                  <a:srgbClr val="F2A65A"/>
                </a:solidFill>
                <a:latin typeface="IBM Plex Sans" pitchFamily="34" charset="0"/>
                <a:ea typeface="IBM Plex Sans" pitchFamily="34" charset="-122"/>
                <a:cs typeface="IBM Plex Sans" pitchFamily="34" charset="-120"/>
              </a:rPr>
              <a:t>aws ec2-instance-connect ssh --instance-id i-0abc… --connection-type eice</a:t>
            </a:r>
            <a:endParaRPr lang="en-US" sz="1300" dirty="0"/>
          </a:p>
        </p:txBody>
      </p:sp>
      <p:sp>
        <p:nvSpPr>
          <p:cNvPr id="19" name="Text 17"/>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812800" y="1901304"/>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2A65A"/>
                </a:solidFill>
                <a:latin typeface="IBM Plex Sans" pitchFamily="34" charset="0"/>
                <a:ea typeface="IBM Plex Sans" pitchFamily="34" charset="-122"/>
                <a:cs typeface="IBM Plex Sans" pitchFamily="34" charset="-120"/>
              </a:rPr>
              <a:t>04</a:t>
            </a:r>
            <a:endParaRPr lang="en-US" sz="8000" dirty="0"/>
          </a:p>
        </p:txBody>
      </p:sp>
      <p:sp>
        <p:nvSpPr>
          <p:cNvPr id="3" name="Text 1"/>
          <p:cNvSpPr>
            <a:spLocks noGrp="1"/>
          </p:cNvSpPr>
          <p:nvPr>
            <p:ph type="title"/>
          </p:nvPr>
        </p:nvSpPr>
        <p:spPr>
          <a:xfrm>
            <a:off x="812800" y="3095104"/>
            <a:ext cx="10883392" cy="665427"/>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E"/>
                </a:solidFill>
                <a:latin typeface="IBM Plex Sans" pitchFamily="34" charset="0"/>
                <a:ea typeface="IBM Plex Sans" pitchFamily="34" charset="-122"/>
                <a:cs typeface="IBM Plex Sans" pitchFamily="34" charset="-120"/>
              </a:rPr>
              <a:t>Azure hands-on lab</a:t>
            </a:r>
            <a:endParaRPr lang="en-US" sz="4800" dirty="0"/>
          </a:p>
        </p:txBody>
      </p:sp>
      <p:sp>
        <p:nvSpPr>
          <p:cNvPr id="4" name="Text 2"/>
          <p:cNvSpPr/>
          <p:nvPr/>
        </p:nvSpPr>
        <p:spPr>
          <a:xfrm>
            <a:off x="812800" y="3912927"/>
            <a:ext cx="8502650" cy="642408"/>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9C6D6"/>
                </a:solidFill>
                <a:latin typeface="IBM Plex Sans" pitchFamily="34" charset="0"/>
                <a:ea typeface="IBM Plex Sans" pitchFamily="34" charset="-122"/>
                <a:cs typeface="IBM Plex Sans" pitchFamily="34" charset="-120"/>
              </a:rPr>
              <a:t>Resource group, VNet and subnets, NSGs, two B1s VMs, Bastion Developer and bastion-free access, then user-defined routes.</a:t>
            </a:r>
            <a:endParaRPr lang="en-US" sz="1800" dirty="0"/>
          </a:p>
        </p:txBody>
      </p:sp>
      <p:sp>
        <p:nvSpPr>
          <p:cNvPr id="5" name="Text 3"/>
          <p:cNvSpPr/>
          <p:nvPr/>
        </p:nvSpPr>
        <p:spPr>
          <a:xfrm>
            <a:off x="812800" y="470773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A65A"/>
                </a:solidFill>
                <a:latin typeface="IBM Plex Sans" pitchFamily="34" charset="0"/>
                <a:ea typeface="IBM Plex Sans" pitchFamily="34" charset="-122"/>
                <a:cs typeface="IBM Plex Sans" pitchFamily="34" charset="-120"/>
              </a:rPr>
              <a:t>1:10 – 1:35 · 25 minutes · region East US 2</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AZURE LAB · WHAT WE WILL BUILD</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Same design, Azure vocabulary</a:t>
            </a:r>
            <a:endParaRPr lang="en-US" sz="3000" dirty="0"/>
          </a:p>
        </p:txBody>
      </p:sp>
      <p:sp>
        <p:nvSpPr>
          <p:cNvPr id="4" name="Shape 2"/>
          <p:cNvSpPr/>
          <p:nvPr/>
        </p:nvSpPr>
        <p:spPr>
          <a:xfrm>
            <a:off x="819150" y="1654708"/>
            <a:ext cx="6599503" cy="2422790"/>
          </a:xfrm>
          <a:prstGeom prst="roundRect">
            <a:avLst>
              <a:gd name="adj" fmla="val 3931"/>
            </a:avLst>
          </a:prstGeom>
          <a:noFill/>
          <a:ln w="12700">
            <a:solidFill>
              <a:srgbClr val="9AA5B4"/>
            </a:solidFill>
            <a:prstDash val="dash"/>
          </a:ln>
        </p:spPr>
        <p:txBody>
          <a:bodyPr/>
          <a:lstStyle/>
          <a:p>
            <a:endParaRPr lang="en-US"/>
          </a:p>
        </p:txBody>
      </p:sp>
      <p:sp>
        <p:nvSpPr>
          <p:cNvPr id="5" name="Text 3"/>
          <p:cNvSpPr/>
          <p:nvPr/>
        </p:nvSpPr>
        <p:spPr>
          <a:xfrm>
            <a:off x="973667" y="1809229"/>
            <a:ext cx="6479183"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Subscription › Resource group rg-netlab · East US 2</a:t>
            </a:r>
            <a:endParaRPr lang="en-US" sz="1200" dirty="0"/>
          </a:p>
        </p:txBody>
      </p:sp>
      <p:sp>
        <p:nvSpPr>
          <p:cNvPr id="6" name="Shape 4"/>
          <p:cNvSpPr/>
          <p:nvPr/>
        </p:nvSpPr>
        <p:spPr>
          <a:xfrm>
            <a:off x="983192" y="2133600"/>
            <a:ext cx="6271419" cy="1779852"/>
          </a:xfrm>
          <a:prstGeom prst="roundRect">
            <a:avLst>
              <a:gd name="adj" fmla="val 5173"/>
            </a:avLst>
          </a:prstGeom>
          <a:noFill/>
          <a:ln w="19050">
            <a:solidFill>
              <a:srgbClr val="2B67A8"/>
            </a:solidFill>
            <a:prstDash val="solid"/>
          </a:ln>
        </p:spPr>
        <p:txBody>
          <a:bodyPr/>
          <a:lstStyle/>
          <a:p>
            <a:endParaRPr lang="en-US"/>
          </a:p>
        </p:txBody>
      </p:sp>
      <p:sp>
        <p:nvSpPr>
          <p:cNvPr id="7" name="Text 5"/>
          <p:cNvSpPr/>
          <p:nvPr/>
        </p:nvSpPr>
        <p:spPr>
          <a:xfrm>
            <a:off x="1143000" y="2330190"/>
            <a:ext cx="291846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B67A8"/>
                </a:solidFill>
                <a:latin typeface="IBM Plex Sans" pitchFamily="34" charset="0"/>
                <a:ea typeface="IBM Plex Sans" pitchFamily="34" charset="-122"/>
                <a:cs typeface="IBM Plex Sans" pitchFamily="34" charset="-120"/>
              </a:rPr>
              <a:t>VNet vnet-lab · 10.1.0.0/16</a:t>
            </a:r>
            <a:endParaRPr lang="en-US" sz="1500" dirty="0"/>
          </a:p>
        </p:txBody>
      </p:sp>
      <p:sp>
        <p:nvSpPr>
          <p:cNvPr id="8" name="Text 6"/>
          <p:cNvSpPr/>
          <p:nvPr/>
        </p:nvSpPr>
        <p:spPr>
          <a:xfrm>
            <a:off x="4982766" y="2293417"/>
            <a:ext cx="2112037" cy="340254"/>
          </a:xfrm>
          <a:prstGeom prst="roundRect">
            <a:avLst>
              <a:gd name="adj" fmla="val 50000"/>
            </a:avLst>
          </a:prstGeom>
          <a:solidFill>
            <a:srgbClr val="B8521F"/>
          </a:solidFill>
          <a:ln/>
        </p:spPr>
        <p:txBody>
          <a:bodyPr wrap="none" lIns="0" tIns="0" rIns="0" bIns="0" rtlCol="0" anchor="ctr">
            <a:normAutofit/>
          </a:bodyPr>
          <a:lstStyle/>
          <a:p>
            <a:pPr marL="0" indent="0" algn="ctr">
              <a:lnSpc>
                <a:spcPts val="1680"/>
              </a:lnSpc>
              <a:buNone/>
            </a:pPr>
            <a:r>
              <a:rPr lang="en-US" sz="1200" dirty="0">
                <a:solidFill>
                  <a:srgbClr val="FCFBF7"/>
                </a:solidFill>
                <a:latin typeface="IBM Plex Sans" pitchFamily="34" charset="0"/>
                <a:ea typeface="IBM Plex Sans" pitchFamily="34" charset="-122"/>
                <a:cs typeface="IBM Plex Sans" pitchFamily="34" charset="-120"/>
              </a:rPr>
              <a:t>Bastion Developer (shared)</a:t>
            </a:r>
            <a:endParaRPr lang="en-US" sz="1200" dirty="0"/>
          </a:p>
        </p:txBody>
      </p:sp>
      <p:sp>
        <p:nvSpPr>
          <p:cNvPr id="9" name="Shape 7"/>
          <p:cNvSpPr/>
          <p:nvPr/>
        </p:nvSpPr>
        <p:spPr>
          <a:xfrm>
            <a:off x="1143000" y="2760663"/>
            <a:ext cx="2912401" cy="992981"/>
          </a:xfrm>
          <a:prstGeom prst="roundRect">
            <a:avLst>
              <a:gd name="adj" fmla="val 7674"/>
            </a:avLst>
          </a:prstGeom>
          <a:solidFill>
            <a:srgbClr val="E3EDF8"/>
          </a:solidFill>
          <a:ln/>
        </p:spPr>
        <p:txBody>
          <a:bodyPr/>
          <a:lstStyle/>
          <a:p>
            <a:endParaRPr lang="en-US"/>
          </a:p>
        </p:txBody>
      </p:sp>
      <p:sp>
        <p:nvSpPr>
          <p:cNvPr id="10" name="Text 8"/>
          <p:cNvSpPr/>
          <p:nvPr/>
        </p:nvSpPr>
        <p:spPr>
          <a:xfrm>
            <a:off x="1295400" y="2913063"/>
            <a:ext cx="2685829"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snet-web 10.1.1.0/24</a:t>
            </a:r>
            <a:endParaRPr lang="en-US" sz="1400" dirty="0"/>
          </a:p>
        </p:txBody>
      </p:sp>
      <p:sp>
        <p:nvSpPr>
          <p:cNvPr id="11" name="Text 9"/>
          <p:cNvSpPr/>
          <p:nvPr/>
        </p:nvSpPr>
        <p:spPr>
          <a:xfrm>
            <a:off x="1295400" y="3189821"/>
            <a:ext cx="2685829"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IBM Plex Sans" pitchFamily="34" charset="0"/>
                <a:ea typeface="IBM Plex Sans" pitchFamily="34" charset="-122"/>
                <a:cs typeface="IBM Plex Sans" pitchFamily="34" charset="-120"/>
              </a:rPr>
              <a:t>vm-web · B1s · public IP</a:t>
            </a:r>
            <a:endParaRPr lang="en-US" sz="1200" dirty="0"/>
          </a:p>
          <a:p>
            <a:pPr marL="0" indent="0" algn="l">
              <a:lnSpc>
                <a:spcPts val="1620"/>
              </a:lnSpc>
              <a:buNone/>
            </a:pPr>
            <a:r>
              <a:rPr lang="en-US" sz="1200" dirty="0">
                <a:solidFill>
                  <a:srgbClr val="3D4A5C"/>
                </a:solidFill>
                <a:latin typeface="IBM Plex Sans" pitchFamily="34" charset="0"/>
                <a:ea typeface="IBM Plex Sans" pitchFamily="34" charset="-122"/>
                <a:cs typeface="IBM Plex Sans" pitchFamily="34" charset="-120"/>
              </a:rPr>
              <a:t>NSG nsg-web</a:t>
            </a:r>
            <a:endParaRPr lang="en-US" sz="1200" dirty="0"/>
          </a:p>
        </p:txBody>
      </p:sp>
      <p:sp>
        <p:nvSpPr>
          <p:cNvPr id="12" name="Shape 10"/>
          <p:cNvSpPr/>
          <p:nvPr/>
        </p:nvSpPr>
        <p:spPr>
          <a:xfrm>
            <a:off x="4182401" y="2760663"/>
            <a:ext cx="2912401" cy="992981"/>
          </a:xfrm>
          <a:prstGeom prst="roundRect">
            <a:avLst>
              <a:gd name="adj" fmla="val 7674"/>
            </a:avLst>
          </a:prstGeom>
          <a:solidFill>
            <a:srgbClr val="EDEAE1"/>
          </a:solidFill>
          <a:ln/>
        </p:spPr>
        <p:txBody>
          <a:bodyPr/>
          <a:lstStyle/>
          <a:p>
            <a:endParaRPr lang="en-US"/>
          </a:p>
        </p:txBody>
      </p:sp>
      <p:sp>
        <p:nvSpPr>
          <p:cNvPr id="13" name="Text 11"/>
          <p:cNvSpPr/>
          <p:nvPr/>
        </p:nvSpPr>
        <p:spPr>
          <a:xfrm>
            <a:off x="4334801" y="2913063"/>
            <a:ext cx="2685829"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snet-app 10.1.2.0/24</a:t>
            </a:r>
            <a:endParaRPr lang="en-US" sz="1400" dirty="0"/>
          </a:p>
        </p:txBody>
      </p:sp>
      <p:sp>
        <p:nvSpPr>
          <p:cNvPr id="14" name="Text 12"/>
          <p:cNvSpPr/>
          <p:nvPr/>
        </p:nvSpPr>
        <p:spPr>
          <a:xfrm>
            <a:off x="4334801" y="3189821"/>
            <a:ext cx="2685829"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3D4A5C"/>
                </a:solidFill>
                <a:latin typeface="IBM Plex Sans" pitchFamily="34" charset="0"/>
                <a:ea typeface="IBM Plex Sans" pitchFamily="34" charset="-122"/>
                <a:cs typeface="IBM Plex Sans" pitchFamily="34" charset="-120"/>
              </a:rPr>
              <a:t>vm-app · B1s · no public IP</a:t>
            </a:r>
            <a:endParaRPr lang="en-US" sz="1200" dirty="0"/>
          </a:p>
          <a:p>
            <a:pPr marL="0" indent="0" algn="l">
              <a:lnSpc>
                <a:spcPts val="1620"/>
              </a:lnSpc>
              <a:buNone/>
            </a:pPr>
            <a:r>
              <a:rPr lang="en-US" sz="1200" dirty="0">
                <a:solidFill>
                  <a:srgbClr val="3D4A5C"/>
                </a:solidFill>
                <a:latin typeface="IBM Plex Sans" pitchFamily="34" charset="0"/>
                <a:ea typeface="IBM Plex Sans" pitchFamily="34" charset="-122"/>
                <a:cs typeface="IBM Plex Sans" pitchFamily="34" charset="-120"/>
              </a:rPr>
              <a:t>NSG nsg-app · route table rt-app</a:t>
            </a:r>
            <a:endParaRPr lang="en-US" sz="1200" dirty="0"/>
          </a:p>
        </p:txBody>
      </p:sp>
      <p:sp>
        <p:nvSpPr>
          <p:cNvPr id="15" name="Shape 13"/>
          <p:cNvSpPr/>
          <p:nvPr/>
        </p:nvSpPr>
        <p:spPr>
          <a:xfrm>
            <a:off x="7679003" y="1648358"/>
            <a:ext cx="3700198" cy="1074208"/>
          </a:xfrm>
          <a:prstGeom prst="roundRect">
            <a:avLst>
              <a:gd name="adj" fmla="val 9458"/>
            </a:avLst>
          </a:prstGeom>
          <a:solidFill>
            <a:srgbClr val="13233A"/>
          </a:solidFill>
          <a:ln/>
        </p:spPr>
        <p:txBody>
          <a:bodyPr/>
          <a:lstStyle/>
          <a:p>
            <a:endParaRPr lang="en-US"/>
          </a:p>
        </p:txBody>
      </p:sp>
      <p:sp>
        <p:nvSpPr>
          <p:cNvPr id="16" name="Text 14"/>
          <p:cNvSpPr/>
          <p:nvPr/>
        </p:nvSpPr>
        <p:spPr>
          <a:xfrm>
            <a:off x="7856803" y="1826158"/>
            <a:ext cx="3444936"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Default system routes</a:t>
            </a:r>
            <a:endParaRPr lang="en-US" sz="1200" dirty="0"/>
          </a:p>
        </p:txBody>
      </p:sp>
      <p:sp>
        <p:nvSpPr>
          <p:cNvPr id="17" name="Text 15"/>
          <p:cNvSpPr/>
          <p:nvPr/>
        </p:nvSpPr>
        <p:spPr>
          <a:xfrm>
            <a:off x="7856803" y="2102917"/>
            <a:ext cx="3444936" cy="46725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10.1.0.0/16 → VNet</a:t>
            </a:r>
            <a:endParaRPr lang="en-US" sz="1200" dirty="0"/>
          </a:p>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0.0.0.0/0 → Internet</a:t>
            </a:r>
            <a:endParaRPr lang="en-US" sz="1200" dirty="0"/>
          </a:p>
        </p:txBody>
      </p:sp>
      <p:sp>
        <p:nvSpPr>
          <p:cNvPr id="18" name="Shape 16"/>
          <p:cNvSpPr/>
          <p:nvPr/>
        </p:nvSpPr>
        <p:spPr>
          <a:xfrm>
            <a:off x="7679003" y="2849563"/>
            <a:ext cx="3700198" cy="853281"/>
          </a:xfrm>
          <a:prstGeom prst="roundRect">
            <a:avLst>
              <a:gd name="adj" fmla="val 11907"/>
            </a:avLst>
          </a:prstGeom>
          <a:solidFill>
            <a:srgbClr val="13233A"/>
          </a:solidFill>
          <a:ln/>
        </p:spPr>
        <p:txBody>
          <a:bodyPr/>
          <a:lstStyle/>
          <a:p>
            <a:endParaRPr lang="en-US"/>
          </a:p>
        </p:txBody>
      </p:sp>
      <p:sp>
        <p:nvSpPr>
          <p:cNvPr id="19" name="Text 17"/>
          <p:cNvSpPr/>
          <p:nvPr/>
        </p:nvSpPr>
        <p:spPr>
          <a:xfrm>
            <a:off x="7856803" y="3027363"/>
            <a:ext cx="3444936"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rt-app (user-defined)</a:t>
            </a:r>
            <a:endParaRPr lang="en-US" sz="1200" dirty="0"/>
          </a:p>
        </p:txBody>
      </p:sp>
      <p:sp>
        <p:nvSpPr>
          <p:cNvPr id="20" name="Text 18"/>
          <p:cNvSpPr/>
          <p:nvPr/>
        </p:nvSpPr>
        <p:spPr>
          <a:xfrm>
            <a:off x="7856803" y="3304121"/>
            <a:ext cx="3444936" cy="246327"/>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0.0.0.0/0 → None</a:t>
            </a:r>
            <a:endParaRPr lang="en-US" sz="1200" dirty="0"/>
          </a:p>
        </p:txBody>
      </p:sp>
      <p:sp>
        <p:nvSpPr>
          <p:cNvPr id="21" name="Text 19"/>
          <p:cNvSpPr/>
          <p:nvPr/>
        </p:nvSpPr>
        <p:spPr>
          <a:xfrm>
            <a:off x="7679003" y="3829844"/>
            <a:ext cx="3811204"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No internet gateway object: Azure adds system routes for you.</a:t>
            </a:r>
            <a:endParaRPr lang="en-US" sz="1200" dirty="0"/>
          </a:p>
        </p:txBody>
      </p:sp>
      <p:sp>
        <p:nvSpPr>
          <p:cNvPr id="22" name="Text 20"/>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AZURE LAB 1 · 5 MIN · FREE</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Resource group, VNet and two subnets</a:t>
            </a:r>
            <a:endParaRPr lang="en-US" sz="3000" dirty="0"/>
          </a:p>
        </p:txBody>
      </p:sp>
      <p:sp>
        <p:nvSpPr>
          <p:cNvPr id="4" name="Text 2"/>
          <p:cNvSpPr/>
          <p:nvPr/>
        </p:nvSpPr>
        <p:spPr>
          <a:xfrm>
            <a:off x="812800" y="1648358"/>
            <a:ext cx="625544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Click path</a:t>
            </a:r>
            <a:endParaRPr lang="en-US" sz="1500" dirty="0"/>
          </a:p>
        </p:txBody>
      </p:sp>
      <p:sp>
        <p:nvSpPr>
          <p:cNvPr id="5" name="Text 3"/>
          <p:cNvSpPr/>
          <p:nvPr/>
        </p:nvSpPr>
        <p:spPr>
          <a:xfrm>
            <a:off x="883841" y="1965858"/>
            <a:ext cx="6176783" cy="1643195"/>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a:t>
            </a:r>
            <a:r>
              <a:rPr lang="en-US" sz="1300" b="1" dirty="0">
                <a:solidFill>
                  <a:srgbClr val="2A3646"/>
                </a:solidFill>
                <a:latin typeface="IBM Plex Sans" pitchFamily="34" charset="0"/>
                <a:ea typeface="IBM Plex Sans" pitchFamily="34" charset="-122"/>
                <a:cs typeface="IBM Plex Sans" pitchFamily="34" charset="-120"/>
              </a:rPr>
              <a:t>Resource groups</a:t>
            </a:r>
            <a:r>
              <a:rPr lang="en-US" sz="1300" dirty="0">
                <a:solidFill>
                  <a:srgbClr val="2A3646"/>
                </a:solidFill>
                <a:latin typeface="IBM Plex Sans" pitchFamily="34" charset="0"/>
                <a:ea typeface="IBM Plex Sans" pitchFamily="34" charset="-122"/>
                <a:cs typeface="IBM Plex Sans" pitchFamily="34" charset="-120"/>
              </a:rPr>
              <a:t> › + Create › rg-netlab · East US 2 › Review + create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a:t>
            </a:r>
            <a:r>
              <a:rPr lang="en-US" sz="1300" b="1" dirty="0">
                <a:solidFill>
                  <a:srgbClr val="2A3646"/>
                </a:solidFill>
                <a:latin typeface="IBM Plex Sans" pitchFamily="34" charset="0"/>
                <a:ea typeface="IBM Plex Sans" pitchFamily="34" charset="-122"/>
                <a:cs typeface="IBM Plex Sans" pitchFamily="34" charset="-120"/>
              </a:rPr>
              <a:t>Virtual networks</a:t>
            </a:r>
            <a:r>
              <a:rPr lang="en-US" sz="1300" dirty="0">
                <a:solidFill>
                  <a:srgbClr val="2A3646"/>
                </a:solidFill>
                <a:latin typeface="IBM Plex Sans" pitchFamily="34" charset="0"/>
                <a:ea typeface="IBM Plex Sans" pitchFamily="34" charset="-122"/>
                <a:cs typeface="IBM Plex Sans" pitchFamily="34" charset="-120"/>
              </a:rPr>
              <a:t> › + Create › Basics: rg-netlab · vnet-lab · East US 2</a:t>
            </a:r>
            <a:endParaRPr lang="en-US" sz="1300" dirty="0"/>
          </a:p>
          <a:p>
            <a:pPr marL="182959" indent="-182959" algn="l">
              <a:lnSpc>
                <a:spcPts val="1820"/>
              </a:lnSpc>
              <a:buSzPct val="100000"/>
              <a:buFontTx/>
              <a:buAutoNum type="arabicPeriod"/>
            </a:pPr>
            <a:r>
              <a:rPr lang="en-US" sz="1300" b="1" dirty="0">
                <a:solidFill>
                  <a:srgbClr val="2A3646"/>
                </a:solidFill>
                <a:latin typeface="IBM Plex Sans" pitchFamily="34" charset="0"/>
                <a:ea typeface="IBM Plex Sans" pitchFamily="34" charset="-122"/>
                <a:cs typeface="IBM Plex Sans" pitchFamily="34" charset="-120"/>
              </a:rPr>
              <a:t>Security</a:t>
            </a:r>
            <a:r>
              <a:rPr lang="en-US" sz="1300" dirty="0">
                <a:solidFill>
                  <a:srgbClr val="2A3646"/>
                </a:solidFill>
                <a:latin typeface="IBM Plex Sans" pitchFamily="34" charset="0"/>
                <a:ea typeface="IBM Plex Sans" pitchFamily="34" charset="-122"/>
                <a:cs typeface="IBM Plex Sans" pitchFamily="34" charset="-120"/>
              </a:rPr>
              <a:t> tab: leave Bastion, Azure Firewall and DDoS Network Protection </a:t>
            </a:r>
            <a:r>
              <a:rPr lang="en-US" sz="1300" b="1" dirty="0">
                <a:solidFill>
                  <a:srgbClr val="2A3646"/>
                </a:solidFill>
                <a:latin typeface="IBM Plex Sans" pitchFamily="34" charset="0"/>
                <a:ea typeface="IBM Plex Sans" pitchFamily="34" charset="-122"/>
                <a:cs typeface="IBM Plex Sans" pitchFamily="34" charset="-120"/>
              </a:rPr>
              <a:t>off</a:t>
            </a:r>
            <a:endParaRPr lang="en-US" sz="1300" dirty="0"/>
          </a:p>
          <a:p>
            <a:pPr marL="182959" indent="-182959" algn="l">
              <a:lnSpc>
                <a:spcPts val="1820"/>
              </a:lnSpc>
              <a:buSzPct val="100000"/>
              <a:buFontTx/>
              <a:buAutoNum type="arabicPeriod"/>
            </a:pPr>
            <a:r>
              <a:rPr lang="en-US" sz="1300" b="1" dirty="0">
                <a:solidFill>
                  <a:srgbClr val="2A3646"/>
                </a:solidFill>
                <a:latin typeface="IBM Plex Sans" pitchFamily="34" charset="0"/>
                <a:ea typeface="IBM Plex Sans" pitchFamily="34" charset="-122"/>
                <a:cs typeface="IBM Plex Sans" pitchFamily="34" charset="-120"/>
              </a:rPr>
              <a:t>IP addresses</a:t>
            </a:r>
            <a:r>
              <a:rPr lang="en-US" sz="1300" dirty="0">
                <a:solidFill>
                  <a:srgbClr val="2A3646"/>
                </a:solidFill>
                <a:latin typeface="IBM Plex Sans" pitchFamily="34" charset="0"/>
                <a:ea typeface="IBM Plex Sans" pitchFamily="34" charset="-122"/>
                <a:cs typeface="IBM Plex Sans" pitchFamily="34" charset="-120"/>
              </a:rPr>
              <a:t> tab: address space 10.1.0.0/16 · delete the "default" subnet</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 Add a subnet: </a:t>
            </a:r>
            <a:r>
              <a:rPr lang="en-US" sz="1300" b="1" dirty="0">
                <a:solidFill>
                  <a:srgbClr val="2A3646"/>
                </a:solidFill>
                <a:latin typeface="IBM Plex Sans" pitchFamily="34" charset="0"/>
                <a:ea typeface="IBM Plex Sans" pitchFamily="34" charset="-122"/>
                <a:cs typeface="IBM Plex Sans" pitchFamily="34" charset="-120"/>
              </a:rPr>
              <a:t>snet-web</a:t>
            </a:r>
            <a:r>
              <a:rPr lang="en-US" sz="1300" dirty="0">
                <a:solidFill>
                  <a:srgbClr val="2A3646"/>
                </a:solidFill>
                <a:latin typeface="IBM Plex Sans" pitchFamily="34" charset="0"/>
                <a:ea typeface="IBM Plex Sans" pitchFamily="34" charset="-122"/>
                <a:cs typeface="IBM Plex Sans" pitchFamily="34" charset="-120"/>
              </a:rPr>
              <a:t> 10.1.1.0/24 · + Add a subnet: </a:t>
            </a:r>
            <a:r>
              <a:rPr lang="en-US" sz="1300" b="1" dirty="0">
                <a:solidFill>
                  <a:srgbClr val="2A3646"/>
                </a:solidFill>
                <a:latin typeface="IBM Plex Sans" pitchFamily="34" charset="0"/>
                <a:ea typeface="IBM Plex Sans" pitchFamily="34" charset="-122"/>
                <a:cs typeface="IBM Plex Sans" pitchFamily="34" charset="-120"/>
              </a:rPr>
              <a:t>snet-app</a:t>
            </a:r>
            <a:r>
              <a:rPr lang="en-US" sz="1300" dirty="0">
                <a:solidFill>
                  <a:srgbClr val="2A3646"/>
                </a:solidFill>
                <a:latin typeface="IBM Plex Sans" pitchFamily="34" charset="0"/>
                <a:ea typeface="IBM Plex Sans" pitchFamily="34" charset="-122"/>
                <a:cs typeface="IBM Plex Sans" pitchFamily="34" charset="-120"/>
              </a:rPr>
              <a:t> 10.1.2.0/24</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Review + create › </a:t>
            </a:r>
            <a:r>
              <a:rPr lang="en-US" sz="1300" b="1" dirty="0">
                <a:solidFill>
                  <a:srgbClr val="2A3646"/>
                </a:solidFill>
                <a:latin typeface="IBM Plex Sans" pitchFamily="34" charset="0"/>
                <a:ea typeface="IBM Plex Sans" pitchFamily="34" charset="-122"/>
                <a:cs typeface="IBM Plex Sans" pitchFamily="34" charset="-120"/>
              </a:rPr>
              <a:t>Create</a:t>
            </a:r>
            <a:endParaRPr lang="en-US" sz="1300" dirty="0"/>
          </a:p>
        </p:txBody>
      </p:sp>
      <p:sp>
        <p:nvSpPr>
          <p:cNvPr id="6" name="Text 4"/>
          <p:cNvSpPr/>
          <p:nvPr/>
        </p:nvSpPr>
        <p:spPr>
          <a:xfrm>
            <a:off x="812800" y="3672557"/>
            <a:ext cx="6073246" cy="416454"/>
          </a:xfrm>
          <a:prstGeom prst="roundRect">
            <a:avLst>
              <a:gd name="adj" fmla="val 18297"/>
            </a:avLst>
          </a:prstGeom>
          <a:solidFill>
            <a:srgbClr val="FBE6D6"/>
          </a:solidFill>
          <a:ln/>
        </p:spPr>
        <p:txBody>
          <a:bodyPr wrap="square" lIns="104682" tIns="79282" rIns="0" bIns="53882" rtlCol="0" anchor="t">
            <a:normAutofit/>
          </a:bodyPr>
          <a:lstStyle/>
          <a:p>
            <a:pPr marL="0" indent="0" algn="l">
              <a:lnSpc>
                <a:spcPts val="1680"/>
              </a:lnSpc>
              <a:buNone/>
            </a:pPr>
            <a:r>
              <a:rPr lang="en-US" sz="1200" b="1" dirty="0">
                <a:solidFill>
                  <a:srgbClr val="3D4A5C"/>
                </a:solidFill>
                <a:latin typeface="IBM Plex Sans" pitchFamily="34" charset="0"/>
                <a:ea typeface="IBM Plex Sans" pitchFamily="34" charset="-122"/>
                <a:cs typeface="IBM Plex Sans" pitchFamily="34" charset="-120"/>
              </a:rPr>
              <a:t>Checkpoint:</a:t>
            </a:r>
            <a:r>
              <a:rPr lang="en-US" sz="1200" dirty="0">
                <a:solidFill>
                  <a:srgbClr val="3D4A5C"/>
                </a:solidFill>
                <a:latin typeface="IBM Plex Sans" pitchFamily="34" charset="0"/>
                <a:ea typeface="IBM Plex Sans" pitchFamily="34" charset="-122"/>
                <a:cs typeface="IBM Plex Sans" pitchFamily="34" charset="-120"/>
              </a:rPr>
              <a:t> vnet-lab › Settings › Subnets shows 251 available in each.</a:t>
            </a:r>
            <a:endParaRPr lang="en-US" sz="1200" dirty="0"/>
          </a:p>
        </p:txBody>
      </p:sp>
      <p:sp>
        <p:nvSpPr>
          <p:cNvPr id="7" name="Shape 5"/>
          <p:cNvSpPr/>
          <p:nvPr/>
        </p:nvSpPr>
        <p:spPr>
          <a:xfrm>
            <a:off x="7190846" y="1648358"/>
            <a:ext cx="4188354" cy="1698625"/>
          </a:xfrm>
          <a:prstGeom prst="roundRect">
            <a:avLst>
              <a:gd name="adj" fmla="val 5981"/>
            </a:avLst>
          </a:prstGeom>
          <a:solidFill>
            <a:srgbClr val="13233A"/>
          </a:solidFill>
          <a:ln/>
        </p:spPr>
        <p:txBody>
          <a:bodyPr/>
          <a:lstStyle/>
          <a:p>
            <a:endParaRPr lang="en-US"/>
          </a:p>
        </p:txBody>
      </p:sp>
      <p:sp>
        <p:nvSpPr>
          <p:cNvPr id="8" name="Text 6"/>
          <p:cNvSpPr/>
          <p:nvPr/>
        </p:nvSpPr>
        <p:spPr>
          <a:xfrm>
            <a:off x="7368646" y="1826158"/>
            <a:ext cx="3947737"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Cloud Shell equivalent</a:t>
            </a:r>
            <a:endParaRPr lang="en-US" sz="1200" dirty="0"/>
          </a:p>
        </p:txBody>
      </p:sp>
      <p:sp>
        <p:nvSpPr>
          <p:cNvPr id="9" name="Text 7"/>
          <p:cNvSpPr/>
          <p:nvPr/>
        </p:nvSpPr>
        <p:spPr>
          <a:xfrm>
            <a:off x="7368646" y="2102917"/>
            <a:ext cx="3947737" cy="10916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DF3"/>
                </a:solidFill>
                <a:latin typeface="JetBrains Mono" pitchFamily="49" charset="0"/>
                <a:ea typeface="JetBrains Mono" pitchFamily="49" charset="-122"/>
                <a:cs typeface="JetBrains Mono" pitchFamily="49" charset="-120"/>
              </a:rPr>
              <a:t>az group create -n rg-netlab -l eastus2</a:t>
            </a:r>
            <a:endParaRPr lang="en-US" sz="1200" dirty="0"/>
          </a:p>
          <a:p>
            <a:pPr marL="0" indent="0" algn="l">
              <a:lnSpc>
                <a:spcPts val="1680"/>
              </a:lnSpc>
              <a:buNone/>
            </a:pPr>
            <a:r>
              <a:rPr lang="en-US" sz="1200" dirty="0">
                <a:solidFill>
                  <a:srgbClr val="E8EDF3"/>
                </a:solidFill>
                <a:latin typeface="JetBrains Mono" pitchFamily="49" charset="0"/>
                <a:ea typeface="JetBrains Mono" pitchFamily="49" charset="-122"/>
                <a:cs typeface="JetBrains Mono" pitchFamily="49" charset="-120"/>
              </a:rPr>
              <a:t>az network vnet create -g rg-netlab -n vnet-lab --address-prefixes 10.1.0.0/16 --subnet-name snet-web --subnet-prefixes 10.1.1.0/24</a:t>
            </a:r>
            <a:endParaRPr lang="en-US" sz="1200" dirty="0"/>
          </a:p>
        </p:txBody>
      </p:sp>
      <p:sp>
        <p:nvSpPr>
          <p:cNvPr id="10" name="Text 8"/>
          <p:cNvSpPr/>
          <p:nvPr/>
        </p:nvSpPr>
        <p:spPr>
          <a:xfrm>
            <a:off x="7197196" y="3480333"/>
            <a:ext cx="4175654" cy="735542"/>
          </a:xfrm>
          <a:prstGeom prst="roundRect">
            <a:avLst>
              <a:gd name="adj" fmla="val 9496"/>
            </a:avLst>
          </a:prstGeom>
          <a:noFill/>
          <a:ln w="12700">
            <a:solidFill>
              <a:srgbClr val="9AA5B4"/>
            </a:solidFill>
            <a:prstDash val="dash"/>
          </a:ln>
        </p:spPr>
        <p:txBody>
          <a:bodyPr wrap="square" lIns="134058" tIns="134058" rIns="18060" bIns="108658"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Screenshot slot:</a:t>
            </a:r>
            <a:r>
              <a:rPr lang="en-US" sz="1200" dirty="0">
                <a:solidFill>
                  <a:srgbClr val="4A5568"/>
                </a:solidFill>
                <a:latin typeface="IBM Plex Sans" pitchFamily="34" charset="0"/>
                <a:ea typeface="IBM Plex Sans" pitchFamily="34" charset="-122"/>
                <a:cs typeface="IBM Plex Sans" pitchFamily="34" charset="-120"/>
              </a:rPr>
              <a:t> Create virtual network › IP addresses tab with both subnets</a:t>
            </a:r>
            <a:endParaRPr lang="en-US" sz="1200" dirty="0"/>
          </a:p>
        </p:txBody>
      </p:sp>
      <p:sp>
        <p:nvSpPr>
          <p:cNvPr id="11" name="Text 9"/>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AZURE LAB 2 · 6 MIN · FREE</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Network security groups on each subnet</a:t>
            </a:r>
            <a:endParaRPr lang="en-US" sz="3000" dirty="0"/>
          </a:p>
        </p:txBody>
      </p:sp>
      <p:sp>
        <p:nvSpPr>
          <p:cNvPr id="4" name="Text 2"/>
          <p:cNvSpPr/>
          <p:nvPr/>
        </p:nvSpPr>
        <p:spPr>
          <a:xfrm>
            <a:off x="812800" y="1622958"/>
            <a:ext cx="62863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Click path</a:t>
            </a:r>
            <a:endParaRPr lang="en-US" sz="1500" dirty="0"/>
          </a:p>
        </p:txBody>
      </p:sp>
      <p:sp>
        <p:nvSpPr>
          <p:cNvPr id="5" name="Text 3"/>
          <p:cNvSpPr/>
          <p:nvPr/>
        </p:nvSpPr>
        <p:spPr>
          <a:xfrm>
            <a:off x="883841" y="1940458"/>
            <a:ext cx="6207714" cy="1643195"/>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a:t>
            </a:r>
            <a:r>
              <a:rPr lang="en-US" sz="1300" b="1" dirty="0">
                <a:solidFill>
                  <a:srgbClr val="2A3646"/>
                </a:solidFill>
                <a:latin typeface="IBM Plex Sans" pitchFamily="34" charset="0"/>
                <a:ea typeface="IBM Plex Sans" pitchFamily="34" charset="-122"/>
                <a:cs typeface="IBM Plex Sans" pitchFamily="34" charset="-120"/>
              </a:rPr>
              <a:t>Network security groups</a:t>
            </a:r>
            <a:r>
              <a:rPr lang="en-US" sz="1300" dirty="0">
                <a:solidFill>
                  <a:srgbClr val="2A3646"/>
                </a:solidFill>
                <a:latin typeface="IBM Plex Sans" pitchFamily="34" charset="0"/>
                <a:ea typeface="IBM Plex Sans" pitchFamily="34" charset="-122"/>
                <a:cs typeface="IBM Plex Sans" pitchFamily="34" charset="-120"/>
              </a:rPr>
              <a:t> › + Create › nsg-web · rg-netlab · East US 2</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nsg-web › Settings › </a:t>
            </a:r>
            <a:r>
              <a:rPr lang="en-US" sz="1300" b="1" dirty="0">
                <a:solidFill>
                  <a:srgbClr val="2A3646"/>
                </a:solidFill>
                <a:latin typeface="IBM Plex Sans" pitchFamily="34" charset="0"/>
                <a:ea typeface="IBM Plex Sans" pitchFamily="34" charset="-122"/>
                <a:cs typeface="IBM Plex Sans" pitchFamily="34" charset="-120"/>
              </a:rPr>
              <a:t>Inbound security rules</a:t>
            </a:r>
            <a:r>
              <a:rPr lang="en-US" sz="1300" dirty="0">
                <a:solidFill>
                  <a:srgbClr val="2A3646"/>
                </a:solidFill>
                <a:latin typeface="IBM Plex Sans" pitchFamily="34" charset="0"/>
                <a:ea typeface="IBM Plex Sans" pitchFamily="34" charset="-122"/>
                <a:cs typeface="IBM Plex Sans" pitchFamily="34" charset="-120"/>
              </a:rPr>
              <a:t> › + Add: Source My IP address · port 22 · TCP · Allow · priority 100</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 Add: Source Service Tag Internet · port 80 · priority 110</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Settings › </a:t>
            </a:r>
            <a:r>
              <a:rPr lang="en-US" sz="1300" b="1" dirty="0">
                <a:solidFill>
                  <a:srgbClr val="2A3646"/>
                </a:solidFill>
                <a:latin typeface="IBM Plex Sans" pitchFamily="34" charset="0"/>
                <a:ea typeface="IBM Plex Sans" pitchFamily="34" charset="-122"/>
                <a:cs typeface="IBM Plex Sans" pitchFamily="34" charset="-120"/>
              </a:rPr>
              <a:t>Subnets</a:t>
            </a:r>
            <a:r>
              <a:rPr lang="en-US" sz="1300" dirty="0">
                <a:solidFill>
                  <a:srgbClr val="2A3646"/>
                </a:solidFill>
                <a:latin typeface="IBM Plex Sans" pitchFamily="34" charset="0"/>
                <a:ea typeface="IBM Plex Sans" pitchFamily="34" charset="-122"/>
                <a:cs typeface="IBM Plex Sans" pitchFamily="34" charset="-120"/>
              </a:rPr>
              <a:t> › + Associate › vnet-lab / snet-web</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Create </a:t>
            </a:r>
            <a:r>
              <a:rPr lang="en-US" sz="1300" b="1" dirty="0">
                <a:solidFill>
                  <a:srgbClr val="2A3646"/>
                </a:solidFill>
                <a:latin typeface="IBM Plex Sans" pitchFamily="34" charset="0"/>
                <a:ea typeface="IBM Plex Sans" pitchFamily="34" charset="-122"/>
                <a:cs typeface="IBM Plex Sans" pitchFamily="34" charset="-120"/>
              </a:rPr>
              <a:t>nsg-app</a:t>
            </a:r>
            <a:r>
              <a:rPr lang="en-US" sz="1300" dirty="0">
                <a:solidFill>
                  <a:srgbClr val="2A3646"/>
                </a:solidFill>
                <a:latin typeface="IBM Plex Sans" pitchFamily="34" charset="0"/>
                <a:ea typeface="IBM Plex Sans" pitchFamily="34" charset="-122"/>
                <a:cs typeface="IBM Plex Sans" pitchFamily="34" charset="-120"/>
              </a:rPr>
              <a:t>: 10.1.1.0/24 → port 22, priority 100; 168.63.129.16 → port 22, priority 110 › associate to snet-app</a:t>
            </a:r>
            <a:endParaRPr lang="en-US" sz="1300" dirty="0"/>
          </a:p>
        </p:txBody>
      </p:sp>
      <p:sp>
        <p:nvSpPr>
          <p:cNvPr id="6" name="Shape 4"/>
          <p:cNvSpPr/>
          <p:nvPr/>
        </p:nvSpPr>
        <p:spPr>
          <a:xfrm>
            <a:off x="7170076" y="1622958"/>
            <a:ext cx="4209124" cy="1295135"/>
          </a:xfrm>
          <a:prstGeom prst="roundRect">
            <a:avLst>
              <a:gd name="adj" fmla="val 7845"/>
            </a:avLst>
          </a:prstGeom>
          <a:solidFill>
            <a:srgbClr val="13233A"/>
          </a:solidFill>
          <a:ln/>
        </p:spPr>
        <p:txBody>
          <a:bodyPr/>
          <a:lstStyle/>
          <a:p>
            <a:endParaRPr lang="en-US"/>
          </a:p>
        </p:txBody>
      </p:sp>
      <p:sp>
        <p:nvSpPr>
          <p:cNvPr id="7" name="Text 5"/>
          <p:cNvSpPr/>
          <p:nvPr/>
        </p:nvSpPr>
        <p:spPr>
          <a:xfrm>
            <a:off x="7347876" y="1800758"/>
            <a:ext cx="3969130"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Default rules you cannot delete</a:t>
            </a:r>
            <a:endParaRPr lang="en-US" sz="1200" dirty="0"/>
          </a:p>
        </p:txBody>
      </p:sp>
      <p:sp>
        <p:nvSpPr>
          <p:cNvPr id="8" name="Text 6"/>
          <p:cNvSpPr/>
          <p:nvPr/>
        </p:nvSpPr>
        <p:spPr>
          <a:xfrm>
            <a:off x="7347876" y="2077517"/>
            <a:ext cx="3969130" cy="68818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65000 AllowVnetInBound</a:t>
            </a:r>
            <a:endParaRPr lang="en-US" sz="1200" dirty="0"/>
          </a:p>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65001 AllowAzureLoadBalancerInBound</a:t>
            </a:r>
            <a:endParaRPr lang="en-US" sz="1200" dirty="0"/>
          </a:p>
          <a:p>
            <a:pPr marL="0" indent="0" algn="l">
              <a:lnSpc>
                <a:spcPts val="1740"/>
              </a:lnSpc>
              <a:buNone/>
            </a:pPr>
            <a:r>
              <a:rPr lang="en-US" sz="1200" dirty="0">
                <a:solidFill>
                  <a:srgbClr val="E8EDF3"/>
                </a:solidFill>
                <a:latin typeface="JetBrains Mono" pitchFamily="49" charset="0"/>
                <a:ea typeface="JetBrains Mono" pitchFamily="49" charset="-122"/>
                <a:cs typeface="JetBrains Mono" pitchFamily="49" charset="-120"/>
              </a:rPr>
              <a:t>65500 DenyAllInBound</a:t>
            </a:r>
            <a:endParaRPr lang="en-US" sz="1200" dirty="0"/>
          </a:p>
        </p:txBody>
      </p:sp>
      <p:sp>
        <p:nvSpPr>
          <p:cNvPr id="9" name="Text 7"/>
          <p:cNvSpPr/>
          <p:nvPr/>
        </p:nvSpPr>
        <p:spPr>
          <a:xfrm>
            <a:off x="7170076" y="3045098"/>
            <a:ext cx="4335398"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Lower number = evaluated first (100–4096). Stateful like an AWS security group, but attached to a subnet or NIC.</a:t>
            </a:r>
            <a:endParaRPr lang="en-US" sz="1200" dirty="0"/>
          </a:p>
        </p:txBody>
      </p:sp>
      <p:sp>
        <p:nvSpPr>
          <p:cNvPr id="10" name="Text 8"/>
          <p:cNvSpPr/>
          <p:nvPr/>
        </p:nvSpPr>
        <p:spPr>
          <a:xfrm>
            <a:off x="7170076" y="3598602"/>
            <a:ext cx="4335398" cy="451908"/>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3D4A5C"/>
                </a:solidFill>
                <a:latin typeface="IBM Plex Sans" pitchFamily="34" charset="0"/>
                <a:ea typeface="IBM Plex Sans" pitchFamily="34" charset="-122"/>
                <a:cs typeface="IBM Plex Sans" pitchFamily="34" charset="-120"/>
              </a:rPr>
              <a:t>ASG (optional):</a:t>
            </a:r>
            <a:r>
              <a:rPr lang="en-US" sz="1200" dirty="0">
                <a:solidFill>
                  <a:srgbClr val="3D4A5C"/>
                </a:solidFill>
                <a:latin typeface="IBM Plex Sans" pitchFamily="34" charset="0"/>
                <a:ea typeface="IBM Plex Sans" pitchFamily="34" charset="-122"/>
                <a:cs typeface="IBM Plex Sans" pitchFamily="34" charset="-120"/>
              </a:rPr>
              <a:t> Application security groups › + Create asg-web › add to vm-web's NIC › use as a rule source.</a:t>
            </a:r>
            <a:endParaRPr lang="en-US" sz="1200" dirty="0"/>
          </a:p>
        </p:txBody>
      </p:sp>
      <p:sp>
        <p:nvSpPr>
          <p:cNvPr id="11" name="Text 9"/>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AZURE LAB 3 · 6 MIN · FREE (B1S)</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Deploy two B1s virtual machines</a:t>
            </a:r>
            <a:endParaRPr lang="en-US" sz="3000" dirty="0"/>
          </a:p>
        </p:txBody>
      </p:sp>
      <p:sp>
        <p:nvSpPr>
          <p:cNvPr id="4" name="Text 2"/>
          <p:cNvSpPr/>
          <p:nvPr/>
        </p:nvSpPr>
        <p:spPr>
          <a:xfrm>
            <a:off x="812800" y="1648358"/>
            <a:ext cx="625544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Click path</a:t>
            </a:r>
            <a:endParaRPr lang="en-US" sz="1500" dirty="0"/>
          </a:p>
        </p:txBody>
      </p:sp>
      <p:sp>
        <p:nvSpPr>
          <p:cNvPr id="5" name="Text 3"/>
          <p:cNvSpPr/>
          <p:nvPr/>
        </p:nvSpPr>
        <p:spPr>
          <a:xfrm>
            <a:off x="883841" y="1965858"/>
            <a:ext cx="6176783" cy="2105422"/>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a:t>
            </a:r>
            <a:r>
              <a:rPr lang="en-US" sz="1300" b="1" dirty="0">
                <a:solidFill>
                  <a:srgbClr val="2A3646"/>
                </a:solidFill>
                <a:latin typeface="IBM Plex Sans" pitchFamily="34" charset="0"/>
                <a:ea typeface="IBM Plex Sans" pitchFamily="34" charset="-122"/>
                <a:cs typeface="IBM Plex Sans" pitchFamily="34" charset="-120"/>
              </a:rPr>
              <a:t>Virtual machines</a:t>
            </a:r>
            <a:r>
              <a:rPr lang="en-US" sz="1300" dirty="0">
                <a:solidFill>
                  <a:srgbClr val="2A3646"/>
                </a:solidFill>
                <a:latin typeface="IBM Plex Sans" pitchFamily="34" charset="0"/>
                <a:ea typeface="IBM Plex Sans" pitchFamily="34" charset="-122"/>
                <a:cs typeface="IBM Plex Sans" pitchFamily="34" charset="-120"/>
              </a:rPr>
              <a:t> › + Create › Azure virtual machine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Basics: rg-netlab · vm-web · East US 2 · No infrastructure redundancy</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Image </a:t>
            </a:r>
            <a:r>
              <a:rPr lang="en-US" sz="1300" b="1" dirty="0">
                <a:solidFill>
                  <a:srgbClr val="2A3646"/>
                </a:solidFill>
                <a:latin typeface="IBM Plex Sans" pitchFamily="34" charset="0"/>
                <a:ea typeface="IBM Plex Sans" pitchFamily="34" charset="-122"/>
                <a:cs typeface="IBM Plex Sans" pitchFamily="34" charset="-120"/>
              </a:rPr>
              <a:t>Ubuntu Server 24.04 LTS</a:t>
            </a:r>
            <a:r>
              <a:rPr lang="en-US" sz="1300" dirty="0">
                <a:solidFill>
                  <a:srgbClr val="2A3646"/>
                </a:solidFill>
                <a:latin typeface="IBM Plex Sans" pitchFamily="34" charset="0"/>
                <a:ea typeface="IBM Plex Sans" pitchFamily="34" charset="-122"/>
                <a:cs typeface="IBM Plex Sans" pitchFamily="34" charset="-120"/>
              </a:rPr>
              <a:t> · Size </a:t>
            </a:r>
            <a:r>
              <a:rPr lang="en-US" sz="1300" b="1" dirty="0">
                <a:solidFill>
                  <a:srgbClr val="2A3646"/>
                </a:solidFill>
                <a:latin typeface="IBM Plex Sans" pitchFamily="34" charset="0"/>
                <a:ea typeface="IBM Plex Sans" pitchFamily="34" charset="-122"/>
                <a:cs typeface="IBM Plex Sans" pitchFamily="34" charset="-120"/>
              </a:rPr>
              <a:t>Standard_B1s</a:t>
            </a:r>
            <a:r>
              <a:rPr lang="en-US" sz="1300" dirty="0">
                <a:solidFill>
                  <a:srgbClr val="2A3646"/>
                </a:solidFill>
                <a:latin typeface="IBM Plex Sans" pitchFamily="34" charset="0"/>
                <a:ea typeface="IBM Plex Sans" pitchFamily="34" charset="-122"/>
                <a:cs typeface="IBM Plex Sans" pitchFamily="34" charset="-120"/>
              </a:rPr>
              <a:t> (See all sizes)</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SSH public key · azureuser · Generate new key pair lab-key · Public inbound ports </a:t>
            </a:r>
            <a:r>
              <a:rPr lang="en-US" sz="1300" b="1" dirty="0">
                <a:solidFill>
                  <a:srgbClr val="2A3646"/>
                </a:solidFill>
                <a:latin typeface="IBM Plex Sans" pitchFamily="34" charset="0"/>
                <a:ea typeface="IBM Plex Sans" pitchFamily="34" charset="-122"/>
                <a:cs typeface="IBM Plex Sans" pitchFamily="34" charset="-120"/>
              </a:rPr>
              <a:t>None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Networking: vnet-lab · snet-web · Public IP (new) · NIC NSG </a:t>
            </a:r>
            <a:r>
              <a:rPr lang="en-US" sz="1300" b="1" dirty="0">
                <a:solidFill>
                  <a:srgbClr val="2A3646"/>
                </a:solidFill>
                <a:latin typeface="IBM Plex Sans" pitchFamily="34" charset="0"/>
                <a:ea typeface="IBM Plex Sans" pitchFamily="34" charset="-122"/>
                <a:cs typeface="IBM Plex Sans" pitchFamily="34" charset="-120"/>
              </a:rPr>
              <a:t>None</a:t>
            </a:r>
            <a:r>
              <a:rPr lang="en-US" sz="1300" dirty="0">
                <a:solidFill>
                  <a:srgbClr val="2A3646"/>
                </a:solidFill>
                <a:latin typeface="IBM Plex Sans" pitchFamily="34" charset="0"/>
                <a:ea typeface="IBM Plex Sans" pitchFamily="34" charset="-122"/>
                <a:cs typeface="IBM Plex Sans" pitchFamily="34" charset="-120"/>
              </a:rPr>
              <a:t> · ✓ Delete public IP and NIC with VM</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Review + create › Create › </a:t>
            </a:r>
            <a:r>
              <a:rPr lang="en-US" sz="1300" b="1" dirty="0">
                <a:solidFill>
                  <a:srgbClr val="2A3646"/>
                </a:solidFill>
                <a:latin typeface="IBM Plex Sans" pitchFamily="34" charset="0"/>
                <a:ea typeface="IBM Plex Sans" pitchFamily="34" charset="-122"/>
                <a:cs typeface="IBM Plex Sans" pitchFamily="34" charset="-120"/>
              </a:rPr>
              <a:t>Download private key</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Repeat: </a:t>
            </a:r>
            <a:r>
              <a:rPr lang="en-US" sz="1300" b="1" dirty="0">
                <a:solidFill>
                  <a:srgbClr val="2A3646"/>
                </a:solidFill>
                <a:latin typeface="IBM Plex Sans" pitchFamily="34" charset="0"/>
                <a:ea typeface="IBM Plex Sans" pitchFamily="34" charset="-122"/>
                <a:cs typeface="IBM Plex Sans" pitchFamily="34" charset="-120"/>
              </a:rPr>
              <a:t>vm-app</a:t>
            </a:r>
            <a:r>
              <a:rPr lang="en-US" sz="1300" dirty="0">
                <a:solidFill>
                  <a:srgbClr val="2A3646"/>
                </a:solidFill>
                <a:latin typeface="IBM Plex Sans" pitchFamily="34" charset="0"/>
                <a:ea typeface="IBM Plex Sans" pitchFamily="34" charset="-122"/>
                <a:cs typeface="IBM Plex Sans" pitchFamily="34" charset="-120"/>
              </a:rPr>
              <a:t> · snet-app · Public IP </a:t>
            </a:r>
            <a:r>
              <a:rPr lang="en-US" sz="1300" b="1" dirty="0">
                <a:solidFill>
                  <a:srgbClr val="2A3646"/>
                </a:solidFill>
                <a:latin typeface="IBM Plex Sans" pitchFamily="34" charset="0"/>
                <a:ea typeface="IBM Plex Sans" pitchFamily="34" charset="-122"/>
                <a:cs typeface="IBM Plex Sans" pitchFamily="34" charset="-120"/>
              </a:rPr>
              <a:t>None</a:t>
            </a:r>
            <a:r>
              <a:rPr lang="en-US" sz="1300" dirty="0">
                <a:solidFill>
                  <a:srgbClr val="2A3646"/>
                </a:solidFill>
                <a:latin typeface="IBM Plex Sans" pitchFamily="34" charset="0"/>
                <a:ea typeface="IBM Plex Sans" pitchFamily="34" charset="-122"/>
                <a:cs typeface="IBM Plex Sans" pitchFamily="34" charset="-120"/>
              </a:rPr>
              <a:t> · use existing key lab-key</a:t>
            </a:r>
            <a:endParaRPr lang="en-US" sz="1300" dirty="0"/>
          </a:p>
        </p:txBody>
      </p:sp>
      <p:sp>
        <p:nvSpPr>
          <p:cNvPr id="6" name="Shape 4"/>
          <p:cNvSpPr/>
          <p:nvPr/>
        </p:nvSpPr>
        <p:spPr>
          <a:xfrm>
            <a:off x="7190846" y="1648358"/>
            <a:ext cx="4188354" cy="1698625"/>
          </a:xfrm>
          <a:prstGeom prst="roundRect">
            <a:avLst>
              <a:gd name="adj" fmla="val 5981"/>
            </a:avLst>
          </a:prstGeom>
          <a:solidFill>
            <a:srgbClr val="13233A"/>
          </a:solidFill>
          <a:ln/>
        </p:spPr>
        <p:txBody>
          <a:bodyPr/>
          <a:lstStyle/>
          <a:p>
            <a:endParaRPr lang="en-US"/>
          </a:p>
        </p:txBody>
      </p:sp>
      <p:sp>
        <p:nvSpPr>
          <p:cNvPr id="7" name="Text 5"/>
          <p:cNvSpPr/>
          <p:nvPr/>
        </p:nvSpPr>
        <p:spPr>
          <a:xfrm>
            <a:off x="7368646" y="1826158"/>
            <a:ext cx="3947737"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Cloud Shell equivalent</a:t>
            </a:r>
            <a:endParaRPr lang="en-US" sz="1200" dirty="0"/>
          </a:p>
        </p:txBody>
      </p:sp>
      <p:sp>
        <p:nvSpPr>
          <p:cNvPr id="8" name="Text 6"/>
          <p:cNvSpPr/>
          <p:nvPr/>
        </p:nvSpPr>
        <p:spPr>
          <a:xfrm>
            <a:off x="7368646" y="2102917"/>
            <a:ext cx="3947737" cy="109167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DF3"/>
                </a:solidFill>
                <a:latin typeface="JetBrains Mono" pitchFamily="49" charset="0"/>
                <a:ea typeface="JetBrains Mono" pitchFamily="49" charset="-122"/>
                <a:cs typeface="JetBrains Mono" pitchFamily="49" charset="-120"/>
              </a:rPr>
              <a:t>az vm create -g rg-netlab -n vm-app --image Ubuntu2404 --size Standard_B1s --vnet-name vnet-lab --subnet snet-app --public-ip-address "" --nsg "" --generate-ssh-keys</a:t>
            </a:r>
            <a:endParaRPr lang="en-US" sz="1200" dirty="0"/>
          </a:p>
        </p:txBody>
      </p:sp>
      <p:sp>
        <p:nvSpPr>
          <p:cNvPr id="9" name="Text 7"/>
          <p:cNvSpPr/>
          <p:nvPr/>
        </p:nvSpPr>
        <p:spPr>
          <a:xfrm>
            <a:off x="7197196" y="3480333"/>
            <a:ext cx="4175654" cy="735542"/>
          </a:xfrm>
          <a:prstGeom prst="roundRect">
            <a:avLst>
              <a:gd name="adj" fmla="val 9496"/>
            </a:avLst>
          </a:prstGeom>
          <a:noFill/>
          <a:ln w="12700">
            <a:solidFill>
              <a:srgbClr val="9AA5B4"/>
            </a:solidFill>
            <a:prstDash val="dash"/>
          </a:ln>
        </p:spPr>
        <p:txBody>
          <a:bodyPr wrap="square" lIns="134058" tIns="134058" rIns="18060" bIns="108658"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Screenshot slot:</a:t>
            </a:r>
            <a:r>
              <a:rPr lang="en-US" sz="1200" dirty="0">
                <a:solidFill>
                  <a:srgbClr val="4A5568"/>
                </a:solidFill>
                <a:latin typeface="IBM Plex Sans" pitchFamily="34" charset="0"/>
                <a:ea typeface="IBM Plex Sans" pitchFamily="34" charset="-122"/>
                <a:cs typeface="IBM Plex Sans" pitchFamily="34" charset="-120"/>
              </a:rPr>
              <a:t> Networking tab with Public IP None and NIC NSG None</a:t>
            </a:r>
            <a:endParaRPr lang="en-US" sz="1200" dirty="0"/>
          </a:p>
        </p:txBody>
      </p:sp>
      <p:sp>
        <p:nvSpPr>
          <p:cNvPr id="10" name="Text 8"/>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AZURE LAB 4 · 6 MIN · FREE</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Reach vm-app with and without a bastion</a:t>
            </a:r>
            <a:endParaRPr lang="en-US" sz="3000" dirty="0"/>
          </a:p>
        </p:txBody>
      </p:sp>
      <p:sp>
        <p:nvSpPr>
          <p:cNvPr id="4" name="Shape 2"/>
          <p:cNvSpPr/>
          <p:nvPr/>
        </p:nvSpPr>
        <p:spPr>
          <a:xfrm>
            <a:off x="815975" y="1613433"/>
            <a:ext cx="3414183" cy="1874308"/>
          </a:xfrm>
          <a:prstGeom prst="roundRect">
            <a:avLst>
              <a:gd name="adj" fmla="val 5251"/>
            </a:avLst>
          </a:prstGeom>
          <a:solidFill>
            <a:srgbClr val="E3EDF8"/>
          </a:solidFill>
          <a:ln w="6350">
            <a:solidFill>
              <a:srgbClr val="B8CDE6"/>
            </a:solidFill>
            <a:prstDash val="solid"/>
          </a:ln>
        </p:spPr>
        <p:txBody>
          <a:bodyPr/>
          <a:lstStyle/>
          <a:p>
            <a:endParaRPr lang="en-US"/>
          </a:p>
        </p:txBody>
      </p:sp>
      <p:sp>
        <p:nvSpPr>
          <p:cNvPr id="5" name="Text 3"/>
          <p:cNvSpPr/>
          <p:nvPr/>
        </p:nvSpPr>
        <p:spPr>
          <a:xfrm>
            <a:off x="999067" y="1796529"/>
            <a:ext cx="3139440"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67A8"/>
                </a:solidFill>
                <a:latin typeface="IBM Plex Sans" pitchFamily="34" charset="0"/>
                <a:ea typeface="IBM Plex Sans" pitchFamily="34" charset="-122"/>
                <a:cs typeface="IBM Plex Sans" pitchFamily="34" charset="-120"/>
              </a:rPr>
              <a:t>A · Bastion Developer</a:t>
            </a:r>
            <a:endParaRPr lang="en-US" sz="1400" dirty="0"/>
          </a:p>
        </p:txBody>
      </p:sp>
      <p:sp>
        <p:nvSpPr>
          <p:cNvPr id="6" name="Text 4"/>
          <p:cNvSpPr/>
          <p:nvPr/>
        </p:nvSpPr>
        <p:spPr>
          <a:xfrm>
            <a:off x="999067" y="2085975"/>
            <a:ext cx="3139440" cy="66516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3646"/>
                </a:solidFill>
                <a:latin typeface="IBM Plex Sans" pitchFamily="34" charset="0"/>
                <a:ea typeface="IBM Plex Sans" pitchFamily="34" charset="-122"/>
                <a:cs typeface="IBM Plex Sans" pitchFamily="34" charset="-120"/>
              </a:rPr>
              <a:t>vm-app › </a:t>
            </a:r>
            <a:r>
              <a:rPr lang="en-US" sz="1200" b="1" dirty="0">
                <a:solidFill>
                  <a:srgbClr val="2A3646"/>
                </a:solidFill>
                <a:latin typeface="IBM Plex Sans" pitchFamily="34" charset="0"/>
                <a:ea typeface="IBM Plex Sans" pitchFamily="34" charset="-122"/>
                <a:cs typeface="IBM Plex Sans" pitchFamily="34" charset="-120"/>
              </a:rPr>
              <a:t>Connect</a:t>
            </a:r>
            <a:r>
              <a:rPr lang="en-US" sz="1200" dirty="0">
                <a:solidFill>
                  <a:srgbClr val="2A3646"/>
                </a:solidFill>
                <a:latin typeface="IBM Plex Sans" pitchFamily="34" charset="0"/>
                <a:ea typeface="IBM Plex Sans" pitchFamily="34" charset="-122"/>
                <a:cs typeface="IBM Plex Sans" pitchFamily="34" charset="-120"/>
              </a:rPr>
              <a:t> › Bastion › Deploy </a:t>
            </a:r>
            <a:r>
              <a:rPr lang="en-US" sz="1200" b="1" dirty="0">
                <a:solidFill>
                  <a:srgbClr val="2A3646"/>
                </a:solidFill>
                <a:latin typeface="IBM Plex Sans" pitchFamily="34" charset="0"/>
                <a:ea typeface="IBM Plex Sans" pitchFamily="34" charset="-122"/>
                <a:cs typeface="IBM Plex Sans" pitchFamily="34" charset="-120"/>
              </a:rPr>
              <a:t>Bastion Developer</a:t>
            </a:r>
            <a:r>
              <a:rPr lang="en-US" sz="1200" dirty="0">
                <a:solidFill>
                  <a:srgbClr val="2A3646"/>
                </a:solidFill>
                <a:latin typeface="IBM Plex Sans" pitchFamily="34" charset="0"/>
                <a:ea typeface="IBM Plex Sans" pitchFamily="34" charset="-122"/>
                <a:cs typeface="IBM Plex Sans" pitchFamily="34" charset="-120"/>
              </a:rPr>
              <a:t> › Authentication: SSH Private Key from Local File › lab-key.pem › </a:t>
            </a:r>
            <a:r>
              <a:rPr lang="en-US" sz="1200" b="1" dirty="0">
                <a:solidFill>
                  <a:srgbClr val="2A3646"/>
                </a:solidFill>
                <a:latin typeface="IBM Plex Sans" pitchFamily="34" charset="0"/>
                <a:ea typeface="IBM Plex Sans" pitchFamily="34" charset="-122"/>
                <a:cs typeface="IBM Plex Sans" pitchFamily="34" charset="-120"/>
              </a:rPr>
              <a:t>Connect</a:t>
            </a:r>
            <a:endParaRPr lang="en-US" sz="1200" dirty="0"/>
          </a:p>
        </p:txBody>
      </p:sp>
      <p:sp>
        <p:nvSpPr>
          <p:cNvPr id="7" name="Text 5"/>
          <p:cNvSpPr/>
          <p:nvPr/>
        </p:nvSpPr>
        <p:spPr>
          <a:xfrm>
            <a:off x="999067" y="2801938"/>
            <a:ext cx="3139440"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3646"/>
                </a:solidFill>
                <a:latin typeface="IBM Plex Sans" pitchFamily="34" charset="0"/>
                <a:ea typeface="IBM Plex Sans" pitchFamily="34" charset="-122"/>
                <a:cs typeface="IBM Plex Sans" pitchFamily="34" charset="-120"/>
              </a:rPr>
              <a:t>Free · no AzureBastionSubnet · no public IP · one VM at a time</a:t>
            </a:r>
            <a:endParaRPr lang="en-US" sz="1200" dirty="0"/>
          </a:p>
        </p:txBody>
      </p:sp>
      <p:sp>
        <p:nvSpPr>
          <p:cNvPr id="8" name="Shape 6"/>
          <p:cNvSpPr/>
          <p:nvPr/>
        </p:nvSpPr>
        <p:spPr>
          <a:xfrm>
            <a:off x="4388908" y="1613433"/>
            <a:ext cx="3414183" cy="1874308"/>
          </a:xfrm>
          <a:prstGeom prst="roundRect">
            <a:avLst>
              <a:gd name="adj" fmla="val 5251"/>
            </a:avLst>
          </a:prstGeom>
          <a:solidFill>
            <a:srgbClr val="FCFBF7"/>
          </a:solidFill>
          <a:ln w="6350">
            <a:solidFill>
              <a:srgbClr val="DCD8CC"/>
            </a:solidFill>
            <a:prstDash val="solid"/>
          </a:ln>
        </p:spPr>
        <p:txBody>
          <a:bodyPr/>
          <a:lstStyle/>
          <a:p>
            <a:endParaRPr lang="en-US"/>
          </a:p>
        </p:txBody>
      </p:sp>
      <p:sp>
        <p:nvSpPr>
          <p:cNvPr id="9" name="Text 7"/>
          <p:cNvSpPr/>
          <p:nvPr/>
        </p:nvSpPr>
        <p:spPr>
          <a:xfrm>
            <a:off x="4572000" y="1796529"/>
            <a:ext cx="3139440"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67A8"/>
                </a:solidFill>
                <a:latin typeface="IBM Plex Sans" pitchFamily="34" charset="0"/>
                <a:ea typeface="IBM Plex Sans" pitchFamily="34" charset="-122"/>
                <a:cs typeface="IBM Plex Sans" pitchFamily="34" charset="-120"/>
              </a:rPr>
              <a:t>B · Jump through vm-web</a:t>
            </a:r>
            <a:endParaRPr lang="en-US" sz="1400" dirty="0"/>
          </a:p>
        </p:txBody>
      </p:sp>
      <p:sp>
        <p:nvSpPr>
          <p:cNvPr id="10" name="Text 8"/>
          <p:cNvSpPr/>
          <p:nvPr/>
        </p:nvSpPr>
        <p:spPr>
          <a:xfrm>
            <a:off x="4572000" y="2085975"/>
            <a:ext cx="3139440" cy="66516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49" charset="0"/>
                <a:ea typeface="JetBrains Mono" pitchFamily="49" charset="-122"/>
                <a:cs typeface="JetBrains Mono" pitchFamily="49" charset="-120"/>
              </a:rPr>
              <a:t>ssh-add lab-key.pem</a:t>
            </a:r>
            <a:endParaRPr lang="en-US" sz="1200" dirty="0"/>
          </a:p>
          <a:p>
            <a:pPr marL="0" indent="0" algn="l">
              <a:lnSpc>
                <a:spcPts val="1680"/>
              </a:lnSpc>
              <a:buNone/>
            </a:pPr>
            <a:r>
              <a:rPr lang="en-US" sz="1200" dirty="0">
                <a:solidFill>
                  <a:srgbClr val="13233A"/>
                </a:solidFill>
                <a:latin typeface="JetBrains Mono" pitchFamily="49" charset="0"/>
                <a:ea typeface="JetBrains Mono" pitchFamily="49" charset="-122"/>
                <a:cs typeface="JetBrains Mono" pitchFamily="49" charset="-120"/>
              </a:rPr>
              <a:t>ssh -J azureuser@&lt;vm-web IP&gt; azureuser@10.1.2.4</a:t>
            </a:r>
            <a:endParaRPr lang="en-US" sz="1200" dirty="0"/>
          </a:p>
        </p:txBody>
      </p:sp>
      <p:sp>
        <p:nvSpPr>
          <p:cNvPr id="11" name="Text 9"/>
          <p:cNvSpPr/>
          <p:nvPr/>
        </p:nvSpPr>
        <p:spPr>
          <a:xfrm>
            <a:off x="4572000" y="2801938"/>
            <a:ext cx="3139440"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The classic bastion pattern, with SSH locked to your IP.</a:t>
            </a:r>
            <a:endParaRPr lang="en-US" sz="1200" dirty="0"/>
          </a:p>
        </p:txBody>
      </p:sp>
      <p:sp>
        <p:nvSpPr>
          <p:cNvPr id="12" name="Shape 10"/>
          <p:cNvSpPr/>
          <p:nvPr/>
        </p:nvSpPr>
        <p:spPr>
          <a:xfrm>
            <a:off x="7961842" y="1613433"/>
            <a:ext cx="3414183" cy="1874308"/>
          </a:xfrm>
          <a:prstGeom prst="roundRect">
            <a:avLst>
              <a:gd name="adj" fmla="val 5251"/>
            </a:avLst>
          </a:prstGeom>
          <a:solidFill>
            <a:srgbClr val="FCFBF7"/>
          </a:solidFill>
          <a:ln w="6350">
            <a:solidFill>
              <a:srgbClr val="DCD8CC"/>
            </a:solidFill>
            <a:prstDash val="solid"/>
          </a:ln>
        </p:spPr>
        <p:txBody>
          <a:bodyPr/>
          <a:lstStyle/>
          <a:p>
            <a:endParaRPr lang="en-US"/>
          </a:p>
        </p:txBody>
      </p:sp>
      <p:sp>
        <p:nvSpPr>
          <p:cNvPr id="13" name="Text 11"/>
          <p:cNvSpPr/>
          <p:nvPr/>
        </p:nvSpPr>
        <p:spPr>
          <a:xfrm>
            <a:off x="8144934" y="1796529"/>
            <a:ext cx="3139440" cy="238654"/>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67A8"/>
                </a:solidFill>
                <a:latin typeface="IBM Plex Sans" pitchFamily="34" charset="0"/>
                <a:ea typeface="IBM Plex Sans" pitchFamily="34" charset="-122"/>
                <a:cs typeface="IBM Plex Sans" pitchFamily="34" charset="-120"/>
              </a:rPr>
              <a:t>C · No network path</a:t>
            </a:r>
            <a:endParaRPr lang="en-US" sz="1400" dirty="0"/>
          </a:p>
        </p:txBody>
      </p:sp>
      <p:sp>
        <p:nvSpPr>
          <p:cNvPr id="14" name="Text 12"/>
          <p:cNvSpPr/>
          <p:nvPr/>
        </p:nvSpPr>
        <p:spPr>
          <a:xfrm>
            <a:off x="8144934" y="2085975"/>
            <a:ext cx="3139440"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vm-app › Operations › </a:t>
            </a:r>
            <a:r>
              <a:rPr lang="en-US" sz="1200" b="1" dirty="0">
                <a:solidFill>
                  <a:srgbClr val="3D4A5C"/>
                </a:solidFill>
                <a:latin typeface="IBM Plex Sans" pitchFamily="34" charset="0"/>
                <a:ea typeface="IBM Plex Sans" pitchFamily="34" charset="-122"/>
                <a:cs typeface="IBM Plex Sans" pitchFamily="34" charset="-120"/>
              </a:rPr>
              <a:t>Run command</a:t>
            </a:r>
            <a:r>
              <a:rPr lang="en-US" sz="1200" dirty="0">
                <a:solidFill>
                  <a:srgbClr val="3D4A5C"/>
                </a:solidFill>
                <a:latin typeface="IBM Plex Sans" pitchFamily="34" charset="0"/>
                <a:ea typeface="IBM Plex Sans" pitchFamily="34" charset="-122"/>
                <a:cs typeface="IBM Plex Sans" pitchFamily="34" charset="-120"/>
              </a:rPr>
              <a:t> › RunShellScript:</a:t>
            </a:r>
            <a:endParaRPr lang="en-US" sz="1200" dirty="0"/>
          </a:p>
        </p:txBody>
      </p:sp>
      <p:sp>
        <p:nvSpPr>
          <p:cNvPr id="15" name="Text 13"/>
          <p:cNvSpPr/>
          <p:nvPr/>
        </p:nvSpPr>
        <p:spPr>
          <a:xfrm>
            <a:off x="8144934" y="2588692"/>
            <a:ext cx="3139440"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3233A"/>
                </a:solidFill>
                <a:latin typeface="JetBrains Mono" pitchFamily="49" charset="0"/>
                <a:ea typeface="JetBrains Mono" pitchFamily="49" charset="-122"/>
                <a:cs typeface="JetBrains Mono" pitchFamily="49" charset="-120"/>
              </a:rPr>
              <a:t>ip addr; ip route</a:t>
            </a:r>
            <a:endParaRPr lang="en-US" sz="1200" dirty="0"/>
          </a:p>
        </p:txBody>
      </p:sp>
      <p:sp>
        <p:nvSpPr>
          <p:cNvPr id="16" name="Text 14"/>
          <p:cNvSpPr/>
          <p:nvPr/>
        </p:nvSpPr>
        <p:spPr>
          <a:xfrm>
            <a:off x="8144934" y="2878138"/>
            <a:ext cx="3139440"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Also: Help › Serial console (needs boot diagnostics and a password user).</a:t>
            </a:r>
            <a:endParaRPr lang="en-US" sz="1200" dirty="0"/>
          </a:p>
        </p:txBody>
      </p:sp>
      <p:sp>
        <p:nvSpPr>
          <p:cNvPr id="17" name="Text 15"/>
          <p:cNvSpPr/>
          <p:nvPr/>
        </p:nvSpPr>
        <p:spPr>
          <a:xfrm>
            <a:off x="812800" y="3681413"/>
            <a:ext cx="10566400" cy="510514"/>
          </a:xfrm>
          <a:prstGeom prst="roundRect">
            <a:avLst>
              <a:gd name="adj" fmla="val 14926"/>
            </a:avLst>
          </a:prstGeom>
          <a:solidFill>
            <a:srgbClr val="13233A"/>
          </a:solidFill>
          <a:ln/>
        </p:spPr>
        <p:txBody>
          <a:bodyPr wrap="square" lIns="168182" tIns="117382" rIns="0" bIns="91982"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Tour only: Basic, Standard and Premium Bastion need a /26 </a:t>
            </a:r>
            <a:r>
              <a:rPr lang="en-US" sz="1300" dirty="0">
                <a:solidFill>
                  <a:srgbClr val="F2A65A"/>
                </a:solidFill>
                <a:latin typeface="IBM Plex Sans" pitchFamily="34" charset="0"/>
                <a:ea typeface="IBM Plex Sans" pitchFamily="34" charset="-122"/>
                <a:cs typeface="IBM Plex Sans" pitchFamily="34" charset="-120"/>
              </a:rPr>
              <a:t>AzureBastionSubnet</a:t>
            </a:r>
            <a:r>
              <a:rPr lang="en-US" sz="1300" dirty="0">
                <a:solidFill>
                  <a:srgbClr val="F6F4EE"/>
                </a:solidFill>
                <a:latin typeface="IBM Plex Sans" pitchFamily="34" charset="0"/>
                <a:ea typeface="IBM Plex Sans" pitchFamily="34" charset="-122"/>
                <a:cs typeface="IBM Plex Sans" pitchFamily="34" charset="-120"/>
              </a:rPr>
              <a:t> + Standard public IP and bill hourly.</a:t>
            </a:r>
            <a:endParaRPr lang="en-US" sz="1300" dirty="0"/>
          </a:p>
        </p:txBody>
      </p:sp>
      <p:sp>
        <p:nvSpPr>
          <p:cNvPr id="18" name="Text 16"/>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AZURE LAB 5 · 4 MIN · FREE</a:t>
            </a:r>
            <a:endParaRPr lang="en-US" sz="1200" dirty="0"/>
          </a:p>
        </p:txBody>
      </p:sp>
      <p:sp>
        <p:nvSpPr>
          <p:cNvPr id="3" name="Text 1"/>
          <p:cNvSpPr>
            <a:spLocks noGrp="1"/>
          </p:cNvSpPr>
          <p:nvPr>
            <p:ph type="title"/>
          </p:nvPr>
        </p:nvSpPr>
        <p:spPr>
          <a:xfrm>
            <a:off x="812800" y="1000658"/>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Override system routes with a route table (UDR)</a:t>
            </a:r>
            <a:endParaRPr lang="en-US" sz="3000" dirty="0"/>
          </a:p>
        </p:txBody>
      </p:sp>
      <p:sp>
        <p:nvSpPr>
          <p:cNvPr id="4" name="Text 2"/>
          <p:cNvSpPr/>
          <p:nvPr/>
        </p:nvSpPr>
        <p:spPr>
          <a:xfrm>
            <a:off x="812800" y="1648358"/>
            <a:ext cx="6255443"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Click path</a:t>
            </a:r>
            <a:endParaRPr lang="en-US" sz="1500" dirty="0"/>
          </a:p>
        </p:txBody>
      </p:sp>
      <p:sp>
        <p:nvSpPr>
          <p:cNvPr id="5" name="Text 3"/>
          <p:cNvSpPr/>
          <p:nvPr/>
        </p:nvSpPr>
        <p:spPr>
          <a:xfrm>
            <a:off x="883841" y="1965858"/>
            <a:ext cx="6176783" cy="2105422"/>
          </a:xfrm>
          <a:prstGeom prst="rect">
            <a:avLst/>
          </a:prstGeom>
          <a:noFill/>
          <a:ln/>
        </p:spPr>
        <p:txBody>
          <a:bodyPr wrap="square" lIns="0" tIns="0" rIns="0" bIns="0" rtlCol="0" anchor="t">
            <a:normAutofit/>
          </a:bodyPr>
          <a:lstStyle/>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Search </a:t>
            </a:r>
            <a:r>
              <a:rPr lang="en-US" sz="1300" b="1" dirty="0">
                <a:solidFill>
                  <a:srgbClr val="2A3646"/>
                </a:solidFill>
                <a:latin typeface="IBM Plex Sans" pitchFamily="34" charset="0"/>
                <a:ea typeface="IBM Plex Sans" pitchFamily="34" charset="-122"/>
                <a:cs typeface="IBM Plex Sans" pitchFamily="34" charset="-120"/>
              </a:rPr>
              <a:t>Route tables</a:t>
            </a:r>
            <a:r>
              <a:rPr lang="en-US" sz="1300" dirty="0">
                <a:solidFill>
                  <a:srgbClr val="2A3646"/>
                </a:solidFill>
                <a:latin typeface="IBM Plex Sans" pitchFamily="34" charset="0"/>
                <a:ea typeface="IBM Plex Sans" pitchFamily="34" charset="-122"/>
                <a:cs typeface="IBM Plex Sans" pitchFamily="34" charset="-120"/>
              </a:rPr>
              <a:t> › + Create › rt-app · rg-netlab · East US 2 · Propagate gateway routes </a:t>
            </a:r>
            <a:r>
              <a:rPr lang="en-US" sz="1300" b="1" dirty="0">
                <a:solidFill>
                  <a:srgbClr val="2A3646"/>
                </a:solidFill>
                <a:latin typeface="IBM Plex Sans" pitchFamily="34" charset="0"/>
                <a:ea typeface="IBM Plex Sans" pitchFamily="34" charset="-122"/>
                <a:cs typeface="IBM Plex Sans" pitchFamily="34" charset="-120"/>
              </a:rPr>
              <a:t>No</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rt-app › Settings › </a:t>
            </a:r>
            <a:r>
              <a:rPr lang="en-US" sz="1300" b="1" dirty="0">
                <a:solidFill>
                  <a:srgbClr val="2A3646"/>
                </a:solidFill>
                <a:latin typeface="IBM Plex Sans" pitchFamily="34" charset="0"/>
                <a:ea typeface="IBM Plex Sans" pitchFamily="34" charset="-122"/>
                <a:cs typeface="IBM Plex Sans" pitchFamily="34" charset="-120"/>
              </a:rPr>
              <a:t>Routes</a:t>
            </a:r>
            <a:r>
              <a:rPr lang="en-US" sz="1300" dirty="0">
                <a:solidFill>
                  <a:srgbClr val="2A3646"/>
                </a:solidFill>
                <a:latin typeface="IBM Plex Sans" pitchFamily="34" charset="0"/>
                <a:ea typeface="IBM Plex Sans" pitchFamily="34" charset="-122"/>
                <a:cs typeface="IBM Plex Sans" pitchFamily="34" charset="-120"/>
              </a:rPr>
              <a:t> › + Add: block-internet · IP Addresses · 0.0.0.0/0 · Next hop type </a:t>
            </a:r>
            <a:r>
              <a:rPr lang="en-US" sz="1300" b="1" dirty="0">
                <a:solidFill>
                  <a:srgbClr val="2A3646"/>
                </a:solidFill>
                <a:latin typeface="IBM Plex Sans" pitchFamily="34" charset="0"/>
                <a:ea typeface="IBM Plex Sans" pitchFamily="34" charset="-122"/>
                <a:cs typeface="IBM Plex Sans" pitchFamily="34" charset="-120"/>
              </a:rPr>
              <a:t>None</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Settings › </a:t>
            </a:r>
            <a:r>
              <a:rPr lang="en-US" sz="1300" b="1" dirty="0">
                <a:solidFill>
                  <a:srgbClr val="2A3646"/>
                </a:solidFill>
                <a:latin typeface="IBM Plex Sans" pitchFamily="34" charset="0"/>
                <a:ea typeface="IBM Plex Sans" pitchFamily="34" charset="-122"/>
                <a:cs typeface="IBM Plex Sans" pitchFamily="34" charset="-120"/>
              </a:rPr>
              <a:t>Subnets</a:t>
            </a:r>
            <a:r>
              <a:rPr lang="en-US" sz="1300" dirty="0">
                <a:solidFill>
                  <a:srgbClr val="2A3646"/>
                </a:solidFill>
                <a:latin typeface="IBM Plex Sans" pitchFamily="34" charset="0"/>
                <a:ea typeface="IBM Plex Sans" pitchFamily="34" charset="-122"/>
                <a:cs typeface="IBM Plex Sans" pitchFamily="34" charset="-120"/>
              </a:rPr>
              <a:t> › + Associate › vnet-lab / snet-app</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vm-app › Network settings › NIC › Help › </a:t>
            </a:r>
            <a:r>
              <a:rPr lang="en-US" sz="1300" b="1" dirty="0">
                <a:solidFill>
                  <a:srgbClr val="2A3646"/>
                </a:solidFill>
                <a:latin typeface="IBM Plex Sans" pitchFamily="34" charset="0"/>
                <a:ea typeface="IBM Plex Sans" pitchFamily="34" charset="-122"/>
                <a:cs typeface="IBM Plex Sans" pitchFamily="34" charset="-120"/>
              </a:rPr>
              <a:t>Effective routes</a:t>
            </a:r>
            <a:r>
              <a:rPr lang="en-US" sz="1300" dirty="0">
                <a:solidFill>
                  <a:srgbClr val="2A3646"/>
                </a:solidFill>
                <a:latin typeface="IBM Plex Sans" pitchFamily="34" charset="0"/>
                <a:ea typeface="IBM Plex Sans" pitchFamily="34" charset="-122"/>
                <a:cs typeface="IBM Plex Sans" pitchFamily="34" charset="-120"/>
              </a:rPr>
              <a:t>: source User beats Default</a:t>
            </a:r>
            <a:endParaRPr lang="en-US" sz="1300" dirty="0"/>
          </a:p>
          <a:p>
            <a:pPr marL="182959" indent="-182959" algn="l">
              <a:lnSpc>
                <a:spcPts val="1820"/>
              </a:lnSpc>
              <a:buSzPct val="100000"/>
              <a:buFontTx/>
              <a:buAutoNum type="arabicPeriod"/>
            </a:pPr>
            <a:r>
              <a:rPr lang="en-US" sz="1300" dirty="0">
                <a:solidFill>
                  <a:srgbClr val="2A3646"/>
                </a:solidFill>
                <a:latin typeface="IBM Plex Sans" pitchFamily="34" charset="0"/>
                <a:ea typeface="IBM Plex Sans" pitchFamily="34" charset="-122"/>
                <a:cs typeface="IBM Plex Sans" pitchFamily="34" charset="-120"/>
              </a:rPr>
              <a:t>In your vm-app SSH session: </a:t>
            </a:r>
            <a:r>
              <a:rPr lang="en-US" sz="1300" b="1" dirty="0">
                <a:solidFill>
                  <a:srgbClr val="2A3646"/>
                </a:solidFill>
                <a:latin typeface="IBM Plex Sans" pitchFamily="34" charset="0"/>
                <a:ea typeface="IBM Plex Sans" pitchFamily="34" charset="-122"/>
                <a:cs typeface="IBM Plex Sans" pitchFamily="34" charset="-120"/>
              </a:rPr>
              <a:t>curl -m 5 -I https://www.microsoft.com</a:t>
            </a:r>
            <a:r>
              <a:rPr lang="en-US" sz="1300" dirty="0">
                <a:solidFill>
                  <a:srgbClr val="2A3646"/>
                </a:solidFill>
                <a:latin typeface="IBM Plex Sans" pitchFamily="34" charset="0"/>
                <a:ea typeface="IBM Plex Sans" pitchFamily="34" charset="-122"/>
                <a:cs typeface="IBM Plex Sans" pitchFamily="34" charset="-120"/>
              </a:rPr>
              <a:t> → now times out</a:t>
            </a:r>
            <a:endParaRPr lang="en-US" sz="1300" dirty="0"/>
          </a:p>
        </p:txBody>
      </p:sp>
      <p:sp>
        <p:nvSpPr>
          <p:cNvPr id="6" name="Shape 4"/>
          <p:cNvSpPr/>
          <p:nvPr/>
        </p:nvSpPr>
        <p:spPr>
          <a:xfrm>
            <a:off x="7190846" y="1648358"/>
            <a:ext cx="4188354" cy="1089554"/>
          </a:xfrm>
          <a:prstGeom prst="roundRect">
            <a:avLst>
              <a:gd name="adj" fmla="val 9325"/>
            </a:avLst>
          </a:prstGeom>
          <a:solidFill>
            <a:srgbClr val="13233A"/>
          </a:solidFill>
          <a:ln/>
        </p:spPr>
        <p:txBody>
          <a:bodyPr/>
          <a:lstStyle/>
          <a:p>
            <a:endParaRPr lang="en-US"/>
          </a:p>
        </p:txBody>
      </p:sp>
      <p:sp>
        <p:nvSpPr>
          <p:cNvPr id="7" name="Text 5"/>
          <p:cNvSpPr/>
          <p:nvPr/>
        </p:nvSpPr>
        <p:spPr>
          <a:xfrm>
            <a:off x="7368646" y="1826158"/>
            <a:ext cx="3947737"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Next hop types</a:t>
            </a:r>
            <a:endParaRPr lang="en-US" sz="1200" dirty="0"/>
          </a:p>
        </p:txBody>
      </p:sp>
      <p:sp>
        <p:nvSpPr>
          <p:cNvPr id="8" name="Text 6"/>
          <p:cNvSpPr/>
          <p:nvPr/>
        </p:nvSpPr>
        <p:spPr>
          <a:xfrm>
            <a:off x="7368646" y="2102917"/>
            <a:ext cx="3947737"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8EDF3"/>
                </a:solidFill>
                <a:latin typeface="IBM Plex Sans" pitchFamily="34" charset="0"/>
                <a:ea typeface="IBM Plex Sans" pitchFamily="34" charset="-122"/>
                <a:cs typeface="IBM Plex Sans" pitchFamily="34" charset="-120"/>
              </a:rPr>
              <a:t>Virtual network · Internet · Virtual network gateway · </a:t>
            </a:r>
            <a:r>
              <a:rPr lang="en-US" sz="1200" b="1" dirty="0">
                <a:solidFill>
                  <a:srgbClr val="E8EDF3"/>
                </a:solidFill>
                <a:latin typeface="IBM Plex Sans" pitchFamily="34" charset="0"/>
                <a:ea typeface="IBM Plex Sans" pitchFamily="34" charset="-122"/>
                <a:cs typeface="IBM Plex Sans" pitchFamily="34" charset="-120"/>
              </a:rPr>
              <a:t>Virtual appliance</a:t>
            </a:r>
            <a:r>
              <a:rPr lang="en-US" sz="1200" dirty="0">
                <a:solidFill>
                  <a:srgbClr val="E8EDF3"/>
                </a:solidFill>
                <a:latin typeface="IBM Plex Sans" pitchFamily="34" charset="0"/>
                <a:ea typeface="IBM Plex Sans" pitchFamily="34" charset="-122"/>
                <a:cs typeface="IBM Plex Sans" pitchFamily="34" charset="-120"/>
              </a:rPr>
              <a:t> (firewall IP) · None (drop)</a:t>
            </a:r>
            <a:endParaRPr lang="en-US" sz="1200" dirty="0"/>
          </a:p>
        </p:txBody>
      </p:sp>
      <p:sp>
        <p:nvSpPr>
          <p:cNvPr id="9" name="Shape 7"/>
          <p:cNvSpPr/>
          <p:nvPr/>
        </p:nvSpPr>
        <p:spPr>
          <a:xfrm>
            <a:off x="7190846" y="2864917"/>
            <a:ext cx="4188354" cy="1485371"/>
          </a:xfrm>
          <a:prstGeom prst="roundRect">
            <a:avLst>
              <a:gd name="adj" fmla="val 6840"/>
            </a:avLst>
          </a:prstGeom>
          <a:solidFill>
            <a:srgbClr val="13233A"/>
          </a:solidFill>
          <a:ln/>
        </p:spPr>
        <p:txBody>
          <a:bodyPr/>
          <a:lstStyle/>
          <a:p>
            <a:endParaRPr lang="en-US"/>
          </a:p>
        </p:txBody>
      </p:sp>
      <p:sp>
        <p:nvSpPr>
          <p:cNvPr id="10" name="Text 8"/>
          <p:cNvSpPr/>
          <p:nvPr/>
        </p:nvSpPr>
        <p:spPr>
          <a:xfrm>
            <a:off x="7368646" y="3042717"/>
            <a:ext cx="3947737"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Cloud Shell</a:t>
            </a:r>
            <a:endParaRPr lang="en-US" sz="1200" dirty="0"/>
          </a:p>
        </p:txBody>
      </p:sp>
      <p:sp>
        <p:nvSpPr>
          <p:cNvPr id="11" name="Text 9"/>
          <p:cNvSpPr/>
          <p:nvPr/>
        </p:nvSpPr>
        <p:spPr>
          <a:xfrm>
            <a:off x="7368646" y="3319463"/>
            <a:ext cx="3947737" cy="87841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DF3"/>
                </a:solidFill>
                <a:latin typeface="JetBrains Mono" pitchFamily="49" charset="0"/>
                <a:ea typeface="JetBrains Mono" pitchFamily="49" charset="-122"/>
                <a:cs typeface="JetBrains Mono" pitchFamily="49" charset="-120"/>
              </a:rPr>
              <a:t>az network route-table route create -g rg-netlab --route-table-name rt-app -n block-internet --address-prefix 0.0.0.0/0 --next-hop-type None</a:t>
            </a:r>
            <a:endParaRPr lang="en-US" sz="1200" dirty="0"/>
          </a:p>
        </p:txBody>
      </p:sp>
      <p:sp>
        <p:nvSpPr>
          <p:cNvPr id="12" name="Text 10"/>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812800" y="1901304"/>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2A65A"/>
                </a:solidFill>
                <a:latin typeface="IBM Plex Sans" pitchFamily="34" charset="0"/>
                <a:ea typeface="IBM Plex Sans" pitchFamily="34" charset="-122"/>
                <a:cs typeface="IBM Plex Sans" pitchFamily="34" charset="-120"/>
              </a:rPr>
              <a:t>05</a:t>
            </a:r>
            <a:endParaRPr lang="en-US" sz="8000" dirty="0"/>
          </a:p>
        </p:txBody>
      </p:sp>
      <p:sp>
        <p:nvSpPr>
          <p:cNvPr id="3" name="Text 1"/>
          <p:cNvSpPr>
            <a:spLocks noGrp="1"/>
          </p:cNvSpPr>
          <p:nvPr>
            <p:ph type="title"/>
          </p:nvPr>
        </p:nvSpPr>
        <p:spPr>
          <a:xfrm>
            <a:off x="812800" y="3095104"/>
            <a:ext cx="10883392" cy="665427"/>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E"/>
                </a:solidFill>
                <a:latin typeface="IBM Plex Sans" pitchFamily="34" charset="0"/>
                <a:ea typeface="IBM Plex Sans" pitchFamily="34" charset="-122"/>
                <a:cs typeface="IBM Plex Sans" pitchFamily="34" charset="-120"/>
              </a:rPr>
              <a:t>Network security deep dive</a:t>
            </a:r>
            <a:endParaRPr lang="en-US" sz="4800" dirty="0"/>
          </a:p>
        </p:txBody>
      </p:sp>
      <p:sp>
        <p:nvSpPr>
          <p:cNvPr id="4" name="Text 2"/>
          <p:cNvSpPr/>
          <p:nvPr/>
        </p:nvSpPr>
        <p:spPr>
          <a:xfrm>
            <a:off x="812800" y="3912939"/>
            <a:ext cx="8502650" cy="642408"/>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9C6D6"/>
                </a:solidFill>
                <a:latin typeface="IBM Plex Sans" pitchFamily="34" charset="0"/>
                <a:ea typeface="IBM Plex Sans" pitchFamily="34" charset="-122"/>
                <a:cs typeface="IBM Plex Sans" pitchFamily="34" charset="-120"/>
              </a:rPr>
              <a:t>Every type of firewall, Layer 7 gateways and WAFs, DDoS protection in both clouds, and a side-by-side service map.</a:t>
            </a:r>
            <a:endParaRPr lang="en-US" sz="1800" dirty="0"/>
          </a:p>
        </p:txBody>
      </p:sp>
      <p:sp>
        <p:nvSpPr>
          <p:cNvPr id="5" name="Text 3"/>
          <p:cNvSpPr/>
          <p:nvPr/>
        </p:nvSpPr>
        <p:spPr>
          <a:xfrm>
            <a:off x="812800" y="470773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A65A"/>
                </a:solidFill>
                <a:latin typeface="IBM Plex Sans" pitchFamily="34" charset="0"/>
                <a:ea typeface="IBM Plex Sans" pitchFamily="34" charset="-122"/>
                <a:cs typeface="IBM Plex Sans" pitchFamily="34" charset="-120"/>
              </a:rPr>
              <a:t>1:35 – 1:50 · 15 minutes · portal tours, no creating</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FIREWALL TYPES</a:t>
            </a:r>
            <a:endParaRPr lang="en-US" sz="1200" dirty="0"/>
          </a:p>
        </p:txBody>
      </p:sp>
      <p:sp>
        <p:nvSpPr>
          <p:cNvPr id="3" name="Text 1"/>
          <p:cNvSpPr>
            <a:spLocks noGrp="1"/>
          </p:cNvSpPr>
          <p:nvPr>
            <p:ph type="title"/>
          </p:nvPr>
        </p:nvSpPr>
        <p:spPr>
          <a:xfrm>
            <a:off x="812800" y="100067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From packet filters to Layer 7 inspection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618737"/>
          <a:ext cx="10557934" cy="2840038"/>
        </p:xfrm>
        <a:graphic>
          <a:graphicData uri="http://schemas.openxmlformats.org/drawingml/2006/table">
            <a:tbl>
              <a:tblPr/>
              <a:tblGrid>
                <a:gridCol w="2006007">
                  <a:extLst>
                    <a:ext uri="{9D8B030D-6E8A-4147-A177-3AD203B41FA5}">
                      <a16:colId xmlns:a16="http://schemas.microsoft.com/office/drawing/2014/main" val="20000"/>
                    </a:ext>
                  </a:extLst>
                </a:gridCol>
                <a:gridCol w="844635">
                  <a:extLst>
                    <a:ext uri="{9D8B030D-6E8A-4147-A177-3AD203B41FA5}">
                      <a16:colId xmlns:a16="http://schemas.microsoft.com/office/drawing/2014/main" val="20001"/>
                    </a:ext>
                  </a:extLst>
                </a:gridCol>
                <a:gridCol w="2850642">
                  <a:extLst>
                    <a:ext uri="{9D8B030D-6E8A-4147-A177-3AD203B41FA5}">
                      <a16:colId xmlns:a16="http://schemas.microsoft.com/office/drawing/2014/main" val="20002"/>
                    </a:ext>
                  </a:extLst>
                </a:gridCol>
                <a:gridCol w="2428325">
                  <a:extLst>
                    <a:ext uri="{9D8B030D-6E8A-4147-A177-3AD203B41FA5}">
                      <a16:colId xmlns:a16="http://schemas.microsoft.com/office/drawing/2014/main" val="20003"/>
                    </a:ext>
                  </a:extLst>
                </a:gridCol>
                <a:gridCol w="2428325">
                  <a:extLst>
                    <a:ext uri="{9D8B030D-6E8A-4147-A177-3AD203B41FA5}">
                      <a16:colId xmlns:a16="http://schemas.microsoft.com/office/drawing/2014/main" val="20004"/>
                    </a:ext>
                  </a:extLst>
                </a:gridCol>
              </a:tblGrid>
              <a:tr h="328348">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Type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Layer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Decides by</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AWS</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Azure</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Stateless packet filter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3–4</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Each packet, both directions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Network ACL (lab)</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 NSG is stateful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541602">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Stateful firewall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3–4</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Tracks connections; replies auto-allowed</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Security group (lab)</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NSG, ASG (lab)</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2"/>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Next-gen firewall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3–7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App ID, IDPS, TLS inspection, FQDNs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Network Firewall (tour)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Firewall (tour)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Web app firewall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OWASP rules, bots, rate limits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AWS WAF (tour)</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WAF (tour)</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4"/>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Proxy / app gateway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Ends and re-opens the connection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ALB, proxies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App Gateway, Firewall app rules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DNS firewall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Blocks lookups of bad domains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Route 53 DNS Firewall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Firewall DNS proxy</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6"/>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Host-based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iptables, ufw, Windows Firewall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Inside the EC2 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Inside the VM 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4649267"/>
            <a:ext cx="10566400" cy="510514"/>
          </a:xfrm>
          <a:prstGeom prst="roundRect">
            <a:avLst>
              <a:gd name="adj" fmla="val 14926"/>
            </a:avLst>
          </a:prstGeom>
          <a:solidFill>
            <a:srgbClr val="13233A"/>
          </a:solidFill>
          <a:ln/>
        </p:spPr>
        <p:txBody>
          <a:bodyPr wrap="square" lIns="168182" tIns="117382" rIns="0" bIns="91982"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Tour: Azure › </a:t>
            </a:r>
            <a:r>
              <a:rPr lang="en-US" sz="1300" b="1" dirty="0">
                <a:solidFill>
                  <a:srgbClr val="F6F4EE"/>
                </a:solidFill>
                <a:latin typeface="IBM Plex Sans" pitchFamily="34" charset="0"/>
                <a:ea typeface="IBM Plex Sans" pitchFamily="34" charset="-122"/>
                <a:cs typeface="IBM Plex Sans" pitchFamily="34" charset="-120"/>
              </a:rPr>
              <a:t>Firewalls</a:t>
            </a:r>
            <a:r>
              <a:rPr lang="en-US" sz="1300" dirty="0">
                <a:solidFill>
                  <a:srgbClr val="F6F4EE"/>
                </a:solidFill>
                <a:latin typeface="IBM Plex Sans" pitchFamily="34" charset="0"/>
                <a:ea typeface="IBM Plex Sans" pitchFamily="34" charset="-122"/>
                <a:cs typeface="IBM Plex Sans" pitchFamily="34" charset="-120"/>
              </a:rPr>
              <a:t> › + Create (tiers, policy, AzureFirewallSubnet /26) · AWS › VPC › </a:t>
            </a:r>
            <a:r>
              <a:rPr lang="en-US" sz="1300" b="1" dirty="0">
                <a:solidFill>
                  <a:srgbClr val="F6F4EE"/>
                </a:solidFill>
                <a:latin typeface="IBM Plex Sans" pitchFamily="34" charset="0"/>
                <a:ea typeface="IBM Plex Sans" pitchFamily="34" charset="-122"/>
                <a:cs typeface="IBM Plex Sans" pitchFamily="34" charset="-120"/>
              </a:rPr>
              <a:t>Network Firewall</a:t>
            </a:r>
            <a:r>
              <a:rPr lang="en-US" sz="1300" dirty="0">
                <a:solidFill>
                  <a:srgbClr val="F6F4EE"/>
                </a:solidFill>
                <a:latin typeface="IBM Plex Sans" pitchFamily="34" charset="0"/>
                <a:ea typeface="IBM Plex Sans" pitchFamily="34" charset="-122"/>
                <a:cs typeface="IBM Plex Sans" pitchFamily="34" charset="-120"/>
              </a:rPr>
              <a:t> › Create firewall › Cancel</a:t>
            </a:r>
            <a:endParaRPr lang="en-US" sz="1300" dirty="0"/>
          </a:p>
        </p:txBody>
      </p:sp>
      <p:sp>
        <p:nvSpPr>
          <p:cNvPr id="6" name="Text 3"/>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LAYER 7</a:t>
            </a:r>
            <a:endParaRPr lang="en-US" sz="1200" dirty="0"/>
          </a:p>
        </p:txBody>
      </p:sp>
      <p:sp>
        <p:nvSpPr>
          <p:cNvPr id="3" name="Text 1"/>
          <p:cNvSpPr>
            <a:spLocks noGrp="1"/>
          </p:cNvSpPr>
          <p:nvPr>
            <p:ph type="title"/>
          </p:nvPr>
        </p:nvSpPr>
        <p:spPr>
          <a:xfrm>
            <a:off x="812800" y="100067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Application gateways read the HTTP request</a:t>
            </a:r>
            <a:endParaRPr lang="en-US" sz="3000" dirty="0"/>
          </a:p>
        </p:txBody>
      </p:sp>
      <p:sp>
        <p:nvSpPr>
          <p:cNvPr id="4" name="Text 2"/>
          <p:cNvSpPr/>
          <p:nvPr/>
        </p:nvSpPr>
        <p:spPr>
          <a:xfrm>
            <a:off x="815975" y="1829594"/>
            <a:ext cx="746522" cy="495697"/>
          </a:xfrm>
          <a:prstGeom prst="roundRect">
            <a:avLst>
              <a:gd name="adj" fmla="val 14732"/>
            </a:avLst>
          </a:prstGeom>
          <a:solidFill>
            <a:srgbClr val="FCFBF7"/>
          </a:solidFill>
          <a:ln w="6350">
            <a:solidFill>
              <a:srgbClr val="DCD8CC"/>
            </a:solidFill>
            <a:prstDash val="solid"/>
          </a:ln>
        </p:spPr>
        <p:txBody>
          <a:bodyPr wrap="none" lIns="0" tIns="0" rIns="0" bIns="0" rtlCol="0" anchor="ctr">
            <a:normAutofit/>
          </a:bodyPr>
          <a:lstStyle/>
          <a:p>
            <a:pPr marL="0" indent="0" algn="ctr">
              <a:lnSpc>
                <a:spcPts val="1820"/>
              </a:lnSpc>
              <a:buNone/>
            </a:pPr>
            <a:r>
              <a:rPr lang="en-US" sz="1300" dirty="0">
                <a:solidFill>
                  <a:srgbClr val="13233A"/>
                </a:solidFill>
                <a:latin typeface="IBM Plex Sans" pitchFamily="34" charset="0"/>
                <a:ea typeface="IBM Plex Sans" pitchFamily="34" charset="-122"/>
                <a:cs typeface="IBM Plex Sans" pitchFamily="34" charset="-120"/>
              </a:rPr>
              <a:t>Client</a:t>
            </a:r>
            <a:endParaRPr lang="en-US" sz="1300" dirty="0"/>
          </a:p>
        </p:txBody>
      </p:sp>
      <p:pic>
        <p:nvPicPr>
          <p:cNvPr id="5" name="Image 0" descr="arrow-right"/>
          <p:cNvPicPr>
            <a:picLocks noChangeAspect="1"/>
          </p:cNvPicPr>
          <p:nvPr/>
        </p:nvPicPr>
        <p:blipFill>
          <a:blip r:embed="rId3"/>
          <a:srcRect/>
          <a:stretch/>
        </p:blipFill>
        <p:spPr>
          <a:xfrm>
            <a:off x="1667272" y="1988617"/>
            <a:ext cx="355600" cy="177800"/>
          </a:xfrm>
          <a:prstGeom prst="rect">
            <a:avLst/>
          </a:prstGeom>
        </p:spPr>
      </p:pic>
      <p:sp>
        <p:nvSpPr>
          <p:cNvPr id="6" name="Text 3"/>
          <p:cNvSpPr/>
          <p:nvPr/>
        </p:nvSpPr>
        <p:spPr>
          <a:xfrm>
            <a:off x="2124472" y="1834902"/>
            <a:ext cx="1058730" cy="485114"/>
          </a:xfrm>
          <a:prstGeom prst="roundRect">
            <a:avLst>
              <a:gd name="adj" fmla="val 15708"/>
            </a:avLst>
          </a:prstGeom>
          <a:solidFill>
            <a:srgbClr val="B8521F"/>
          </a:solidFill>
          <a:ln/>
        </p:spPr>
        <p:txBody>
          <a:bodyPr wrap="none" lIns="0" tIns="0" rIns="0" bIns="0" rtlCol="0" anchor="ctr">
            <a:normAutofit/>
          </a:bodyPr>
          <a:lstStyle/>
          <a:p>
            <a:pPr marL="0" indent="0" algn="ctr">
              <a:lnSpc>
                <a:spcPts val="1820"/>
              </a:lnSpc>
              <a:buNone/>
            </a:pPr>
            <a:r>
              <a:rPr lang="en-US" sz="1300" dirty="0">
                <a:solidFill>
                  <a:srgbClr val="FCFBF7"/>
                </a:solidFill>
                <a:latin typeface="IBM Plex Sans" pitchFamily="34" charset="0"/>
                <a:ea typeface="IBM Plex Sans" pitchFamily="34" charset="-122"/>
                <a:cs typeface="IBM Plex Sans" pitchFamily="34" charset="-120"/>
              </a:rPr>
              <a:t>WAF rules</a:t>
            </a:r>
            <a:endParaRPr lang="en-US" sz="1300" dirty="0"/>
          </a:p>
        </p:txBody>
      </p:sp>
      <p:pic>
        <p:nvPicPr>
          <p:cNvPr id="7" name="Image 1" descr="arrow-right"/>
          <p:cNvPicPr>
            <a:picLocks noChangeAspect="1"/>
          </p:cNvPicPr>
          <p:nvPr/>
        </p:nvPicPr>
        <p:blipFill>
          <a:blip r:embed="rId3"/>
          <a:srcRect/>
          <a:stretch/>
        </p:blipFill>
        <p:spPr>
          <a:xfrm>
            <a:off x="3284802" y="1988617"/>
            <a:ext cx="355600" cy="177800"/>
          </a:xfrm>
          <a:prstGeom prst="rect">
            <a:avLst/>
          </a:prstGeom>
        </p:spPr>
      </p:pic>
      <p:sp>
        <p:nvSpPr>
          <p:cNvPr id="8" name="Shape 4"/>
          <p:cNvSpPr/>
          <p:nvPr/>
        </p:nvSpPr>
        <p:spPr>
          <a:xfrm>
            <a:off x="3742002" y="1709217"/>
            <a:ext cx="2508779" cy="736468"/>
          </a:xfrm>
          <a:prstGeom prst="roundRect">
            <a:avLst>
              <a:gd name="adj" fmla="val 10347"/>
            </a:avLst>
          </a:prstGeom>
          <a:solidFill>
            <a:srgbClr val="2B67A8"/>
          </a:solidFill>
          <a:ln/>
        </p:spPr>
        <p:txBody>
          <a:bodyPr/>
          <a:lstStyle/>
          <a:p>
            <a:endParaRPr lang="en-US"/>
          </a:p>
        </p:txBody>
      </p:sp>
      <p:sp>
        <p:nvSpPr>
          <p:cNvPr id="9" name="Text 5"/>
          <p:cNvSpPr/>
          <p:nvPr/>
        </p:nvSpPr>
        <p:spPr>
          <a:xfrm>
            <a:off x="3894402" y="1836217"/>
            <a:ext cx="2270099"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CFBF7"/>
                </a:solidFill>
                <a:latin typeface="IBM Plex Sans" pitchFamily="34" charset="0"/>
                <a:ea typeface="IBM Plex Sans" pitchFamily="34" charset="-122"/>
                <a:cs typeface="IBM Plex Sans" pitchFamily="34" charset="-120"/>
              </a:rPr>
              <a:t>L7 gateway</a:t>
            </a:r>
            <a:endParaRPr lang="en-US" sz="1300" dirty="0"/>
          </a:p>
        </p:txBody>
      </p:sp>
      <p:sp>
        <p:nvSpPr>
          <p:cNvPr id="10" name="Text 6"/>
          <p:cNvSpPr/>
          <p:nvPr/>
        </p:nvSpPr>
        <p:spPr>
          <a:xfrm>
            <a:off x="3894402" y="2105422"/>
            <a:ext cx="2356379"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8F5"/>
                </a:solidFill>
                <a:latin typeface="IBM Plex Sans" pitchFamily="34" charset="0"/>
                <a:ea typeface="IBM Plex Sans" pitchFamily="34" charset="-122"/>
                <a:cs typeface="IBM Plex Sans" pitchFamily="34" charset="-120"/>
              </a:rPr>
              <a:t>TLS offload · host and path rules</a:t>
            </a:r>
            <a:endParaRPr lang="en-US" sz="1200" dirty="0"/>
          </a:p>
        </p:txBody>
      </p:sp>
      <p:pic>
        <p:nvPicPr>
          <p:cNvPr id="11" name="Image 2" descr="arrow-right"/>
          <p:cNvPicPr>
            <a:picLocks noChangeAspect="1"/>
          </p:cNvPicPr>
          <p:nvPr/>
        </p:nvPicPr>
        <p:blipFill>
          <a:blip r:embed="rId3"/>
          <a:srcRect/>
          <a:stretch/>
        </p:blipFill>
        <p:spPr>
          <a:xfrm>
            <a:off x="6352381" y="1988617"/>
            <a:ext cx="355600" cy="177800"/>
          </a:xfrm>
          <a:prstGeom prst="rect">
            <a:avLst/>
          </a:prstGeom>
        </p:spPr>
      </p:pic>
      <p:sp>
        <p:nvSpPr>
          <p:cNvPr id="12" name="Text 7"/>
          <p:cNvSpPr/>
          <p:nvPr/>
        </p:nvSpPr>
        <p:spPr>
          <a:xfrm>
            <a:off x="6809581" y="1648371"/>
            <a:ext cx="1905926" cy="391054"/>
          </a:xfrm>
          <a:prstGeom prst="roundRect">
            <a:avLst>
              <a:gd name="adj" fmla="val 19486"/>
            </a:avLst>
          </a:prstGeom>
          <a:solidFill>
            <a:srgbClr val="E3EDF8"/>
          </a:solidFill>
          <a:ln/>
        </p:spPr>
        <p:txBody>
          <a:bodyPr wrap="square" lIns="104682" tIns="66582" rIns="53882" bIns="41182" rtlCol="0" anchor="t">
            <a:normAutofit/>
          </a:bodyPr>
          <a:lstStyle/>
          <a:p>
            <a:pPr marL="0" indent="0" algn="l">
              <a:lnSpc>
                <a:spcPts val="1680"/>
              </a:lnSpc>
              <a:buNone/>
            </a:pPr>
            <a:r>
              <a:rPr lang="en-US" sz="1200" dirty="0">
                <a:solidFill>
                  <a:srgbClr val="13233A"/>
                </a:solidFill>
                <a:latin typeface="IBM Plex Sans" pitchFamily="34" charset="0"/>
                <a:ea typeface="IBM Plex Sans" pitchFamily="34" charset="-122"/>
                <a:cs typeface="IBM Plex Sans" pitchFamily="34" charset="-120"/>
              </a:rPr>
              <a:t>/api/* → API pool</a:t>
            </a:r>
            <a:endParaRPr lang="en-US" sz="1200" dirty="0"/>
          </a:p>
        </p:txBody>
      </p:sp>
      <p:sp>
        <p:nvSpPr>
          <p:cNvPr id="13" name="Text 8"/>
          <p:cNvSpPr/>
          <p:nvPr/>
        </p:nvSpPr>
        <p:spPr>
          <a:xfrm>
            <a:off x="6809581" y="2115617"/>
            <a:ext cx="1905926" cy="391054"/>
          </a:xfrm>
          <a:prstGeom prst="roundRect">
            <a:avLst>
              <a:gd name="adj" fmla="val 19486"/>
            </a:avLst>
          </a:prstGeom>
          <a:solidFill>
            <a:srgbClr val="E3EDF8"/>
          </a:solidFill>
          <a:ln/>
        </p:spPr>
        <p:txBody>
          <a:bodyPr wrap="none" lIns="0" tIns="0" rIns="0" bIns="0" rtlCol="0" anchor="ctr">
            <a:normAutofit/>
          </a:bodyPr>
          <a:lstStyle/>
          <a:p>
            <a:pPr marL="0" indent="0" algn="ctr">
              <a:lnSpc>
                <a:spcPts val="1680"/>
              </a:lnSpc>
              <a:buNone/>
            </a:pPr>
            <a:r>
              <a:rPr lang="en-US" sz="1200" dirty="0">
                <a:solidFill>
                  <a:srgbClr val="13233A"/>
                </a:solidFill>
                <a:latin typeface="IBM Plex Sans" pitchFamily="34" charset="0"/>
                <a:ea typeface="IBM Plex Sans" pitchFamily="34" charset="-122"/>
                <a:cs typeface="IBM Plex Sans" pitchFamily="34" charset="-120"/>
              </a:rPr>
              <a:t>/images/* → image pool</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1267" y="2743729"/>
          <a:ext cx="10557934" cy="1641740"/>
        </p:xfrm>
        <a:graphic>
          <a:graphicData uri="http://schemas.openxmlformats.org/drawingml/2006/table">
            <a:tbl>
              <a:tblPr/>
              <a:tblGrid>
                <a:gridCol w="2533904">
                  <a:extLst>
                    <a:ext uri="{9D8B030D-6E8A-4147-A177-3AD203B41FA5}">
                      <a16:colId xmlns:a16="http://schemas.microsoft.com/office/drawing/2014/main" val="20000"/>
                    </a:ext>
                  </a:extLst>
                </a:gridCol>
                <a:gridCol w="4012015">
                  <a:extLst>
                    <a:ext uri="{9D8B030D-6E8A-4147-A177-3AD203B41FA5}">
                      <a16:colId xmlns:a16="http://schemas.microsoft.com/office/drawing/2014/main" val="20001"/>
                    </a:ext>
                  </a:extLst>
                </a:gridCol>
                <a:gridCol w="4012015">
                  <a:extLst>
                    <a:ext uri="{9D8B030D-6E8A-4147-A177-3AD203B41FA5}">
                      <a16:colId xmlns:a16="http://schemas.microsoft.com/office/drawing/2014/main" val="20002"/>
                    </a:ext>
                  </a:extLst>
                </a:gridCol>
              </a:tblGrid>
              <a:tr h="328348">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Job</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AWS</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Azure</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Layer 4 load balancer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Network Load Balancer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Load Balancer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Layer 7 regional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Application Load Balancer + AWS WAF</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Application Gateway v2 + WAF policy</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2"/>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Layer 7 global edge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CloudFront + AWS WAF</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Front Door + WAF</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DNS-based steering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Route 53 routing policies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Traffic Manager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4"/>
                  </a:ext>
                </a:extLst>
              </a:tr>
            </a:tbl>
          </a:graphicData>
        </a:graphic>
      </p:graphicFrame>
      <p:sp>
        <p:nvSpPr>
          <p:cNvPr id="15" name="Text 9"/>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34 · Tour: Application gateways › + Create · EC2 › Load balancers › Create</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DDOS PROTECTION</a:t>
            </a:r>
            <a:endParaRPr lang="en-US" sz="1200" dirty="0"/>
          </a:p>
        </p:txBody>
      </p:sp>
      <p:sp>
        <p:nvSpPr>
          <p:cNvPr id="3" name="Text 1"/>
          <p:cNvSpPr>
            <a:spLocks noGrp="1"/>
          </p:cNvSpPr>
          <p:nvPr>
            <p:ph type="title"/>
          </p:nvPr>
        </p:nvSpPr>
        <p:spPr>
          <a:xfrm>
            <a:off x="812800" y="1000671"/>
            <a:ext cx="10883392" cy="8636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A free baseline in both clouds; paid tiers add tuning and response</a:t>
            </a:r>
            <a:endParaRPr lang="en-US" sz="3000" dirty="0"/>
          </a:p>
        </p:txBody>
      </p:sp>
      <p:sp>
        <p:nvSpPr>
          <p:cNvPr id="4" name="Text 2"/>
          <p:cNvSpPr/>
          <p:nvPr/>
        </p:nvSpPr>
        <p:spPr>
          <a:xfrm>
            <a:off x="812800" y="2042071"/>
            <a:ext cx="5337048"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67A8"/>
                </a:solidFill>
                <a:latin typeface="IBM Plex Sans" pitchFamily="34" charset="0"/>
                <a:ea typeface="IBM Plex Sans" pitchFamily="34" charset="-122"/>
                <a:cs typeface="IBM Plex Sans" pitchFamily="34" charset="-120"/>
              </a:rPr>
              <a:t>Azure</a:t>
            </a:r>
            <a:endParaRPr lang="en-US" sz="1600" dirty="0"/>
          </a:p>
        </p:txBody>
      </p:sp>
      <p:sp>
        <p:nvSpPr>
          <p:cNvPr id="5" name="Shape 3"/>
          <p:cNvSpPr/>
          <p:nvPr/>
        </p:nvSpPr>
        <p:spPr>
          <a:xfrm>
            <a:off x="815975" y="2390651"/>
            <a:ext cx="517525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6" name="Text 4"/>
          <p:cNvSpPr/>
          <p:nvPr/>
        </p:nvSpPr>
        <p:spPr>
          <a:xfrm>
            <a:off x="986367" y="2535634"/>
            <a:ext cx="497950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Infrastructure Protection · free</a:t>
            </a:r>
            <a:endParaRPr lang="en-US" sz="1300" dirty="0"/>
          </a:p>
        </p:txBody>
      </p:sp>
      <p:sp>
        <p:nvSpPr>
          <p:cNvPr id="7" name="Text 5"/>
          <p:cNvSpPr/>
          <p:nvPr/>
        </p:nvSpPr>
        <p:spPr>
          <a:xfrm>
            <a:off x="986367" y="2804864"/>
            <a:ext cx="497950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Always on for every Azure service, platform-wide L3/L4</a:t>
            </a:r>
            <a:endParaRPr lang="en-US" sz="1200" dirty="0"/>
          </a:p>
        </p:txBody>
      </p:sp>
      <p:sp>
        <p:nvSpPr>
          <p:cNvPr id="8" name="Shape 6"/>
          <p:cNvSpPr/>
          <p:nvPr/>
        </p:nvSpPr>
        <p:spPr>
          <a:xfrm>
            <a:off x="815975" y="3271044"/>
            <a:ext cx="517525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9" name="Text 7"/>
          <p:cNvSpPr/>
          <p:nvPr/>
        </p:nvSpPr>
        <p:spPr>
          <a:xfrm>
            <a:off x="986367" y="3416052"/>
            <a:ext cx="497950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DDoS IP Protection · per public IP</a:t>
            </a:r>
            <a:endParaRPr lang="en-US" sz="1300" dirty="0"/>
          </a:p>
        </p:txBody>
      </p:sp>
      <p:sp>
        <p:nvSpPr>
          <p:cNvPr id="10" name="Text 8"/>
          <p:cNvSpPr/>
          <p:nvPr/>
        </p:nvSpPr>
        <p:spPr>
          <a:xfrm>
            <a:off x="986367" y="3685257"/>
            <a:ext cx="497950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Adaptive tuning, alerts and telemetry for chosen IPs</a:t>
            </a:r>
            <a:endParaRPr lang="en-US" sz="1200" dirty="0"/>
          </a:p>
        </p:txBody>
      </p:sp>
      <p:sp>
        <p:nvSpPr>
          <p:cNvPr id="11" name="Shape 9"/>
          <p:cNvSpPr/>
          <p:nvPr/>
        </p:nvSpPr>
        <p:spPr>
          <a:xfrm>
            <a:off x="815975" y="4151461"/>
            <a:ext cx="517525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12" name="Text 10"/>
          <p:cNvSpPr/>
          <p:nvPr/>
        </p:nvSpPr>
        <p:spPr>
          <a:xfrm>
            <a:off x="986367" y="4296445"/>
            <a:ext cx="497950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DDoS Network Protection · per plan</a:t>
            </a:r>
            <a:endParaRPr lang="en-US" sz="1300" dirty="0"/>
          </a:p>
        </p:txBody>
      </p:sp>
      <p:sp>
        <p:nvSpPr>
          <p:cNvPr id="13" name="Text 11"/>
          <p:cNvSpPr/>
          <p:nvPr/>
        </p:nvSpPr>
        <p:spPr>
          <a:xfrm>
            <a:off x="986367" y="4565650"/>
            <a:ext cx="497950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Covers VNets' public IPs, rapid response, cost protection</a:t>
            </a:r>
            <a:endParaRPr lang="en-US" sz="1200" dirty="0"/>
          </a:p>
        </p:txBody>
      </p:sp>
      <p:sp>
        <p:nvSpPr>
          <p:cNvPr id="14" name="Text 12"/>
          <p:cNvSpPr/>
          <p:nvPr/>
        </p:nvSpPr>
        <p:spPr>
          <a:xfrm>
            <a:off x="6197600" y="2042071"/>
            <a:ext cx="5337048"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67A8"/>
                </a:solidFill>
                <a:latin typeface="IBM Plex Sans" pitchFamily="34" charset="0"/>
                <a:ea typeface="IBM Plex Sans" pitchFamily="34" charset="-122"/>
                <a:cs typeface="IBM Plex Sans" pitchFamily="34" charset="-120"/>
              </a:rPr>
              <a:t>AWS</a:t>
            </a:r>
            <a:endParaRPr lang="en-US" sz="1600" dirty="0"/>
          </a:p>
        </p:txBody>
      </p:sp>
      <p:sp>
        <p:nvSpPr>
          <p:cNvPr id="15" name="Shape 13"/>
          <p:cNvSpPr/>
          <p:nvPr/>
        </p:nvSpPr>
        <p:spPr>
          <a:xfrm>
            <a:off x="6200775" y="2390651"/>
            <a:ext cx="517525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16" name="Text 14"/>
          <p:cNvSpPr/>
          <p:nvPr/>
        </p:nvSpPr>
        <p:spPr>
          <a:xfrm>
            <a:off x="6371167" y="2535634"/>
            <a:ext cx="497950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Shield Standard · free</a:t>
            </a:r>
            <a:endParaRPr lang="en-US" sz="1300" dirty="0"/>
          </a:p>
        </p:txBody>
      </p:sp>
      <p:sp>
        <p:nvSpPr>
          <p:cNvPr id="17" name="Text 15"/>
          <p:cNvSpPr/>
          <p:nvPr/>
        </p:nvSpPr>
        <p:spPr>
          <a:xfrm>
            <a:off x="6371167" y="2804864"/>
            <a:ext cx="497950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Automatic L3/L4 protection for all customers</a:t>
            </a:r>
            <a:endParaRPr lang="en-US" sz="1200" dirty="0"/>
          </a:p>
        </p:txBody>
      </p:sp>
      <p:sp>
        <p:nvSpPr>
          <p:cNvPr id="18" name="Shape 16"/>
          <p:cNvSpPr/>
          <p:nvPr/>
        </p:nvSpPr>
        <p:spPr>
          <a:xfrm>
            <a:off x="6200775" y="3271044"/>
            <a:ext cx="517525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19" name="Text 17"/>
          <p:cNvSpPr/>
          <p:nvPr/>
        </p:nvSpPr>
        <p:spPr>
          <a:xfrm>
            <a:off x="6371167" y="3416052"/>
            <a:ext cx="497950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Shield Advanced · monthly + 1-yr term</a:t>
            </a:r>
            <a:endParaRPr lang="en-US" sz="1300" dirty="0"/>
          </a:p>
        </p:txBody>
      </p:sp>
      <p:sp>
        <p:nvSpPr>
          <p:cNvPr id="20" name="Text 18"/>
          <p:cNvSpPr/>
          <p:nvPr/>
        </p:nvSpPr>
        <p:spPr>
          <a:xfrm>
            <a:off x="6371167" y="3685257"/>
            <a:ext cx="497950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Shield Response Team, cost protection, WAF included</a:t>
            </a:r>
            <a:endParaRPr lang="en-US" sz="1200" dirty="0"/>
          </a:p>
        </p:txBody>
      </p:sp>
      <p:sp>
        <p:nvSpPr>
          <p:cNvPr id="21" name="Shape 19"/>
          <p:cNvSpPr/>
          <p:nvPr/>
        </p:nvSpPr>
        <p:spPr>
          <a:xfrm>
            <a:off x="6200775" y="4151461"/>
            <a:ext cx="517525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22" name="Text 20"/>
          <p:cNvSpPr/>
          <p:nvPr/>
        </p:nvSpPr>
        <p:spPr>
          <a:xfrm>
            <a:off x="6371167" y="4296445"/>
            <a:ext cx="4979501"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Layer 7 floods</a:t>
            </a:r>
            <a:endParaRPr lang="en-US" sz="1300" dirty="0"/>
          </a:p>
        </p:txBody>
      </p:sp>
      <p:sp>
        <p:nvSpPr>
          <p:cNvPr id="23" name="Text 21"/>
          <p:cNvSpPr/>
          <p:nvPr/>
        </p:nvSpPr>
        <p:spPr>
          <a:xfrm>
            <a:off x="6371167" y="4565650"/>
            <a:ext cx="4979501"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AWS WAF rate-based rules on CloudFront or ALB</a:t>
            </a:r>
            <a:endParaRPr lang="en-US" sz="1200" dirty="0"/>
          </a:p>
        </p:txBody>
      </p:sp>
      <p:sp>
        <p:nvSpPr>
          <p:cNvPr id="24" name="Text 22"/>
          <p:cNvSpPr/>
          <p:nvPr/>
        </p:nvSpPr>
        <p:spPr>
          <a:xfrm>
            <a:off x="812800" y="5130279"/>
            <a:ext cx="10566400" cy="510514"/>
          </a:xfrm>
          <a:prstGeom prst="roundRect">
            <a:avLst>
              <a:gd name="adj" fmla="val 14926"/>
            </a:avLst>
          </a:prstGeom>
          <a:solidFill>
            <a:srgbClr val="13233A"/>
          </a:solidFill>
          <a:ln/>
        </p:spPr>
        <p:txBody>
          <a:bodyPr wrap="square" lIns="168182" tIns="117382" rIns="0" bIns="91982" rtlCol="0" anchor="t">
            <a:normAutofit/>
          </a:bodyPr>
          <a:lstStyle/>
          <a:p>
            <a:pPr marL="0" indent="0" algn="l">
              <a:lnSpc>
                <a:spcPts val="1820"/>
              </a:lnSpc>
              <a:buNone/>
            </a:pPr>
            <a:r>
              <a:rPr lang="en-US" sz="1300" dirty="0">
                <a:solidFill>
                  <a:srgbClr val="F6F4EE"/>
                </a:solidFill>
                <a:latin typeface="IBM Plex Sans" pitchFamily="34" charset="0"/>
                <a:ea typeface="IBM Plex Sans" pitchFamily="34" charset="-122"/>
                <a:cs typeface="IBM Plex Sans" pitchFamily="34" charset="-120"/>
              </a:rPr>
              <a:t>Paid tiers run about </a:t>
            </a:r>
            <a:r>
              <a:rPr lang="en-US" sz="1300" dirty="0">
                <a:solidFill>
                  <a:srgbClr val="F2A65A"/>
                </a:solidFill>
                <a:latin typeface="IBM Plex Sans" pitchFamily="34" charset="0"/>
                <a:ea typeface="IBM Plex Sans" pitchFamily="34" charset="-122"/>
                <a:cs typeface="IBM Plex Sans" pitchFamily="34" charset="-120"/>
              </a:rPr>
              <a:t>$3,000/month</a:t>
            </a:r>
            <a:r>
              <a:rPr lang="en-US" sz="1300" dirty="0">
                <a:solidFill>
                  <a:srgbClr val="F6F4EE"/>
                </a:solidFill>
                <a:latin typeface="IBM Plex Sans" pitchFamily="34" charset="0"/>
                <a:ea typeface="IBM Plex Sans" pitchFamily="34" charset="-122"/>
                <a:cs typeface="IBM Plex Sans" pitchFamily="34" charset="-120"/>
              </a:rPr>
              <a:t> each: tour only. Azure: DDoS protection plans › + Create. AWS: WAF &amp; Shield › Shield.</a:t>
            </a:r>
            <a:endParaRPr lang="en-US" sz="1300" dirty="0"/>
          </a:p>
        </p:txBody>
      </p:sp>
      <p:sp>
        <p:nvSpPr>
          <p:cNvPr id="25" name="Text 23"/>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35 · Check current prices on each provider's pricing page</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AWS VS AZURE · 1 OF 2</a:t>
            </a:r>
            <a:endParaRPr lang="en-US" sz="1200" dirty="0"/>
          </a:p>
        </p:txBody>
      </p:sp>
      <p:sp>
        <p:nvSpPr>
          <p:cNvPr id="3" name="Text 1"/>
          <p:cNvSpPr>
            <a:spLocks noGrp="1"/>
          </p:cNvSpPr>
          <p:nvPr>
            <p:ph type="title"/>
          </p:nvPr>
        </p:nvSpPr>
        <p:spPr>
          <a:xfrm>
            <a:off x="812800" y="100067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Networking and compute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618737"/>
          <a:ext cx="10557933" cy="3611828"/>
        </p:xfrm>
        <a:graphic>
          <a:graphicData uri="http://schemas.openxmlformats.org/drawingml/2006/table">
            <a:tbl>
              <a:tblPr/>
              <a:tblGrid>
                <a:gridCol w="2956221">
                  <a:extLst>
                    <a:ext uri="{9D8B030D-6E8A-4147-A177-3AD203B41FA5}">
                      <a16:colId xmlns:a16="http://schemas.microsoft.com/office/drawing/2014/main" val="20000"/>
                    </a:ext>
                  </a:extLst>
                </a:gridCol>
                <a:gridCol w="3800856">
                  <a:extLst>
                    <a:ext uri="{9D8B030D-6E8A-4147-A177-3AD203B41FA5}">
                      <a16:colId xmlns:a16="http://schemas.microsoft.com/office/drawing/2014/main" val="20001"/>
                    </a:ext>
                  </a:extLst>
                </a:gridCol>
                <a:gridCol w="3800856">
                  <a:extLst>
                    <a:ext uri="{9D8B030D-6E8A-4147-A177-3AD203B41FA5}">
                      <a16:colId xmlns:a16="http://schemas.microsoft.com/office/drawing/2014/main" val="20002"/>
                    </a:ext>
                  </a:extLst>
                </a:gridCol>
              </a:tblGrid>
              <a:tr h="328348">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Concept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AWS</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Azure</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Billing / isolation boundary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Account (in an Organization)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Subscription (in a management group)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Lifecycle container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Tags, CloudFormation stack</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Resource group</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2"/>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Private network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VPC (regional)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Virtual network, VNet (regional)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Subnet scope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One Availability Zone</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Whole region (all zones)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4"/>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Internet access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Internet gateway + route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System route; public IP or NAT Gateway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Custom routing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Route tables (main + custom)</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Route tables (UDR) over system routes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6"/>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Network-to-network</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VPC peering, Transit Gateway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VNet peering, Virtual WAN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7"/>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Hybrid connectivity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Site-to-Site VPN, Direct Connect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VPN Gateway, ExpressRoute</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8"/>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DNS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Route 53</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DNS, Private DNS zones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9"/>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Lab VM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EC2 t3.micro (credits)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B1s (750 h/month, 12 months)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10"/>
                  </a:ext>
                </a:extLst>
              </a:tr>
            </a:tbl>
          </a:graphicData>
        </a:graphic>
      </p:graphicFrame>
      <p:sp>
        <p:nvSpPr>
          <p:cNvPr id="5" name="Text 2"/>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AWS VS AZURE · 2 OF 2</a:t>
            </a:r>
            <a:endParaRPr lang="en-US" sz="1200" dirty="0"/>
          </a:p>
        </p:txBody>
      </p:sp>
      <p:sp>
        <p:nvSpPr>
          <p:cNvPr id="3" name="Text 1"/>
          <p:cNvSpPr>
            <a:spLocks noGrp="1"/>
          </p:cNvSpPr>
          <p:nvPr>
            <p:ph type="title"/>
          </p:nvPr>
        </p:nvSpPr>
        <p:spPr>
          <a:xfrm>
            <a:off x="812800" y="100067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Security, access and governance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1267" y="1618737"/>
          <a:ext cx="10557933" cy="3496734"/>
        </p:xfrm>
        <a:graphic>
          <a:graphicData uri="http://schemas.openxmlformats.org/drawingml/2006/table">
            <a:tbl>
              <a:tblPr/>
              <a:tblGrid>
                <a:gridCol w="2956221">
                  <a:extLst>
                    <a:ext uri="{9D8B030D-6E8A-4147-A177-3AD203B41FA5}">
                      <a16:colId xmlns:a16="http://schemas.microsoft.com/office/drawing/2014/main" val="20000"/>
                    </a:ext>
                  </a:extLst>
                </a:gridCol>
                <a:gridCol w="3800856">
                  <a:extLst>
                    <a:ext uri="{9D8B030D-6E8A-4147-A177-3AD203B41FA5}">
                      <a16:colId xmlns:a16="http://schemas.microsoft.com/office/drawing/2014/main" val="20001"/>
                    </a:ext>
                  </a:extLst>
                </a:gridCol>
                <a:gridCol w="3800856">
                  <a:extLst>
                    <a:ext uri="{9D8B030D-6E8A-4147-A177-3AD203B41FA5}">
                      <a16:colId xmlns:a16="http://schemas.microsoft.com/office/drawing/2014/main" val="20002"/>
                    </a:ext>
                  </a:extLst>
                </a:gridCol>
              </a:tblGrid>
              <a:tr h="328348">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Concept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AWS</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680"/>
                        </a:lnSpc>
                        <a:buNone/>
                      </a:pPr>
                      <a:r>
                        <a:rPr lang="en-US" sz="1200" b="1" dirty="0">
                          <a:solidFill>
                            <a:srgbClr val="2A3646"/>
                          </a:solidFill>
                          <a:latin typeface="IBM Plex Sans" pitchFamily="34" charset="0"/>
                          <a:ea typeface="IBM Plex Sans" pitchFamily="34" charset="-122"/>
                          <a:cs typeface="IBM Plex Sans" pitchFamily="34" charset="-120"/>
                        </a:rPr>
                        <a:t>Azure</a:t>
                      </a:r>
                      <a:endParaRPr lang="en-US" sz="1200" dirty="0">
                        <a:latin typeface="IBM Plex Sans" charset="0"/>
                        <a:ea typeface="IBM Plex Sans" charset="0"/>
                        <a:cs typeface="IBM Plex Sans" charset="0"/>
                      </a:endParaRPr>
                    </a:p>
                  </a:txBody>
                  <a:tcPr marL="53340" marR="53340" marT="53340" marB="5334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Stateful instance filter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Security group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NSG / Application security group</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Stateless subnet filter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Network ACL</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 (none; NSG is stateful)</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2"/>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Managed firewall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AWS Network Firewall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Firewall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Web application firewall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AWS WAF</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WAF (App Gateway, Front Door)</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4"/>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DDoS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Shield Standard / Advanced</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Infrastructure / IP / Network Protection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r h="541602">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Bastion-less admin access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EC2 Instance Connect Endpoint, Session Manager</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Bastion (Developer to Premium), Run command</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6"/>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Identity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IAM, IAM Identity Center</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Microsoft Entra ID, Azure RBAC</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7"/>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Guardrails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SCPs, AWS Config rules</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Policy</a:t>
                      </a:r>
                      <a:endParaRPr lang="en-US" sz="1200" dirty="0">
                        <a:latin typeface="IBM Plex Sans" charset="0"/>
                        <a:ea typeface="IBM Plex Sans" charset="0"/>
                        <a:cs typeface="IBM Plex Sans" charset="0"/>
                      </a:endParaRPr>
                    </a:p>
                  </a:txBody>
                  <a:tcPr marL="53340" marR="53340" marT="53340" marB="53340">
                    <a:lnL w="12700" cap="flat" cmpd="sng" algn="ctr">
                      <a:solidFill>
                        <a:srgbClr val="BDBBB4"/>
                      </a:solidFill>
                      <a:prstDash val="solid"/>
                      <a:round/>
                      <a:headEnd type="none" w="med" len="med"/>
                      <a:tailEnd type="none" w="med" len="med"/>
                    </a:lnL>
                    <a:lnR w="12700" cap="flat" cmpd="sng" algn="ctr">
                      <a:solidFill>
                        <a:srgbClr val="BDBB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DBBB4"/>
                      </a:solidFill>
                      <a:prstDash val="solid"/>
                      <a:round/>
                      <a:headEnd type="none" w="med" len="med"/>
                      <a:tailEnd type="none" w="med" len="med"/>
                    </a:lnB>
                    <a:solidFill>
                      <a:srgbClr val="EDEAE1"/>
                    </a:solidFill>
                  </a:tcPr>
                </a:tc>
                <a:extLst>
                  <a:ext uri="{0D108BD9-81ED-4DB2-BD59-A6C34878D82A}">
                    <a16:rowId xmlns:a16="http://schemas.microsoft.com/office/drawing/2014/main" val="10008"/>
                  </a:ext>
                </a:extLst>
              </a:tr>
              <a:tr h="328348">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Landing zone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Control Tower (+ LZA, AFT)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2A3646"/>
                          </a:solidFill>
                          <a:latin typeface="IBM Plex Sans" pitchFamily="34" charset="0"/>
                          <a:ea typeface="IBM Plex Sans" pitchFamily="34" charset="-122"/>
                          <a:cs typeface="IBM Plex Sans" pitchFamily="34" charset="-120"/>
                        </a:rPr>
                        <a:t>Azure landing zone accelerators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DBBB4"/>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812800" y="1901304"/>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2A65A"/>
                </a:solidFill>
                <a:latin typeface="IBM Plex Sans" pitchFamily="34" charset="0"/>
                <a:ea typeface="IBM Plex Sans" pitchFamily="34" charset="-122"/>
                <a:cs typeface="IBM Plex Sans" pitchFamily="34" charset="-120"/>
              </a:rPr>
              <a:t>06</a:t>
            </a:r>
            <a:endParaRPr lang="en-US" sz="8000" dirty="0"/>
          </a:p>
        </p:txBody>
      </p:sp>
      <p:sp>
        <p:nvSpPr>
          <p:cNvPr id="3" name="Text 1"/>
          <p:cNvSpPr>
            <a:spLocks noGrp="1"/>
          </p:cNvSpPr>
          <p:nvPr>
            <p:ph type="title"/>
          </p:nvPr>
        </p:nvSpPr>
        <p:spPr>
          <a:xfrm>
            <a:off x="812800" y="3095104"/>
            <a:ext cx="10883392" cy="665427"/>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6F4EE"/>
                </a:solidFill>
                <a:latin typeface="IBM Plex Sans" pitchFamily="34" charset="0"/>
                <a:ea typeface="IBM Plex Sans" pitchFamily="34" charset="-122"/>
                <a:cs typeface="IBM Plex Sans" pitchFamily="34" charset="-120"/>
              </a:rPr>
              <a:t>Landing zones</a:t>
            </a:r>
            <a:endParaRPr lang="en-US" sz="4800" dirty="0"/>
          </a:p>
        </p:txBody>
      </p:sp>
      <p:sp>
        <p:nvSpPr>
          <p:cNvPr id="4" name="Text 2"/>
          <p:cNvSpPr/>
          <p:nvPr/>
        </p:nvSpPr>
        <p:spPr>
          <a:xfrm>
            <a:off x="812800" y="3912939"/>
            <a:ext cx="8502650" cy="642408"/>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B9C6D6"/>
                </a:solidFill>
                <a:latin typeface="IBM Plex Sans" pitchFamily="34" charset="0"/>
                <a:ea typeface="IBM Plex Sans" pitchFamily="34" charset="-122"/>
                <a:cs typeface="IBM Plex Sans" pitchFamily="34" charset="-120"/>
              </a:rPr>
              <a:t>What a landing zone is, the types Azure offers, the AWS equivalents, and how each is set up.</a:t>
            </a:r>
            <a:endParaRPr lang="en-US" sz="1800" dirty="0"/>
          </a:p>
        </p:txBody>
      </p:sp>
      <p:sp>
        <p:nvSpPr>
          <p:cNvPr id="5" name="Text 3"/>
          <p:cNvSpPr/>
          <p:nvPr/>
        </p:nvSpPr>
        <p:spPr>
          <a:xfrm>
            <a:off x="812800" y="470773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2A65A"/>
                </a:solidFill>
                <a:latin typeface="IBM Plex Sans" pitchFamily="34" charset="0"/>
                <a:ea typeface="IBM Plex Sans" pitchFamily="34" charset="-122"/>
                <a:cs typeface="IBM Plex Sans" pitchFamily="34" charset="-120"/>
              </a:rPr>
              <a:t>1:50 – 2:00 · 10 minutes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WHAT IS A LANDING ZONE?</a:t>
            </a:r>
            <a:endParaRPr lang="en-US" sz="1200" dirty="0"/>
          </a:p>
        </p:txBody>
      </p:sp>
      <p:sp>
        <p:nvSpPr>
          <p:cNvPr id="3" name="Text 1"/>
          <p:cNvSpPr>
            <a:spLocks noGrp="1"/>
          </p:cNvSpPr>
          <p:nvPr>
            <p:ph type="title"/>
          </p:nvPr>
        </p:nvSpPr>
        <p:spPr>
          <a:xfrm>
            <a:off x="812800" y="100067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A pre-built, governed foundation that workloads "land" in</a:t>
            </a:r>
            <a:endParaRPr lang="en-US" sz="3000" dirty="0"/>
          </a:p>
        </p:txBody>
      </p:sp>
      <p:sp>
        <p:nvSpPr>
          <p:cNvPr id="4" name="Text 2"/>
          <p:cNvSpPr/>
          <p:nvPr/>
        </p:nvSpPr>
        <p:spPr>
          <a:xfrm>
            <a:off x="812800" y="1648371"/>
            <a:ext cx="981075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D4A5C"/>
                </a:solidFill>
                <a:latin typeface="IBM Plex Sans" pitchFamily="34" charset="0"/>
                <a:ea typeface="IBM Plex Sans" pitchFamily="34" charset="-122"/>
                <a:cs typeface="IBM Plex Sans" pitchFamily="34" charset="-120"/>
              </a:rPr>
              <a:t>Think of an airport: runways (network), a control tower (governance), security screening (guardrails) and gates for each airline (one account or subscription per workload).</a:t>
            </a:r>
            <a:endParaRPr lang="en-US" sz="1500" dirty="0"/>
          </a:p>
        </p:txBody>
      </p:sp>
      <p:sp>
        <p:nvSpPr>
          <p:cNvPr id="5" name="Shape 3"/>
          <p:cNvSpPr/>
          <p:nvPr/>
        </p:nvSpPr>
        <p:spPr>
          <a:xfrm>
            <a:off x="815975" y="2432596"/>
            <a:ext cx="254000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6" name="Text 4"/>
          <p:cNvSpPr/>
          <p:nvPr/>
        </p:nvSpPr>
        <p:spPr>
          <a:xfrm>
            <a:off x="960967" y="2577579"/>
            <a:ext cx="231751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Identity</a:t>
            </a:r>
            <a:endParaRPr lang="en-US" sz="1300" dirty="0"/>
          </a:p>
        </p:txBody>
      </p:sp>
      <p:sp>
        <p:nvSpPr>
          <p:cNvPr id="7" name="Text 5"/>
          <p:cNvSpPr/>
          <p:nvPr/>
        </p:nvSpPr>
        <p:spPr>
          <a:xfrm>
            <a:off x="960967" y="2846784"/>
            <a:ext cx="2317517"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Who can do what</a:t>
            </a:r>
            <a:endParaRPr lang="en-US" sz="1200" dirty="0"/>
          </a:p>
        </p:txBody>
      </p:sp>
      <p:sp>
        <p:nvSpPr>
          <p:cNvPr id="8" name="Shape 6"/>
          <p:cNvSpPr/>
          <p:nvPr/>
        </p:nvSpPr>
        <p:spPr>
          <a:xfrm>
            <a:off x="3489325" y="2432596"/>
            <a:ext cx="254000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9" name="Text 7"/>
          <p:cNvSpPr/>
          <p:nvPr/>
        </p:nvSpPr>
        <p:spPr>
          <a:xfrm>
            <a:off x="3634317" y="2577579"/>
            <a:ext cx="231751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Network topology</a:t>
            </a:r>
            <a:endParaRPr lang="en-US" sz="1300" dirty="0"/>
          </a:p>
        </p:txBody>
      </p:sp>
      <p:sp>
        <p:nvSpPr>
          <p:cNvPr id="10" name="Text 8"/>
          <p:cNvSpPr/>
          <p:nvPr/>
        </p:nvSpPr>
        <p:spPr>
          <a:xfrm>
            <a:off x="3634317" y="2846784"/>
            <a:ext cx="2317517"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Hub-spoke, IP plan</a:t>
            </a:r>
            <a:endParaRPr lang="en-US" sz="1200" dirty="0"/>
          </a:p>
        </p:txBody>
      </p:sp>
      <p:sp>
        <p:nvSpPr>
          <p:cNvPr id="11" name="Shape 9"/>
          <p:cNvSpPr/>
          <p:nvPr/>
        </p:nvSpPr>
        <p:spPr>
          <a:xfrm>
            <a:off x="6162675" y="2432596"/>
            <a:ext cx="254000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12" name="Text 10"/>
          <p:cNvSpPr/>
          <p:nvPr/>
        </p:nvSpPr>
        <p:spPr>
          <a:xfrm>
            <a:off x="6307667" y="2577579"/>
            <a:ext cx="231751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Governance</a:t>
            </a:r>
            <a:endParaRPr lang="en-US" sz="1300" dirty="0"/>
          </a:p>
        </p:txBody>
      </p:sp>
      <p:sp>
        <p:nvSpPr>
          <p:cNvPr id="13" name="Text 11"/>
          <p:cNvSpPr/>
          <p:nvPr/>
        </p:nvSpPr>
        <p:spPr>
          <a:xfrm>
            <a:off x="6307667" y="2846784"/>
            <a:ext cx="2317517"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Policies, guardrails</a:t>
            </a:r>
            <a:endParaRPr lang="en-US" sz="1200" dirty="0"/>
          </a:p>
        </p:txBody>
      </p:sp>
      <p:sp>
        <p:nvSpPr>
          <p:cNvPr id="14" name="Shape 12"/>
          <p:cNvSpPr/>
          <p:nvPr/>
        </p:nvSpPr>
        <p:spPr>
          <a:xfrm>
            <a:off x="8836025" y="2432596"/>
            <a:ext cx="254000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15" name="Text 13"/>
          <p:cNvSpPr/>
          <p:nvPr/>
        </p:nvSpPr>
        <p:spPr>
          <a:xfrm>
            <a:off x="8981017" y="2577579"/>
            <a:ext cx="231751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Security</a:t>
            </a:r>
            <a:endParaRPr lang="en-US" sz="1300" dirty="0"/>
          </a:p>
        </p:txBody>
      </p:sp>
      <p:sp>
        <p:nvSpPr>
          <p:cNvPr id="16" name="Text 14"/>
          <p:cNvSpPr/>
          <p:nvPr/>
        </p:nvSpPr>
        <p:spPr>
          <a:xfrm>
            <a:off x="8981017" y="2846784"/>
            <a:ext cx="2317517"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Baselines, threat detection</a:t>
            </a:r>
            <a:endParaRPr lang="en-US" sz="1200" dirty="0"/>
          </a:p>
        </p:txBody>
      </p:sp>
      <p:sp>
        <p:nvSpPr>
          <p:cNvPr id="17" name="Shape 15"/>
          <p:cNvSpPr/>
          <p:nvPr/>
        </p:nvSpPr>
        <p:spPr>
          <a:xfrm>
            <a:off x="815975" y="3338388"/>
            <a:ext cx="254000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18" name="Text 16"/>
          <p:cNvSpPr/>
          <p:nvPr/>
        </p:nvSpPr>
        <p:spPr>
          <a:xfrm>
            <a:off x="960967" y="3483372"/>
            <a:ext cx="231751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Management</a:t>
            </a:r>
            <a:endParaRPr lang="en-US" sz="1300" dirty="0"/>
          </a:p>
        </p:txBody>
      </p:sp>
      <p:sp>
        <p:nvSpPr>
          <p:cNvPr id="19" name="Text 17"/>
          <p:cNvSpPr/>
          <p:nvPr/>
        </p:nvSpPr>
        <p:spPr>
          <a:xfrm>
            <a:off x="960967" y="3752602"/>
            <a:ext cx="2317517"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Central logging, monitoring</a:t>
            </a:r>
            <a:endParaRPr lang="en-US" sz="1200" dirty="0"/>
          </a:p>
        </p:txBody>
      </p:sp>
      <p:sp>
        <p:nvSpPr>
          <p:cNvPr id="20" name="Shape 18"/>
          <p:cNvSpPr/>
          <p:nvPr/>
        </p:nvSpPr>
        <p:spPr>
          <a:xfrm>
            <a:off x="3489325" y="3338388"/>
            <a:ext cx="254000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21" name="Text 19"/>
          <p:cNvSpPr/>
          <p:nvPr/>
        </p:nvSpPr>
        <p:spPr>
          <a:xfrm>
            <a:off x="3634317" y="3483372"/>
            <a:ext cx="231751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Resource organization</a:t>
            </a:r>
            <a:endParaRPr lang="en-US" sz="1300" dirty="0"/>
          </a:p>
        </p:txBody>
      </p:sp>
      <p:sp>
        <p:nvSpPr>
          <p:cNvPr id="22" name="Text 20"/>
          <p:cNvSpPr/>
          <p:nvPr/>
        </p:nvSpPr>
        <p:spPr>
          <a:xfrm>
            <a:off x="3634317" y="3752602"/>
            <a:ext cx="2317517"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Hierarchy, naming, tags</a:t>
            </a:r>
            <a:endParaRPr lang="en-US" sz="1200" dirty="0"/>
          </a:p>
        </p:txBody>
      </p:sp>
      <p:sp>
        <p:nvSpPr>
          <p:cNvPr id="23" name="Shape 21"/>
          <p:cNvSpPr/>
          <p:nvPr/>
        </p:nvSpPr>
        <p:spPr>
          <a:xfrm>
            <a:off x="6162675" y="3338388"/>
            <a:ext cx="254000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24" name="Text 22"/>
          <p:cNvSpPr/>
          <p:nvPr/>
        </p:nvSpPr>
        <p:spPr>
          <a:xfrm>
            <a:off x="6307667" y="3483372"/>
            <a:ext cx="231751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Billing &amp; tenant</a:t>
            </a:r>
            <a:endParaRPr lang="en-US" sz="1300" dirty="0"/>
          </a:p>
        </p:txBody>
      </p:sp>
      <p:sp>
        <p:nvSpPr>
          <p:cNvPr id="25" name="Text 23"/>
          <p:cNvSpPr/>
          <p:nvPr/>
        </p:nvSpPr>
        <p:spPr>
          <a:xfrm>
            <a:off x="6307667" y="3752602"/>
            <a:ext cx="2317517"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Who pays, which agreement</a:t>
            </a:r>
            <a:endParaRPr lang="en-US" sz="1200" dirty="0"/>
          </a:p>
        </p:txBody>
      </p:sp>
      <p:sp>
        <p:nvSpPr>
          <p:cNvPr id="26" name="Shape 24"/>
          <p:cNvSpPr/>
          <p:nvPr/>
        </p:nvSpPr>
        <p:spPr>
          <a:xfrm>
            <a:off x="8836025" y="3338388"/>
            <a:ext cx="2540000" cy="772451"/>
          </a:xfrm>
          <a:prstGeom prst="roundRect">
            <a:avLst>
              <a:gd name="adj" fmla="val 9454"/>
            </a:avLst>
          </a:prstGeom>
          <a:solidFill>
            <a:srgbClr val="FCFBF7"/>
          </a:solidFill>
          <a:ln w="6350">
            <a:solidFill>
              <a:srgbClr val="DCD8CC"/>
            </a:solidFill>
            <a:prstDash val="solid"/>
          </a:ln>
        </p:spPr>
        <p:txBody>
          <a:bodyPr/>
          <a:lstStyle/>
          <a:p>
            <a:endParaRPr lang="en-US"/>
          </a:p>
        </p:txBody>
      </p:sp>
      <p:sp>
        <p:nvSpPr>
          <p:cNvPr id="27" name="Text 25"/>
          <p:cNvSpPr/>
          <p:nvPr/>
        </p:nvSpPr>
        <p:spPr>
          <a:xfrm>
            <a:off x="8981017" y="3483372"/>
            <a:ext cx="2317517"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Automation</a:t>
            </a:r>
            <a:endParaRPr lang="en-US" sz="1300" dirty="0"/>
          </a:p>
        </p:txBody>
      </p:sp>
      <p:sp>
        <p:nvSpPr>
          <p:cNvPr id="28" name="Text 26"/>
          <p:cNvSpPr/>
          <p:nvPr/>
        </p:nvSpPr>
        <p:spPr>
          <a:xfrm>
            <a:off x="8981017" y="3752602"/>
            <a:ext cx="2317517"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Deployed as code</a:t>
            </a:r>
            <a:endParaRPr lang="en-US" sz="1200" dirty="0"/>
          </a:p>
        </p:txBody>
      </p:sp>
      <p:sp>
        <p:nvSpPr>
          <p:cNvPr id="29" name="Text 27"/>
          <p:cNvSpPr/>
          <p:nvPr/>
        </p:nvSpPr>
        <p:spPr>
          <a:xfrm>
            <a:off x="812800" y="4342606"/>
            <a:ext cx="1088339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IBM Plex Sans" pitchFamily="34" charset="0"/>
                <a:ea typeface="IBM Plex Sans" pitchFamily="34" charset="-122"/>
                <a:cs typeface="IBM Plex Sans" pitchFamily="34" charset="-120"/>
              </a:rPr>
              <a:t>These are the </a:t>
            </a:r>
            <a:r>
              <a:rPr lang="en-US" sz="1300" b="1" dirty="0">
                <a:solidFill>
                  <a:srgbClr val="3D4A5C"/>
                </a:solidFill>
                <a:latin typeface="IBM Plex Sans" pitchFamily="34" charset="0"/>
                <a:ea typeface="IBM Plex Sans" pitchFamily="34" charset="-122"/>
                <a:cs typeface="IBM Plex Sans" pitchFamily="34" charset="-120"/>
              </a:rPr>
              <a:t>eight design areas</a:t>
            </a:r>
            <a:r>
              <a:rPr lang="en-US" sz="1300" dirty="0">
                <a:solidFill>
                  <a:srgbClr val="3D4A5C"/>
                </a:solidFill>
                <a:latin typeface="IBM Plex Sans" pitchFamily="34" charset="0"/>
                <a:ea typeface="IBM Plex Sans" pitchFamily="34" charset="-122"/>
                <a:cs typeface="IBM Plex Sans" pitchFamily="34" charset="-120"/>
              </a:rPr>
              <a:t> of Microsoft's Cloud Adoption Framework; AWS covers the same ground in its multi-account guidance.</a:t>
            </a:r>
            <a:endParaRPr lang="en-US" sz="1300" dirty="0"/>
          </a:p>
        </p:txBody>
      </p:sp>
      <p:sp>
        <p:nvSpPr>
          <p:cNvPr id="30" name="Text 28"/>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AZURE LANDING ZONE</a:t>
            </a:r>
            <a:endParaRPr lang="en-US" sz="1200" dirty="0"/>
          </a:p>
        </p:txBody>
      </p:sp>
      <p:sp>
        <p:nvSpPr>
          <p:cNvPr id="3" name="Text 1"/>
          <p:cNvSpPr>
            <a:spLocks noGrp="1"/>
          </p:cNvSpPr>
          <p:nvPr>
            <p:ph type="title"/>
          </p:nvPr>
        </p:nvSpPr>
        <p:spPr>
          <a:xfrm>
            <a:off x="812800" y="1000671"/>
            <a:ext cx="11379200"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One platform landing zone, many application landing zones</a:t>
            </a:r>
            <a:endParaRPr lang="en-US" sz="3000" dirty="0"/>
          </a:p>
        </p:txBody>
      </p:sp>
      <p:sp>
        <p:nvSpPr>
          <p:cNvPr id="4" name="Shape 2"/>
          <p:cNvSpPr/>
          <p:nvPr/>
        </p:nvSpPr>
        <p:spPr>
          <a:xfrm>
            <a:off x="812800" y="1622971"/>
            <a:ext cx="5584428" cy="3392620"/>
          </a:xfrm>
          <a:prstGeom prst="roundRect">
            <a:avLst>
              <a:gd name="adj" fmla="val 2995"/>
            </a:avLst>
          </a:prstGeom>
          <a:solidFill>
            <a:srgbClr val="13233A"/>
          </a:solidFill>
          <a:ln/>
        </p:spPr>
        <p:txBody>
          <a:bodyPr/>
          <a:lstStyle/>
          <a:p>
            <a:endParaRPr lang="en-US"/>
          </a:p>
        </p:txBody>
      </p:sp>
      <p:sp>
        <p:nvSpPr>
          <p:cNvPr id="5" name="Text 3"/>
          <p:cNvSpPr/>
          <p:nvPr/>
        </p:nvSpPr>
        <p:spPr>
          <a:xfrm>
            <a:off x="990600" y="1800771"/>
            <a:ext cx="5385693"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Management group hierarchy</a:t>
            </a:r>
            <a:endParaRPr lang="en-US" sz="1200" dirty="0"/>
          </a:p>
        </p:txBody>
      </p:sp>
      <p:sp>
        <p:nvSpPr>
          <p:cNvPr id="6" name="Text 4"/>
          <p:cNvSpPr/>
          <p:nvPr/>
        </p:nvSpPr>
        <p:spPr>
          <a:xfrm>
            <a:off x="990600" y="2064817"/>
            <a:ext cx="5385693" cy="2311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Tenant Root Group</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Contoso (intermediate root)</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Platform</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 Identity · Management</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 Connectivity (hub / vWAN)</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Landing zones</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 Corp (private)</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 Online (internet-facing)</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Sandbox</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Decommissioned</a:t>
            </a:r>
            <a:endParaRPr lang="en-US" sz="1200" dirty="0"/>
          </a:p>
        </p:txBody>
      </p:sp>
      <p:sp>
        <p:nvSpPr>
          <p:cNvPr id="7" name="Shape 5"/>
          <p:cNvSpPr/>
          <p:nvPr/>
        </p:nvSpPr>
        <p:spPr>
          <a:xfrm>
            <a:off x="6629003" y="1626146"/>
            <a:ext cx="4747022" cy="985705"/>
          </a:xfrm>
          <a:prstGeom prst="roundRect">
            <a:avLst>
              <a:gd name="adj" fmla="val 7408"/>
            </a:avLst>
          </a:prstGeom>
          <a:solidFill>
            <a:srgbClr val="FCFBF7"/>
          </a:solidFill>
          <a:ln w="6350">
            <a:solidFill>
              <a:srgbClr val="DCD8CC"/>
            </a:solidFill>
            <a:prstDash val="solid"/>
          </a:ln>
        </p:spPr>
        <p:txBody>
          <a:bodyPr/>
          <a:lstStyle/>
          <a:p>
            <a:endParaRPr lang="en-US"/>
          </a:p>
        </p:txBody>
      </p:sp>
      <p:sp>
        <p:nvSpPr>
          <p:cNvPr id="8" name="Text 6"/>
          <p:cNvSpPr/>
          <p:nvPr/>
        </p:nvSpPr>
        <p:spPr>
          <a:xfrm>
            <a:off x="6799395" y="1771129"/>
            <a:ext cx="453842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B67A8"/>
                </a:solidFill>
                <a:latin typeface="IBM Plex Sans" pitchFamily="34" charset="0"/>
                <a:ea typeface="IBM Plex Sans" pitchFamily="34" charset="-122"/>
                <a:cs typeface="IBM Plex Sans" pitchFamily="34" charset="-120"/>
              </a:rPr>
              <a:t>Platform landing zone</a:t>
            </a:r>
            <a:endParaRPr lang="en-US" sz="1300" dirty="0"/>
          </a:p>
        </p:txBody>
      </p:sp>
      <p:sp>
        <p:nvSpPr>
          <p:cNvPr id="9" name="Text 7"/>
          <p:cNvSpPr/>
          <p:nvPr/>
        </p:nvSpPr>
        <p:spPr>
          <a:xfrm>
            <a:off x="6799395" y="2040334"/>
            <a:ext cx="4538426"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Shared identity, connectivity and management subscriptions run by the central team</a:t>
            </a:r>
            <a:endParaRPr lang="en-US" sz="1200" dirty="0"/>
          </a:p>
        </p:txBody>
      </p:sp>
      <p:sp>
        <p:nvSpPr>
          <p:cNvPr id="10" name="Shape 8"/>
          <p:cNvSpPr/>
          <p:nvPr/>
        </p:nvSpPr>
        <p:spPr>
          <a:xfrm>
            <a:off x="6629003" y="2719784"/>
            <a:ext cx="4747022" cy="1198959"/>
          </a:xfrm>
          <a:prstGeom prst="roundRect">
            <a:avLst>
              <a:gd name="adj" fmla="val 6091"/>
            </a:avLst>
          </a:prstGeom>
          <a:solidFill>
            <a:srgbClr val="FCFBF7"/>
          </a:solidFill>
          <a:ln w="6350">
            <a:solidFill>
              <a:srgbClr val="DCD8CC"/>
            </a:solidFill>
            <a:prstDash val="solid"/>
          </a:ln>
        </p:spPr>
        <p:txBody>
          <a:bodyPr/>
          <a:lstStyle/>
          <a:p>
            <a:endParaRPr lang="en-US"/>
          </a:p>
        </p:txBody>
      </p:sp>
      <p:sp>
        <p:nvSpPr>
          <p:cNvPr id="11" name="Text 9"/>
          <p:cNvSpPr/>
          <p:nvPr/>
        </p:nvSpPr>
        <p:spPr>
          <a:xfrm>
            <a:off x="6799395" y="2864793"/>
            <a:ext cx="453842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B67A8"/>
                </a:solidFill>
                <a:latin typeface="IBM Plex Sans" pitchFamily="34" charset="0"/>
                <a:ea typeface="IBM Plex Sans" pitchFamily="34" charset="-122"/>
                <a:cs typeface="IBM Plex Sans" pitchFamily="34" charset="-120"/>
              </a:rPr>
              <a:t>Application landing zones</a:t>
            </a:r>
            <a:endParaRPr lang="en-US" sz="1300" dirty="0"/>
          </a:p>
        </p:txBody>
      </p:sp>
      <p:sp>
        <p:nvSpPr>
          <p:cNvPr id="12" name="Text 10"/>
          <p:cNvSpPr/>
          <p:nvPr/>
        </p:nvSpPr>
        <p:spPr>
          <a:xfrm>
            <a:off x="6799395" y="3133998"/>
            <a:ext cx="4538426" cy="66516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A subscription per workload and environment; accelerators for AKS, App Service, API Management, AVD, SAP, Azure VMware Solution</a:t>
            </a:r>
            <a:endParaRPr lang="en-US" sz="1200" dirty="0"/>
          </a:p>
        </p:txBody>
      </p:sp>
      <p:sp>
        <p:nvSpPr>
          <p:cNvPr id="13" name="Shape 11"/>
          <p:cNvSpPr/>
          <p:nvPr/>
        </p:nvSpPr>
        <p:spPr>
          <a:xfrm>
            <a:off x="6629003" y="4026694"/>
            <a:ext cx="4747022" cy="985705"/>
          </a:xfrm>
          <a:prstGeom prst="roundRect">
            <a:avLst>
              <a:gd name="adj" fmla="val 7408"/>
            </a:avLst>
          </a:prstGeom>
          <a:solidFill>
            <a:srgbClr val="FCFBF7"/>
          </a:solidFill>
          <a:ln w="6350">
            <a:solidFill>
              <a:srgbClr val="DCD8CC"/>
            </a:solidFill>
            <a:prstDash val="solid"/>
          </a:ln>
        </p:spPr>
        <p:txBody>
          <a:bodyPr/>
          <a:lstStyle/>
          <a:p>
            <a:endParaRPr lang="en-US"/>
          </a:p>
        </p:txBody>
      </p:sp>
      <p:sp>
        <p:nvSpPr>
          <p:cNvPr id="14" name="Text 12"/>
          <p:cNvSpPr/>
          <p:nvPr/>
        </p:nvSpPr>
        <p:spPr>
          <a:xfrm>
            <a:off x="6799395" y="4171702"/>
            <a:ext cx="453842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B67A8"/>
                </a:solidFill>
                <a:latin typeface="IBM Plex Sans" pitchFamily="34" charset="0"/>
                <a:ea typeface="IBM Plex Sans" pitchFamily="34" charset="-122"/>
                <a:cs typeface="IBM Plex Sans" pitchFamily="34" charset="-120"/>
              </a:rPr>
              <a:t>Ways to deploy</a:t>
            </a:r>
            <a:endParaRPr lang="en-US" sz="1300" dirty="0"/>
          </a:p>
        </p:txBody>
      </p:sp>
      <p:sp>
        <p:nvSpPr>
          <p:cNvPr id="15" name="Text 13"/>
          <p:cNvSpPr/>
          <p:nvPr/>
        </p:nvSpPr>
        <p:spPr>
          <a:xfrm>
            <a:off x="6799395" y="4440907"/>
            <a:ext cx="4538426"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IaC accelerator with Bicep or Terraform (recommended) · Portal accelerator · Azure Verified Modules</a:t>
            </a:r>
            <a:endParaRPr lang="en-US" sz="1200" dirty="0"/>
          </a:p>
        </p:txBody>
      </p:sp>
      <p:sp>
        <p:nvSpPr>
          <p:cNvPr id="16" name="Text 14"/>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AWS EQUIVALENT</a:t>
            </a:r>
            <a:endParaRPr lang="en-US" sz="1200" dirty="0"/>
          </a:p>
        </p:txBody>
      </p:sp>
      <p:sp>
        <p:nvSpPr>
          <p:cNvPr id="3" name="Text 1"/>
          <p:cNvSpPr>
            <a:spLocks noGrp="1"/>
          </p:cNvSpPr>
          <p:nvPr>
            <p:ph type="title"/>
          </p:nvPr>
        </p:nvSpPr>
        <p:spPr>
          <a:xfrm>
            <a:off x="812800" y="100067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AWS Control Tower and its add-ons</a:t>
            </a:r>
            <a:endParaRPr lang="en-US" sz="3000" dirty="0"/>
          </a:p>
        </p:txBody>
      </p:sp>
      <p:sp>
        <p:nvSpPr>
          <p:cNvPr id="4" name="Shape 2"/>
          <p:cNvSpPr/>
          <p:nvPr/>
        </p:nvSpPr>
        <p:spPr>
          <a:xfrm>
            <a:off x="812800" y="1622971"/>
            <a:ext cx="5346700" cy="3416300"/>
          </a:xfrm>
          <a:prstGeom prst="roundRect">
            <a:avLst>
              <a:gd name="adj" fmla="val 2974"/>
            </a:avLst>
          </a:prstGeom>
          <a:solidFill>
            <a:srgbClr val="13233A"/>
          </a:solidFill>
          <a:ln/>
        </p:spPr>
        <p:txBody>
          <a:bodyPr/>
          <a:lstStyle/>
          <a:p>
            <a:endParaRPr lang="en-US"/>
          </a:p>
        </p:txBody>
      </p:sp>
      <p:sp>
        <p:nvSpPr>
          <p:cNvPr id="5" name="Text 3"/>
          <p:cNvSpPr/>
          <p:nvPr/>
        </p:nvSpPr>
        <p:spPr>
          <a:xfrm>
            <a:off x="990600" y="1800771"/>
            <a:ext cx="5140833" cy="238654"/>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2A65A"/>
                </a:solidFill>
                <a:latin typeface="IBM Plex Sans" pitchFamily="34" charset="0"/>
                <a:ea typeface="IBM Plex Sans" pitchFamily="34" charset="-122"/>
                <a:cs typeface="IBM Plex Sans" pitchFamily="34" charset="-120"/>
              </a:rPr>
              <a:t>Control Tower landing zone</a:t>
            </a:r>
            <a:endParaRPr lang="en-US" sz="1200" dirty="0"/>
          </a:p>
        </p:txBody>
      </p:sp>
      <p:sp>
        <p:nvSpPr>
          <p:cNvPr id="6" name="Text 4"/>
          <p:cNvSpPr/>
          <p:nvPr/>
        </p:nvSpPr>
        <p:spPr>
          <a:xfrm>
            <a:off x="990600" y="2064817"/>
            <a:ext cx="5140833" cy="1625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Management account</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Security OU</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Log Archive account</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Audit account</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Sandbox OU</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Workload OUs</a:t>
            </a:r>
            <a:endParaRPr lang="en-US" sz="1200" dirty="0"/>
          </a:p>
          <a:p>
            <a:pPr marL="0" indent="0" algn="l">
              <a:lnSpc>
                <a:spcPts val="1800"/>
              </a:lnSpc>
              <a:buNone/>
            </a:pPr>
            <a:r>
              <a:rPr lang="en-US" sz="1200" dirty="0">
                <a:solidFill>
                  <a:srgbClr val="E8EDF3"/>
                </a:solidFill>
                <a:latin typeface="JetBrains Mono" pitchFamily="49" charset="0"/>
                <a:ea typeface="JetBrains Mono" pitchFamily="49" charset="-122"/>
                <a:cs typeface="JetBrains Mono" pitchFamily="49" charset="-120"/>
              </a:rPr>
              <a:t>  └ accounts from Account Factory</a:t>
            </a:r>
            <a:endParaRPr lang="en-US" sz="1200" dirty="0"/>
          </a:p>
        </p:txBody>
      </p:sp>
      <p:sp>
        <p:nvSpPr>
          <p:cNvPr id="7" name="Text 5"/>
          <p:cNvSpPr/>
          <p:nvPr/>
        </p:nvSpPr>
        <p:spPr>
          <a:xfrm>
            <a:off x="990600" y="3715817"/>
            <a:ext cx="5140833" cy="451908"/>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6D6"/>
                </a:solidFill>
                <a:latin typeface="IBM Plex Sans" pitchFamily="34" charset="0"/>
                <a:ea typeface="IBM Plex Sans" pitchFamily="34" charset="-122"/>
                <a:cs typeface="IBM Plex Sans" pitchFamily="34" charset="-120"/>
              </a:rPr>
              <a:t>Controls: preventive (SCPs), detective (Config rules), proactive (CloudFormation hooks)</a:t>
            </a:r>
            <a:endParaRPr lang="en-US" sz="1200" dirty="0"/>
          </a:p>
        </p:txBody>
      </p:sp>
      <p:sp>
        <p:nvSpPr>
          <p:cNvPr id="8" name="Text 6"/>
          <p:cNvSpPr/>
          <p:nvPr/>
        </p:nvSpPr>
        <p:spPr>
          <a:xfrm>
            <a:off x="6391275" y="1626146"/>
            <a:ext cx="4984750" cy="477838"/>
          </a:xfrm>
          <a:prstGeom prst="roundRect">
            <a:avLst>
              <a:gd name="adj" fmla="val 15282"/>
            </a:avLst>
          </a:prstGeom>
          <a:solidFill>
            <a:srgbClr val="FCFBF7"/>
          </a:solidFill>
          <a:ln w="6350">
            <a:solidFill>
              <a:srgbClr val="DCD8CC"/>
            </a:solidFill>
            <a:prstDash val="solid"/>
          </a:ln>
        </p:spPr>
        <p:txBody>
          <a:bodyPr wrap="square" lIns="136304" tIns="110903" rIns="0" bIns="85503" rtlCol="0" anchor="t">
            <a:normAutofit/>
          </a:bodyPr>
          <a:lstStyle/>
          <a:p>
            <a:pPr marL="0" indent="0" algn="l">
              <a:lnSpc>
                <a:spcPts val="1680"/>
              </a:lnSpc>
              <a:buNone/>
            </a:pPr>
            <a:r>
              <a:rPr lang="en-US" sz="1200" b="1" dirty="0">
                <a:solidFill>
                  <a:srgbClr val="2B67A8"/>
                </a:solidFill>
                <a:latin typeface="IBM Plex Sans" pitchFamily="34" charset="0"/>
                <a:ea typeface="IBM Plex Sans" pitchFamily="34" charset="-122"/>
                <a:cs typeface="IBM Plex Sans" pitchFamily="34" charset="-120"/>
              </a:rPr>
              <a:t>Control Tower alone</a:t>
            </a:r>
            <a:r>
              <a:rPr lang="en-US" sz="1200" dirty="0">
                <a:solidFill>
                  <a:srgbClr val="3D4A5C"/>
                </a:solidFill>
                <a:latin typeface="IBM Plex Sans" pitchFamily="34" charset="0"/>
                <a:ea typeface="IBM Plex Sans" pitchFamily="34" charset="-122"/>
                <a:cs typeface="IBM Plex Sans" pitchFamily="34" charset="-120"/>
              </a:rPr>
              <a:t> · managed baseline, set up in the console</a:t>
            </a:r>
            <a:endParaRPr lang="en-US" sz="1200" dirty="0"/>
          </a:p>
        </p:txBody>
      </p:sp>
      <p:sp>
        <p:nvSpPr>
          <p:cNvPr id="9" name="Text 7"/>
          <p:cNvSpPr/>
          <p:nvPr/>
        </p:nvSpPr>
        <p:spPr>
          <a:xfrm>
            <a:off x="6391275" y="2199233"/>
            <a:ext cx="4984750" cy="691092"/>
          </a:xfrm>
          <a:prstGeom prst="roundRect">
            <a:avLst>
              <a:gd name="adj" fmla="val 10567"/>
            </a:avLst>
          </a:prstGeom>
          <a:solidFill>
            <a:srgbClr val="FCFBF7"/>
          </a:solidFill>
          <a:ln w="6350">
            <a:solidFill>
              <a:srgbClr val="DCD8CC"/>
            </a:solidFill>
            <a:prstDash val="solid"/>
          </a:ln>
        </p:spPr>
        <p:txBody>
          <a:bodyPr wrap="square" lIns="136304" tIns="110903" rIns="0" bIns="85503" rtlCol="0" anchor="t">
            <a:normAutofit/>
          </a:bodyPr>
          <a:lstStyle/>
          <a:p>
            <a:pPr marL="0" indent="0" algn="l">
              <a:lnSpc>
                <a:spcPts val="1680"/>
              </a:lnSpc>
              <a:buNone/>
            </a:pPr>
            <a:r>
              <a:rPr lang="en-US" sz="1200" b="1" dirty="0">
                <a:solidFill>
                  <a:srgbClr val="2B67A8"/>
                </a:solidFill>
                <a:latin typeface="IBM Plex Sans" pitchFamily="34" charset="0"/>
                <a:ea typeface="IBM Plex Sans" pitchFamily="34" charset="-122"/>
                <a:cs typeface="IBM Plex Sans" pitchFamily="34" charset="-120"/>
              </a:rPr>
              <a:t>+ Landing Zone Accelerator</a:t>
            </a:r>
            <a:r>
              <a:rPr lang="en-US" sz="1200" dirty="0">
                <a:solidFill>
                  <a:srgbClr val="3D4A5C"/>
                </a:solidFill>
                <a:latin typeface="IBM Plex Sans" pitchFamily="34" charset="0"/>
                <a:ea typeface="IBM Plex Sans" pitchFamily="34" charset="-122"/>
                <a:cs typeface="IBM Plex Sans" pitchFamily="34" charset="-120"/>
              </a:rPr>
              <a:t> · CDK solution for regulated, compliance-heavy estates</a:t>
            </a:r>
            <a:endParaRPr lang="en-US" sz="1200" dirty="0"/>
          </a:p>
        </p:txBody>
      </p:sp>
      <p:sp>
        <p:nvSpPr>
          <p:cNvPr id="10" name="Text 8"/>
          <p:cNvSpPr/>
          <p:nvPr/>
        </p:nvSpPr>
        <p:spPr>
          <a:xfrm>
            <a:off x="6391275" y="2985567"/>
            <a:ext cx="4984750" cy="691092"/>
          </a:xfrm>
          <a:prstGeom prst="roundRect">
            <a:avLst>
              <a:gd name="adj" fmla="val 10567"/>
            </a:avLst>
          </a:prstGeom>
          <a:solidFill>
            <a:srgbClr val="FCFBF7"/>
          </a:solidFill>
          <a:ln w="6350">
            <a:solidFill>
              <a:srgbClr val="DCD8CC"/>
            </a:solidFill>
            <a:prstDash val="solid"/>
          </a:ln>
        </p:spPr>
        <p:txBody>
          <a:bodyPr wrap="square" lIns="136304" tIns="110903" rIns="0" bIns="85503" rtlCol="0" anchor="t">
            <a:normAutofit/>
          </a:bodyPr>
          <a:lstStyle/>
          <a:p>
            <a:pPr marL="0" indent="0" algn="l">
              <a:lnSpc>
                <a:spcPts val="1680"/>
              </a:lnSpc>
              <a:buNone/>
            </a:pPr>
            <a:r>
              <a:rPr lang="en-US" sz="1200" b="1" dirty="0">
                <a:solidFill>
                  <a:srgbClr val="2B67A8"/>
                </a:solidFill>
                <a:latin typeface="IBM Plex Sans" pitchFamily="34" charset="0"/>
                <a:ea typeface="IBM Plex Sans" pitchFamily="34" charset="-122"/>
                <a:cs typeface="IBM Plex Sans" pitchFamily="34" charset="-120"/>
              </a:rPr>
              <a:t>+ Account Factory for Terraform</a:t>
            </a:r>
            <a:r>
              <a:rPr lang="en-US" sz="1200" dirty="0">
                <a:solidFill>
                  <a:srgbClr val="3D4A5C"/>
                </a:solidFill>
                <a:latin typeface="IBM Plex Sans" pitchFamily="34" charset="0"/>
                <a:ea typeface="IBM Plex Sans" pitchFamily="34" charset="-122"/>
                <a:cs typeface="IBM Plex Sans" pitchFamily="34" charset="-120"/>
              </a:rPr>
              <a:t> · vend accounts from a Terraform pipeline</a:t>
            </a:r>
            <a:endParaRPr lang="en-US" sz="1200" dirty="0"/>
          </a:p>
        </p:txBody>
      </p:sp>
      <p:sp>
        <p:nvSpPr>
          <p:cNvPr id="11" name="Text 9"/>
          <p:cNvSpPr/>
          <p:nvPr/>
        </p:nvSpPr>
        <p:spPr>
          <a:xfrm>
            <a:off x="6391275" y="3771900"/>
            <a:ext cx="4984750" cy="691092"/>
          </a:xfrm>
          <a:prstGeom prst="roundRect">
            <a:avLst>
              <a:gd name="adj" fmla="val 10567"/>
            </a:avLst>
          </a:prstGeom>
          <a:solidFill>
            <a:srgbClr val="FCFBF7"/>
          </a:solidFill>
          <a:ln w="6350">
            <a:solidFill>
              <a:srgbClr val="DCD8CC"/>
            </a:solidFill>
            <a:prstDash val="solid"/>
          </a:ln>
        </p:spPr>
        <p:txBody>
          <a:bodyPr wrap="square" lIns="136304" tIns="110903" rIns="0" bIns="85503" rtlCol="0" anchor="t">
            <a:normAutofit/>
          </a:bodyPr>
          <a:lstStyle/>
          <a:p>
            <a:pPr marL="0" indent="0" algn="l">
              <a:lnSpc>
                <a:spcPts val="1680"/>
              </a:lnSpc>
              <a:buNone/>
            </a:pPr>
            <a:r>
              <a:rPr lang="en-US" sz="1200" b="1" dirty="0">
                <a:solidFill>
                  <a:srgbClr val="2B67A8"/>
                </a:solidFill>
                <a:latin typeface="IBM Plex Sans" pitchFamily="34" charset="0"/>
                <a:ea typeface="IBM Plex Sans" pitchFamily="34" charset="-122"/>
                <a:cs typeface="IBM Plex Sans" pitchFamily="34" charset="-120"/>
              </a:rPr>
              <a:t>+ Customizations for Control Tower</a:t>
            </a:r>
            <a:r>
              <a:rPr lang="en-US" sz="1200" dirty="0">
                <a:solidFill>
                  <a:srgbClr val="3D4A5C"/>
                </a:solidFill>
                <a:latin typeface="IBM Plex Sans" pitchFamily="34" charset="0"/>
                <a:ea typeface="IBM Plex Sans" pitchFamily="34" charset="-122"/>
                <a:cs typeface="IBM Plex Sans" pitchFamily="34" charset="-120"/>
              </a:rPr>
              <a:t> · extra CloudFormation and SCPs</a:t>
            </a:r>
            <a:endParaRPr lang="en-US" sz="1200" dirty="0"/>
          </a:p>
        </p:txBody>
      </p:sp>
      <p:sp>
        <p:nvSpPr>
          <p:cNvPr id="12" name="Text 10"/>
          <p:cNvSpPr/>
          <p:nvPr/>
        </p:nvSpPr>
        <p:spPr>
          <a:xfrm>
            <a:off x="6391275" y="4558258"/>
            <a:ext cx="4984750" cy="477838"/>
          </a:xfrm>
          <a:prstGeom prst="roundRect">
            <a:avLst>
              <a:gd name="adj" fmla="val 15282"/>
            </a:avLst>
          </a:prstGeom>
          <a:solidFill>
            <a:srgbClr val="FCFBF7"/>
          </a:solidFill>
          <a:ln w="6350">
            <a:solidFill>
              <a:srgbClr val="DCD8CC"/>
            </a:solidFill>
            <a:prstDash val="solid"/>
          </a:ln>
        </p:spPr>
        <p:txBody>
          <a:bodyPr wrap="square" lIns="136304" tIns="110903" rIns="0" bIns="85503" rtlCol="0" anchor="t">
            <a:normAutofit/>
          </a:bodyPr>
          <a:lstStyle/>
          <a:p>
            <a:pPr marL="0" indent="0" algn="l">
              <a:lnSpc>
                <a:spcPts val="1680"/>
              </a:lnSpc>
              <a:buNone/>
            </a:pPr>
            <a:r>
              <a:rPr lang="en-US" sz="1200" b="1" dirty="0">
                <a:solidFill>
                  <a:srgbClr val="2B67A8"/>
                </a:solidFill>
                <a:latin typeface="IBM Plex Sans" pitchFamily="34" charset="0"/>
                <a:ea typeface="IBM Plex Sans" pitchFamily="34" charset="-122"/>
                <a:cs typeface="IBM Plex Sans" pitchFamily="34" charset="-120"/>
              </a:rPr>
              <a:t>Custom</a:t>
            </a:r>
            <a:r>
              <a:rPr lang="en-US" sz="1200" dirty="0">
                <a:solidFill>
                  <a:srgbClr val="3D4A5C"/>
                </a:solidFill>
                <a:latin typeface="IBM Plex Sans" pitchFamily="34" charset="0"/>
                <a:ea typeface="IBM Plex Sans" pitchFamily="34" charset="-122"/>
                <a:cs typeface="IBM Plex Sans" pitchFamily="34" charset="-120"/>
              </a:rPr>
              <a:t> · AWS Organizations built by hand</a:t>
            </a:r>
            <a:endParaRPr lang="en-US" sz="1200" dirty="0"/>
          </a:p>
        </p:txBody>
      </p:sp>
      <p:sp>
        <p:nvSpPr>
          <p:cNvPr id="13" name="Text 11"/>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LANDING ZONE LAB · 6 MIN</a:t>
            </a:r>
            <a:endParaRPr lang="en-US" sz="1200" dirty="0"/>
          </a:p>
        </p:txBody>
      </p:sp>
      <p:sp>
        <p:nvSpPr>
          <p:cNvPr id="3" name="Text 1"/>
          <p:cNvSpPr>
            <a:spLocks noGrp="1"/>
          </p:cNvSpPr>
          <p:nvPr>
            <p:ph type="title"/>
          </p:nvPr>
        </p:nvSpPr>
        <p:spPr>
          <a:xfrm>
            <a:off x="812800" y="100067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Build a mini landing zone in Azure, tour the AWS one</a:t>
            </a:r>
            <a:endParaRPr lang="en-US" sz="3000" dirty="0"/>
          </a:p>
        </p:txBody>
      </p:sp>
      <p:sp>
        <p:nvSpPr>
          <p:cNvPr id="4" name="Shape 2"/>
          <p:cNvSpPr/>
          <p:nvPr/>
        </p:nvSpPr>
        <p:spPr>
          <a:xfrm>
            <a:off x="815975" y="1626146"/>
            <a:ext cx="5612474" cy="2443163"/>
          </a:xfrm>
          <a:prstGeom prst="roundRect">
            <a:avLst>
              <a:gd name="adj" fmla="val 4029"/>
            </a:avLst>
          </a:prstGeom>
          <a:solidFill>
            <a:srgbClr val="FCFBF7"/>
          </a:solidFill>
          <a:ln w="6350">
            <a:solidFill>
              <a:srgbClr val="DCD8CC"/>
            </a:solidFill>
            <a:prstDash val="solid"/>
          </a:ln>
        </p:spPr>
        <p:txBody>
          <a:bodyPr/>
          <a:lstStyle/>
          <a:p>
            <a:endParaRPr lang="en-US"/>
          </a:p>
        </p:txBody>
      </p:sp>
      <p:sp>
        <p:nvSpPr>
          <p:cNvPr id="5" name="Text 3"/>
          <p:cNvSpPr/>
          <p:nvPr/>
        </p:nvSpPr>
        <p:spPr>
          <a:xfrm>
            <a:off x="999067" y="1809229"/>
            <a:ext cx="540367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Azure · hands-on, free</a:t>
            </a:r>
            <a:endParaRPr lang="en-US" sz="1500" dirty="0"/>
          </a:p>
        </p:txBody>
      </p:sp>
      <p:sp>
        <p:nvSpPr>
          <p:cNvPr id="6" name="Text 4"/>
          <p:cNvSpPr/>
          <p:nvPr/>
        </p:nvSpPr>
        <p:spPr>
          <a:xfrm>
            <a:off x="1083998" y="2114029"/>
            <a:ext cx="5311128" cy="1731433"/>
          </a:xfrm>
          <a:prstGeom prst="rect">
            <a:avLst/>
          </a:prstGeom>
          <a:noFill/>
          <a:ln/>
        </p:spPr>
        <p:txBody>
          <a:bodyPr wrap="square" lIns="0" tIns="0" rIns="0" bIns="0" rtlCol="0" anchor="t">
            <a:normAutofit/>
          </a:bodyPr>
          <a:lstStyle/>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Search </a:t>
            </a:r>
            <a:r>
              <a:rPr lang="en-US" sz="1200" b="1" dirty="0">
                <a:solidFill>
                  <a:srgbClr val="2A3646"/>
                </a:solidFill>
                <a:latin typeface="IBM Plex Sans" pitchFamily="34" charset="0"/>
                <a:ea typeface="IBM Plex Sans" pitchFamily="34" charset="-122"/>
                <a:cs typeface="IBM Plex Sans" pitchFamily="34" charset="-120"/>
              </a:rPr>
              <a:t>Management groups</a:t>
            </a:r>
            <a:r>
              <a:rPr lang="en-US" sz="1200" dirty="0">
                <a:solidFill>
                  <a:srgbClr val="2A3646"/>
                </a:solidFill>
                <a:latin typeface="IBM Plex Sans" pitchFamily="34" charset="0"/>
                <a:ea typeface="IBM Plex Sans" pitchFamily="34" charset="-122"/>
                <a:cs typeface="IBM Plex Sans" pitchFamily="34" charset="-120"/>
              </a:rPr>
              <a:t> › Start using management groups</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 Create </a:t>
            </a:r>
            <a:r>
              <a:rPr lang="en-US" sz="1200" b="1" dirty="0">
                <a:solidFill>
                  <a:srgbClr val="2A3646"/>
                </a:solidFill>
                <a:latin typeface="IBM Plex Sans" pitchFamily="34" charset="0"/>
                <a:ea typeface="IBM Plex Sans" pitchFamily="34" charset="-122"/>
                <a:cs typeface="IBM Plex Sans" pitchFamily="34" charset="-120"/>
              </a:rPr>
              <a:t>mg-iec</a:t>
            </a:r>
            <a:r>
              <a:rPr lang="en-US" sz="1200" dirty="0">
                <a:solidFill>
                  <a:srgbClr val="2A3646"/>
                </a:solidFill>
                <a:latin typeface="IBM Plex Sans" pitchFamily="34" charset="0"/>
                <a:ea typeface="IBM Plex Sans" pitchFamily="34" charset="-122"/>
                <a:cs typeface="IBM Plex Sans" pitchFamily="34" charset="-120"/>
              </a:rPr>
              <a:t>; under it mg-platform, mg-landingzones, mg-sandbox</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Subscription row › ⋯ › </a:t>
            </a:r>
            <a:r>
              <a:rPr lang="en-US" sz="1200" b="1" dirty="0">
                <a:solidFill>
                  <a:srgbClr val="2A3646"/>
                </a:solidFill>
                <a:latin typeface="IBM Plex Sans" pitchFamily="34" charset="0"/>
                <a:ea typeface="IBM Plex Sans" pitchFamily="34" charset="-122"/>
                <a:cs typeface="IBM Plex Sans" pitchFamily="34" charset="-120"/>
              </a:rPr>
              <a:t>Move</a:t>
            </a:r>
            <a:r>
              <a:rPr lang="en-US" sz="1200" dirty="0">
                <a:solidFill>
                  <a:srgbClr val="2A3646"/>
                </a:solidFill>
                <a:latin typeface="IBM Plex Sans" pitchFamily="34" charset="0"/>
                <a:ea typeface="IBM Plex Sans" pitchFamily="34" charset="-122"/>
                <a:cs typeface="IBM Plex Sans" pitchFamily="34" charset="-120"/>
              </a:rPr>
              <a:t> › mg-sandbox</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Search </a:t>
            </a:r>
            <a:r>
              <a:rPr lang="en-US" sz="1200" b="1" dirty="0">
                <a:solidFill>
                  <a:srgbClr val="2A3646"/>
                </a:solidFill>
                <a:latin typeface="IBM Plex Sans" pitchFamily="34" charset="0"/>
                <a:ea typeface="IBM Plex Sans" pitchFamily="34" charset="-122"/>
                <a:cs typeface="IBM Plex Sans" pitchFamily="34" charset="-120"/>
              </a:rPr>
              <a:t>Policy</a:t>
            </a:r>
            <a:r>
              <a:rPr lang="en-US" sz="1200" dirty="0">
                <a:solidFill>
                  <a:srgbClr val="2A3646"/>
                </a:solidFill>
                <a:latin typeface="IBM Plex Sans" pitchFamily="34" charset="0"/>
                <a:ea typeface="IBM Plex Sans" pitchFamily="34" charset="-122"/>
                <a:cs typeface="IBM Plex Sans" pitchFamily="34" charset="-120"/>
              </a:rPr>
              <a:t> › Assignments › Assign policy › Scope mg-iec</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Definition </a:t>
            </a:r>
            <a:r>
              <a:rPr lang="en-US" sz="1200" b="1" dirty="0">
                <a:solidFill>
                  <a:srgbClr val="2A3646"/>
                </a:solidFill>
                <a:latin typeface="IBM Plex Sans" pitchFamily="34" charset="0"/>
                <a:ea typeface="IBM Plex Sans" pitchFamily="34" charset="-122"/>
                <a:cs typeface="IBM Plex Sans" pitchFamily="34" charset="-120"/>
              </a:rPr>
              <a:t>Allowed locations</a:t>
            </a:r>
            <a:r>
              <a:rPr lang="en-US" sz="1200" dirty="0">
                <a:solidFill>
                  <a:srgbClr val="2A3646"/>
                </a:solidFill>
                <a:latin typeface="IBM Plex Sans" pitchFamily="34" charset="0"/>
                <a:ea typeface="IBM Plex Sans" pitchFamily="34" charset="-122"/>
                <a:cs typeface="IBM Plex Sans" pitchFamily="34" charset="-120"/>
              </a:rPr>
              <a:t> › East US 2 › Review + create</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Test: create a public IP in West Europe → denied</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Tour: Learn › "Azure platform landing zone portal accelerator" › Deploy to Azure › read tabs › </a:t>
            </a:r>
            <a:r>
              <a:rPr lang="en-US" sz="1200" b="1" dirty="0">
                <a:solidFill>
                  <a:srgbClr val="2A3646"/>
                </a:solidFill>
                <a:latin typeface="IBM Plex Sans" pitchFamily="34" charset="0"/>
                <a:ea typeface="IBM Plex Sans" pitchFamily="34" charset="-122"/>
                <a:cs typeface="IBM Plex Sans" pitchFamily="34" charset="-120"/>
              </a:rPr>
              <a:t>Cancel</a:t>
            </a:r>
            <a:endParaRPr lang="en-US" sz="1200" dirty="0"/>
          </a:p>
        </p:txBody>
      </p:sp>
      <p:sp>
        <p:nvSpPr>
          <p:cNvPr id="7" name="Shape 5"/>
          <p:cNvSpPr/>
          <p:nvPr/>
        </p:nvSpPr>
        <p:spPr>
          <a:xfrm>
            <a:off x="6637999" y="1626146"/>
            <a:ext cx="4738026" cy="2443163"/>
          </a:xfrm>
          <a:prstGeom prst="roundRect">
            <a:avLst>
              <a:gd name="adj" fmla="val 4029"/>
            </a:avLst>
          </a:prstGeom>
          <a:solidFill>
            <a:srgbClr val="FCFBF7"/>
          </a:solidFill>
          <a:ln w="6350">
            <a:solidFill>
              <a:srgbClr val="DCD8CC"/>
            </a:solidFill>
            <a:prstDash val="solid"/>
          </a:ln>
        </p:spPr>
        <p:txBody>
          <a:bodyPr/>
          <a:lstStyle/>
          <a:p>
            <a:endParaRPr lang="en-US"/>
          </a:p>
        </p:txBody>
      </p:sp>
      <p:sp>
        <p:nvSpPr>
          <p:cNvPr id="8" name="Text 6"/>
          <p:cNvSpPr/>
          <p:nvPr/>
        </p:nvSpPr>
        <p:spPr>
          <a:xfrm>
            <a:off x="6821091" y="1809229"/>
            <a:ext cx="450299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8521F"/>
                </a:solidFill>
                <a:latin typeface="IBM Plex Sans" pitchFamily="34" charset="0"/>
                <a:ea typeface="IBM Plex Sans" pitchFamily="34" charset="-122"/>
                <a:cs typeface="IBM Plex Sans" pitchFamily="34" charset="-120"/>
              </a:rPr>
              <a:t>AWS · tour only</a:t>
            </a:r>
            <a:endParaRPr lang="en-US" sz="1500" dirty="0"/>
          </a:p>
        </p:txBody>
      </p:sp>
      <p:sp>
        <p:nvSpPr>
          <p:cNvPr id="9" name="Text 7"/>
          <p:cNvSpPr/>
          <p:nvPr/>
        </p:nvSpPr>
        <p:spPr>
          <a:xfrm>
            <a:off x="6906022" y="2114029"/>
            <a:ext cx="4410447" cy="1091671"/>
          </a:xfrm>
          <a:prstGeom prst="rect">
            <a:avLst/>
          </a:prstGeom>
          <a:noFill/>
          <a:ln/>
        </p:spPr>
        <p:txBody>
          <a:bodyPr wrap="square" lIns="0" tIns="0" rIns="0" bIns="0" rtlCol="0" anchor="t">
            <a:normAutofit/>
          </a:bodyPr>
          <a:lstStyle/>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Search </a:t>
            </a:r>
            <a:r>
              <a:rPr lang="en-US" sz="1200" b="1" dirty="0">
                <a:solidFill>
                  <a:srgbClr val="2A3646"/>
                </a:solidFill>
                <a:latin typeface="IBM Plex Sans" pitchFamily="34" charset="0"/>
                <a:ea typeface="IBM Plex Sans" pitchFamily="34" charset="-122"/>
                <a:cs typeface="IBM Plex Sans" pitchFamily="34" charset="-120"/>
              </a:rPr>
              <a:t>Control Tower</a:t>
            </a:r>
            <a:r>
              <a:rPr lang="en-US" sz="1200" dirty="0">
                <a:solidFill>
                  <a:srgbClr val="2A3646"/>
                </a:solidFill>
                <a:latin typeface="IBM Plex Sans" pitchFamily="34" charset="0"/>
                <a:ea typeface="IBM Plex Sans" pitchFamily="34" charset="-122"/>
                <a:cs typeface="IBM Plex Sans" pitchFamily="34" charset="-120"/>
              </a:rPr>
              <a:t> › Set up landing zone</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Read: home Region, Security and Sandbox OUs, Log Archive and Audit emails, CloudTrail, KMS</a:t>
            </a:r>
            <a:endParaRPr lang="en-US" sz="1200" dirty="0"/>
          </a:p>
          <a:p>
            <a:pPr marL="169069" indent="-169069" algn="l">
              <a:lnSpc>
                <a:spcPts val="1680"/>
              </a:lnSpc>
              <a:buSzPct val="100000"/>
              <a:buFontTx/>
              <a:buAutoNum type="arabicPeriod"/>
            </a:pPr>
            <a:r>
              <a:rPr lang="en-US" sz="1200" b="1" dirty="0">
                <a:solidFill>
                  <a:srgbClr val="2A3646"/>
                </a:solidFill>
                <a:latin typeface="IBM Plex Sans" pitchFamily="34" charset="0"/>
                <a:ea typeface="IBM Plex Sans" pitchFamily="34" charset="-122"/>
                <a:cs typeface="IBM Plex Sans" pitchFamily="34" charset="-120"/>
              </a:rPr>
              <a:t>Stop. Do not click Set up landing zone.</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Search </a:t>
            </a:r>
            <a:r>
              <a:rPr lang="en-US" sz="1200" b="1" dirty="0">
                <a:solidFill>
                  <a:srgbClr val="2A3646"/>
                </a:solidFill>
                <a:latin typeface="IBM Plex Sans" pitchFamily="34" charset="0"/>
                <a:ea typeface="IBM Plex Sans" pitchFamily="34" charset="-122"/>
                <a:cs typeface="IBM Plex Sans" pitchFamily="34" charset="-120"/>
              </a:rPr>
              <a:t>Organizations</a:t>
            </a:r>
            <a:r>
              <a:rPr lang="en-US" sz="1200" dirty="0">
                <a:solidFill>
                  <a:srgbClr val="2A3646"/>
                </a:solidFill>
                <a:latin typeface="IBM Plex Sans" pitchFamily="34" charset="0"/>
                <a:ea typeface="IBM Plex Sans" pitchFamily="34" charset="-122"/>
                <a:cs typeface="IBM Plex Sans" pitchFamily="34" charset="-120"/>
              </a:rPr>
              <a:t> › read the page › do not Create</a:t>
            </a:r>
            <a:endParaRPr lang="en-US" sz="1200" dirty="0"/>
          </a:p>
        </p:txBody>
      </p:sp>
      <p:sp>
        <p:nvSpPr>
          <p:cNvPr id="10" name="Text 8"/>
          <p:cNvSpPr/>
          <p:nvPr/>
        </p:nvSpPr>
        <p:spPr>
          <a:xfrm>
            <a:off x="6821091" y="3256508"/>
            <a:ext cx="4371843" cy="629708"/>
          </a:xfrm>
          <a:prstGeom prst="roundRect">
            <a:avLst>
              <a:gd name="adj" fmla="val 12101"/>
            </a:avLst>
          </a:prstGeom>
          <a:solidFill>
            <a:srgbClr val="FBE6D6"/>
          </a:solidFill>
          <a:ln/>
        </p:spPr>
        <p:txBody>
          <a:bodyPr wrap="square" lIns="104682" tIns="79282" rIns="0" bIns="53882" rtlCol="0" anchor="t">
            <a:normAutofit/>
          </a:bodyPr>
          <a:lstStyle/>
          <a:p>
            <a:pPr marL="0" indent="0" algn="l">
              <a:lnSpc>
                <a:spcPts val="1680"/>
              </a:lnSpc>
              <a:buNone/>
            </a:pPr>
            <a:r>
              <a:rPr lang="en-US" sz="1200" dirty="0">
                <a:solidFill>
                  <a:srgbClr val="3D4A5C"/>
                </a:solidFill>
                <a:latin typeface="IBM Plex Sans" pitchFamily="34" charset="0"/>
                <a:ea typeface="IBM Plex Sans" pitchFamily="34" charset="-122"/>
                <a:cs typeface="IBM Plex Sans" pitchFamily="34" charset="-120"/>
              </a:rPr>
              <a:t>Either action moves a Free plan account to Paid and ends its credits.</a:t>
            </a:r>
            <a:endParaRPr lang="en-US" sz="1200" dirty="0"/>
          </a:p>
        </p:txBody>
      </p:sp>
      <p:sp>
        <p:nvSpPr>
          <p:cNvPr id="11" name="Text 9"/>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654"/>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8521F"/>
                </a:solidFill>
                <a:latin typeface="IBM Plex Sans" pitchFamily="34" charset="0"/>
                <a:ea typeface="IBM Plex Sans" pitchFamily="34" charset="-122"/>
                <a:cs typeface="IBM Plex Sans" pitchFamily="34" charset="-120"/>
              </a:rPr>
              <a:t>BEFORE YOU LEAVE · 3 MINUTES</a:t>
            </a:r>
            <a:endParaRPr lang="en-US" sz="1200" dirty="0"/>
          </a:p>
        </p:txBody>
      </p:sp>
      <p:sp>
        <p:nvSpPr>
          <p:cNvPr id="3" name="Text 1"/>
          <p:cNvSpPr>
            <a:spLocks noGrp="1"/>
          </p:cNvSpPr>
          <p:nvPr>
            <p:ph type="title"/>
          </p:nvPr>
        </p:nvSpPr>
        <p:spPr>
          <a:xfrm>
            <a:off x="812800" y="1000671"/>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3233A"/>
                </a:solidFill>
                <a:latin typeface="IBM Plex Sans" pitchFamily="34" charset="0"/>
                <a:ea typeface="IBM Plex Sans" pitchFamily="34" charset="-122"/>
                <a:cs typeface="IBM Plex Sans" pitchFamily="34" charset="-120"/>
              </a:rPr>
              <a:t>Clean up everything</a:t>
            </a:r>
            <a:endParaRPr lang="en-US" sz="3000" dirty="0"/>
          </a:p>
        </p:txBody>
      </p:sp>
      <p:sp>
        <p:nvSpPr>
          <p:cNvPr id="4" name="Shape 2"/>
          <p:cNvSpPr/>
          <p:nvPr/>
        </p:nvSpPr>
        <p:spPr>
          <a:xfrm>
            <a:off x="815975" y="1626146"/>
            <a:ext cx="5175250" cy="2067454"/>
          </a:xfrm>
          <a:prstGeom prst="roundRect">
            <a:avLst>
              <a:gd name="adj" fmla="val 4761"/>
            </a:avLst>
          </a:prstGeom>
          <a:solidFill>
            <a:srgbClr val="FCFBF7"/>
          </a:solidFill>
          <a:ln w="6350">
            <a:solidFill>
              <a:srgbClr val="DCD8CC"/>
            </a:solidFill>
            <a:prstDash val="solid"/>
          </a:ln>
        </p:spPr>
        <p:txBody>
          <a:bodyPr/>
          <a:lstStyle/>
          <a:p>
            <a:endParaRPr lang="en-US"/>
          </a:p>
        </p:txBody>
      </p:sp>
      <p:sp>
        <p:nvSpPr>
          <p:cNvPr id="5" name="Text 3"/>
          <p:cNvSpPr/>
          <p:nvPr/>
        </p:nvSpPr>
        <p:spPr>
          <a:xfrm>
            <a:off x="999067" y="1809229"/>
            <a:ext cx="495333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AWS, in this order</a:t>
            </a:r>
            <a:endParaRPr lang="en-US" sz="1500" dirty="0"/>
          </a:p>
        </p:txBody>
      </p:sp>
      <p:sp>
        <p:nvSpPr>
          <p:cNvPr id="6" name="Text 4"/>
          <p:cNvSpPr/>
          <p:nvPr/>
        </p:nvSpPr>
        <p:spPr>
          <a:xfrm>
            <a:off x="1083998" y="2114029"/>
            <a:ext cx="4860788" cy="1304925"/>
          </a:xfrm>
          <a:prstGeom prst="rect">
            <a:avLst/>
          </a:prstGeom>
          <a:noFill/>
          <a:ln/>
        </p:spPr>
        <p:txBody>
          <a:bodyPr wrap="square" lIns="0" tIns="0" rIns="0" bIns="0" rtlCol="0" anchor="t">
            <a:normAutofit/>
          </a:bodyPr>
          <a:lstStyle/>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EC2 › Instances › select web-1, app-1 › Instance state › </a:t>
            </a:r>
            <a:r>
              <a:rPr lang="en-US" sz="1200" b="1" dirty="0">
                <a:solidFill>
                  <a:srgbClr val="2A3646"/>
                </a:solidFill>
                <a:latin typeface="IBM Plex Sans" pitchFamily="34" charset="0"/>
                <a:ea typeface="IBM Plex Sans" pitchFamily="34" charset="-122"/>
                <a:cs typeface="IBM Plex Sans" pitchFamily="34" charset="-120"/>
              </a:rPr>
              <a:t>Terminate</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VPC › Endpoints › EIC endpoint › Actions › Delete</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Wait for instances to show Terminated</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Your VPCs › lab-vpc › Actions › </a:t>
            </a:r>
            <a:r>
              <a:rPr lang="en-US" sz="1200" b="1" dirty="0">
                <a:solidFill>
                  <a:srgbClr val="2A3646"/>
                </a:solidFill>
                <a:latin typeface="IBM Plex Sans" pitchFamily="34" charset="0"/>
                <a:ea typeface="IBM Plex Sans" pitchFamily="34" charset="-122"/>
                <a:cs typeface="IBM Plex Sans" pitchFamily="34" charset="-120"/>
              </a:rPr>
              <a:t>Delete VPC</a:t>
            </a:r>
            <a:r>
              <a:rPr lang="en-US" sz="1200" dirty="0">
                <a:solidFill>
                  <a:srgbClr val="2A3646"/>
                </a:solidFill>
                <a:latin typeface="IBM Plex Sans" pitchFamily="34" charset="0"/>
                <a:ea typeface="IBM Plex Sans" pitchFamily="34" charset="-122"/>
                <a:cs typeface="IBM Plex Sans" pitchFamily="34" charset="-120"/>
              </a:rPr>
              <a:t> (removes subnets, IGW, route tables, NACL, SGs)</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EC2 › Key pairs and Elastic IPs: none left</a:t>
            </a:r>
            <a:endParaRPr lang="en-US" sz="1200" dirty="0"/>
          </a:p>
        </p:txBody>
      </p:sp>
      <p:sp>
        <p:nvSpPr>
          <p:cNvPr id="7" name="Shape 5"/>
          <p:cNvSpPr/>
          <p:nvPr/>
        </p:nvSpPr>
        <p:spPr>
          <a:xfrm>
            <a:off x="6200775" y="1626146"/>
            <a:ext cx="5175250" cy="2067454"/>
          </a:xfrm>
          <a:prstGeom prst="roundRect">
            <a:avLst>
              <a:gd name="adj" fmla="val 4761"/>
            </a:avLst>
          </a:prstGeom>
          <a:solidFill>
            <a:srgbClr val="FCFBF7"/>
          </a:solidFill>
          <a:ln w="6350">
            <a:solidFill>
              <a:srgbClr val="DCD8CC"/>
            </a:solidFill>
            <a:prstDash val="solid"/>
          </a:ln>
        </p:spPr>
        <p:txBody>
          <a:bodyPr/>
          <a:lstStyle/>
          <a:p>
            <a:endParaRPr lang="en-US"/>
          </a:p>
        </p:txBody>
      </p:sp>
      <p:sp>
        <p:nvSpPr>
          <p:cNvPr id="8" name="Text 6"/>
          <p:cNvSpPr/>
          <p:nvPr/>
        </p:nvSpPr>
        <p:spPr>
          <a:xfrm>
            <a:off x="6383867" y="1809229"/>
            <a:ext cx="495333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67A8"/>
                </a:solidFill>
                <a:latin typeface="IBM Plex Sans" pitchFamily="34" charset="0"/>
                <a:ea typeface="IBM Plex Sans" pitchFamily="34" charset="-122"/>
                <a:cs typeface="IBM Plex Sans" pitchFamily="34" charset="-120"/>
              </a:rPr>
              <a:t>Azure</a:t>
            </a:r>
            <a:endParaRPr lang="en-US" sz="1500" dirty="0"/>
          </a:p>
        </p:txBody>
      </p:sp>
      <p:sp>
        <p:nvSpPr>
          <p:cNvPr id="9" name="Text 7"/>
          <p:cNvSpPr/>
          <p:nvPr/>
        </p:nvSpPr>
        <p:spPr>
          <a:xfrm>
            <a:off x="6468798" y="2114029"/>
            <a:ext cx="4860788" cy="878417"/>
          </a:xfrm>
          <a:prstGeom prst="rect">
            <a:avLst/>
          </a:prstGeom>
          <a:noFill/>
          <a:ln/>
        </p:spPr>
        <p:txBody>
          <a:bodyPr wrap="square" lIns="0" tIns="0" rIns="0" bIns="0" rtlCol="0" anchor="t">
            <a:normAutofit/>
          </a:bodyPr>
          <a:lstStyle/>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Resource groups › rg-netlab › </a:t>
            </a:r>
            <a:r>
              <a:rPr lang="en-US" sz="1200" b="1" dirty="0">
                <a:solidFill>
                  <a:srgbClr val="2A3646"/>
                </a:solidFill>
                <a:latin typeface="IBM Plex Sans" pitchFamily="34" charset="0"/>
                <a:ea typeface="IBM Plex Sans" pitchFamily="34" charset="-122"/>
                <a:cs typeface="IBM Plex Sans" pitchFamily="34" charset="-120"/>
              </a:rPr>
              <a:t>Delete resource group</a:t>
            </a:r>
            <a:r>
              <a:rPr lang="en-US" sz="1200" dirty="0">
                <a:solidFill>
                  <a:srgbClr val="2A3646"/>
                </a:solidFill>
                <a:latin typeface="IBM Plex Sans" pitchFamily="34" charset="0"/>
                <a:ea typeface="IBM Plex Sans" pitchFamily="34" charset="-122"/>
                <a:cs typeface="IBM Plex Sans" pitchFamily="34" charset="-120"/>
              </a:rPr>
              <a:t> › type the name › Delete</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Policy › Assignments › remove Allowed locations</a:t>
            </a:r>
            <a:endParaRPr lang="en-US" sz="1200" dirty="0"/>
          </a:p>
          <a:p>
            <a:pPr marL="169069" indent="-169069" algn="l">
              <a:lnSpc>
                <a:spcPts val="1680"/>
              </a:lnSpc>
              <a:buSzPct val="100000"/>
              <a:buFontTx/>
              <a:buAutoNum type="arabicPeriod"/>
            </a:pPr>
            <a:r>
              <a:rPr lang="en-US" sz="1200" dirty="0">
                <a:solidFill>
                  <a:srgbClr val="2A3646"/>
                </a:solidFill>
                <a:latin typeface="IBM Plex Sans" pitchFamily="34" charset="0"/>
                <a:ea typeface="IBM Plex Sans" pitchFamily="34" charset="-122"/>
                <a:cs typeface="IBM Plex Sans" pitchFamily="34" charset="-120"/>
              </a:rPr>
              <a:t>Management groups can stay (free) or be deleted bottom-up</a:t>
            </a:r>
            <a:endParaRPr lang="en-US" sz="1200" dirty="0"/>
          </a:p>
        </p:txBody>
      </p:sp>
      <p:sp>
        <p:nvSpPr>
          <p:cNvPr id="10" name="Text 8"/>
          <p:cNvSpPr/>
          <p:nvPr/>
        </p:nvSpPr>
        <p:spPr>
          <a:xfrm>
            <a:off x="6383867" y="3043238"/>
            <a:ext cx="4809067" cy="467254"/>
          </a:xfrm>
          <a:prstGeom prst="roundRect">
            <a:avLst>
              <a:gd name="adj" fmla="val 16308"/>
            </a:avLst>
          </a:prstGeom>
          <a:solidFill>
            <a:srgbClr val="13233A"/>
          </a:solidFill>
          <a:ln/>
        </p:spPr>
        <p:txBody>
          <a:bodyPr wrap="square" lIns="130082" tIns="104682" rIns="0" bIns="79282" rtlCol="0" anchor="t">
            <a:normAutofit/>
          </a:bodyPr>
          <a:lstStyle/>
          <a:p>
            <a:pPr marL="0" indent="0" algn="l">
              <a:lnSpc>
                <a:spcPts val="1680"/>
              </a:lnSpc>
              <a:buNone/>
            </a:pPr>
            <a:r>
              <a:rPr lang="en-US" sz="1200" dirty="0">
                <a:solidFill>
                  <a:srgbClr val="E8EDF3"/>
                </a:solidFill>
                <a:latin typeface="JetBrains Mono" pitchFamily="49" charset="0"/>
                <a:ea typeface="JetBrains Mono" pitchFamily="49" charset="-122"/>
                <a:cs typeface="JetBrains Mono" pitchFamily="49" charset="-120"/>
              </a:rPr>
              <a:t>az group delete -n rg-netlab --yes --no-wait</a:t>
            </a:r>
            <a:endParaRPr lang="en-US" sz="1200" dirty="0"/>
          </a:p>
        </p:txBody>
      </p:sp>
      <p:sp>
        <p:nvSpPr>
          <p:cNvPr id="11" name="Text 9"/>
          <p:cNvSpPr/>
          <p:nvPr/>
        </p:nvSpPr>
        <p:spPr>
          <a:xfrm>
            <a:off x="812800" y="3899967"/>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Tomorrow:</a:t>
            </a:r>
            <a:r>
              <a:rPr lang="en-US" sz="1300" dirty="0">
                <a:solidFill>
                  <a:srgbClr val="3D4A5C"/>
                </a:solidFill>
                <a:latin typeface="IBM Plex Sans" pitchFamily="34" charset="0"/>
                <a:ea typeface="IBM Plex Sans" pitchFamily="34" charset="-122"/>
                <a:cs typeface="IBM Plex Sans" pitchFamily="34" charset="-120"/>
              </a:rPr>
              <a:t> check AWS Billing › Bills and Azure Cost Management › Cost analysis show nothing new.</a:t>
            </a:r>
            <a:endParaRPr lang="en-US" sz="1300" dirty="0"/>
          </a:p>
        </p:txBody>
      </p:sp>
      <p:sp>
        <p:nvSpPr>
          <p:cNvPr id="12" name="Text 10"/>
          <p:cNvSpPr/>
          <p:nvPr/>
        </p:nvSpPr>
        <p:spPr>
          <a:xfrm>
            <a:off x="812800" y="6238354"/>
            <a:ext cx="10883392" cy="238654"/>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685"/>
                </a:solidFill>
                <a:latin typeface="IBM Plex Sans" pitchFamily="34" charset="0"/>
                <a:ea typeface="IBM Plex Sans" pitchFamily="34" charset="-122"/>
                <a:cs typeface="IBM Plex Sans" pitchFamily="34" charset="-120"/>
              </a:rPr>
              <a:t>IEC Husaini · Cloud &amp; Network Foundations · 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323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2A65A"/>
                </a:solidFill>
                <a:latin typeface="IBM Plex Sans" pitchFamily="34" charset="0"/>
                <a:ea typeface="IBM Plex Sans" pitchFamily="34" charset="-122"/>
                <a:cs typeface="IBM Plex Sans" pitchFamily="34" charset="-120"/>
              </a:rPr>
              <a:t>TAKEAWAYS</a:t>
            </a:r>
            <a:endParaRPr lang="en-US" sz="1400" dirty="0"/>
          </a:p>
        </p:txBody>
      </p:sp>
      <p:sp>
        <p:nvSpPr>
          <p:cNvPr id="3" name="Text 1"/>
          <p:cNvSpPr>
            <a:spLocks noGrp="1"/>
          </p:cNvSpPr>
          <p:nvPr>
            <p:ph type="title"/>
          </p:nvPr>
        </p:nvSpPr>
        <p:spPr>
          <a:xfrm>
            <a:off x="812800" y="1188641"/>
            <a:ext cx="9810750" cy="1143000"/>
          </a:xfrm>
          <a:prstGeom prst="rect">
            <a:avLst/>
          </a:prstGeom>
          <a:noFill/>
          <a:ln/>
        </p:spPr>
        <p:txBody>
          <a:bodyPr wrap="square" lIns="0" tIns="0" rIns="0" bIns="0" rtlCol="0" anchor="t">
            <a:normAutofit/>
          </a:bodyPr>
          <a:lstStyle/>
          <a:p>
            <a:pPr marL="0" indent="0" algn="l">
              <a:lnSpc>
                <a:spcPts val="4400"/>
              </a:lnSpc>
              <a:buNone/>
            </a:pPr>
            <a:r>
              <a:rPr lang="en-US" sz="4000" b="1" i="0" dirty="0">
                <a:solidFill>
                  <a:srgbClr val="F6F4EE"/>
                </a:solidFill>
                <a:latin typeface="IBM Plex Sans" pitchFamily="34" charset="0"/>
                <a:ea typeface="IBM Plex Sans" pitchFamily="34" charset="-122"/>
                <a:cs typeface="IBM Plex Sans" pitchFamily="34" charset="-120"/>
              </a:rPr>
              <a:t>Every cloud network is still subnets, routes and filters</a:t>
            </a:r>
            <a:endParaRPr lang="en-US" sz="4000" dirty="0"/>
          </a:p>
        </p:txBody>
      </p:sp>
      <p:sp>
        <p:nvSpPr>
          <p:cNvPr id="4" name="Text 2"/>
          <p:cNvSpPr/>
          <p:nvPr/>
        </p:nvSpPr>
        <p:spPr>
          <a:xfrm>
            <a:off x="812800" y="3517900"/>
            <a:ext cx="544169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2A65A"/>
                </a:solidFill>
                <a:latin typeface="IBM Plex Sans" pitchFamily="34" charset="0"/>
                <a:ea typeface="IBM Plex Sans" pitchFamily="34" charset="-122"/>
                <a:cs typeface="IBM Plex Sans" pitchFamily="34" charset="-120"/>
              </a:rPr>
              <a:t>1</a:t>
            </a:r>
            <a:r>
              <a:rPr lang="en-US" sz="1500" dirty="0">
                <a:solidFill>
                  <a:srgbClr val="DCE4EE"/>
                </a:solidFill>
                <a:latin typeface="IBM Plex Sans" pitchFamily="34" charset="0"/>
                <a:ea typeface="IBM Plex Sans" pitchFamily="34" charset="-122"/>
                <a:cs typeface="IBM Plex Sans" pitchFamily="34" charset="-120"/>
              </a:rPr>
              <a:t> Plan non-overlapping CIDRs first; cloud subnets lose 5 IPs</a:t>
            </a:r>
            <a:endParaRPr lang="en-US" sz="1500" dirty="0"/>
          </a:p>
        </p:txBody>
      </p:sp>
      <p:sp>
        <p:nvSpPr>
          <p:cNvPr id="5" name="Text 3"/>
          <p:cNvSpPr/>
          <p:nvPr/>
        </p:nvSpPr>
        <p:spPr>
          <a:xfrm>
            <a:off x="6096000" y="3517900"/>
            <a:ext cx="544169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2A65A"/>
                </a:solidFill>
                <a:latin typeface="IBM Plex Sans" pitchFamily="34" charset="0"/>
                <a:ea typeface="IBM Plex Sans" pitchFamily="34" charset="-122"/>
                <a:cs typeface="IBM Plex Sans" pitchFamily="34" charset="-120"/>
              </a:rPr>
              <a:t>2</a:t>
            </a:r>
            <a:r>
              <a:rPr lang="en-US" sz="1500" dirty="0">
                <a:solidFill>
                  <a:srgbClr val="DCE4EE"/>
                </a:solidFill>
                <a:latin typeface="IBM Plex Sans" pitchFamily="34" charset="0"/>
                <a:ea typeface="IBM Plex Sans" pitchFamily="34" charset="-122"/>
                <a:cs typeface="IBM Plex Sans" pitchFamily="34" charset="-120"/>
              </a:rPr>
              <a:t> "Public" just means a route to the internet</a:t>
            </a:r>
            <a:endParaRPr lang="en-US" sz="1500" dirty="0"/>
          </a:p>
        </p:txBody>
      </p:sp>
      <p:sp>
        <p:nvSpPr>
          <p:cNvPr id="6" name="Text 4"/>
          <p:cNvSpPr/>
          <p:nvPr/>
        </p:nvSpPr>
        <p:spPr>
          <a:xfrm>
            <a:off x="812800" y="3784600"/>
            <a:ext cx="544169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2A65A"/>
                </a:solidFill>
                <a:latin typeface="IBM Plex Sans" pitchFamily="34" charset="0"/>
                <a:ea typeface="IBM Plex Sans" pitchFamily="34" charset="-122"/>
                <a:cs typeface="IBM Plex Sans" pitchFamily="34" charset="-120"/>
              </a:rPr>
              <a:t>3</a:t>
            </a:r>
            <a:r>
              <a:rPr lang="en-US" sz="1500" dirty="0">
                <a:solidFill>
                  <a:srgbClr val="DCE4EE"/>
                </a:solidFill>
                <a:latin typeface="IBM Plex Sans" pitchFamily="34" charset="0"/>
                <a:ea typeface="IBM Plex Sans" pitchFamily="34" charset="-122"/>
                <a:cs typeface="IBM Plex Sans" pitchFamily="34" charset="-120"/>
              </a:rPr>
              <a:t> Stateful SG/NSG vs stateless NACL</a:t>
            </a:r>
            <a:endParaRPr lang="en-US" sz="1500" dirty="0"/>
          </a:p>
        </p:txBody>
      </p:sp>
      <p:sp>
        <p:nvSpPr>
          <p:cNvPr id="7" name="Text 5"/>
          <p:cNvSpPr/>
          <p:nvPr/>
        </p:nvSpPr>
        <p:spPr>
          <a:xfrm>
            <a:off x="6096000" y="3784600"/>
            <a:ext cx="544169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2A65A"/>
                </a:solidFill>
                <a:latin typeface="IBM Plex Sans" pitchFamily="34" charset="0"/>
                <a:ea typeface="IBM Plex Sans" pitchFamily="34" charset="-122"/>
                <a:cs typeface="IBM Plex Sans" pitchFamily="34" charset="-120"/>
              </a:rPr>
              <a:t>4</a:t>
            </a:r>
            <a:r>
              <a:rPr lang="en-US" sz="1500" dirty="0">
                <a:solidFill>
                  <a:srgbClr val="DCE4EE"/>
                </a:solidFill>
                <a:latin typeface="IBM Plex Sans" pitchFamily="34" charset="0"/>
                <a:ea typeface="IBM Plex Sans" pitchFamily="34" charset="-122"/>
                <a:cs typeface="IBM Plex Sans" pitchFamily="34" charset="-120"/>
              </a:rPr>
              <a:t> Reach private VMs without public IPs: EIC Endpoint, Bastion</a:t>
            </a:r>
            <a:endParaRPr lang="en-US" sz="1500" dirty="0"/>
          </a:p>
        </p:txBody>
      </p:sp>
      <p:sp>
        <p:nvSpPr>
          <p:cNvPr id="8" name="Text 6"/>
          <p:cNvSpPr/>
          <p:nvPr/>
        </p:nvSpPr>
        <p:spPr>
          <a:xfrm>
            <a:off x="812800" y="4318000"/>
            <a:ext cx="544169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2A65A"/>
                </a:solidFill>
                <a:latin typeface="IBM Plex Sans" pitchFamily="34" charset="0"/>
                <a:ea typeface="IBM Plex Sans" pitchFamily="34" charset="-122"/>
                <a:cs typeface="IBM Plex Sans" pitchFamily="34" charset="-120"/>
              </a:rPr>
              <a:t>5</a:t>
            </a:r>
            <a:r>
              <a:rPr lang="en-US" sz="1500" dirty="0">
                <a:solidFill>
                  <a:srgbClr val="DCE4EE"/>
                </a:solidFill>
                <a:latin typeface="IBM Plex Sans" pitchFamily="34" charset="0"/>
                <a:ea typeface="IBM Plex Sans" pitchFamily="34" charset="-122"/>
                <a:cs typeface="IBM Plex Sans" pitchFamily="34" charset="-120"/>
              </a:rPr>
              <a:t> Layer 7 + WAF for HTTP; free DDoS baseline in both clouds</a:t>
            </a:r>
            <a:endParaRPr lang="en-US" sz="1500" dirty="0"/>
          </a:p>
        </p:txBody>
      </p:sp>
      <p:sp>
        <p:nvSpPr>
          <p:cNvPr id="9" name="Text 7"/>
          <p:cNvSpPr/>
          <p:nvPr/>
        </p:nvSpPr>
        <p:spPr>
          <a:xfrm>
            <a:off x="6096000" y="4318000"/>
            <a:ext cx="544169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2A65A"/>
                </a:solidFill>
                <a:latin typeface="IBM Plex Sans" pitchFamily="34" charset="0"/>
                <a:ea typeface="IBM Plex Sans" pitchFamily="34" charset="-122"/>
                <a:cs typeface="IBM Plex Sans" pitchFamily="34" charset="-120"/>
              </a:rPr>
              <a:t>6</a:t>
            </a:r>
            <a:r>
              <a:rPr lang="en-US" sz="1500" dirty="0">
                <a:solidFill>
                  <a:srgbClr val="DCE4EE"/>
                </a:solidFill>
                <a:latin typeface="IBM Plex Sans" pitchFamily="34" charset="0"/>
                <a:ea typeface="IBM Plex Sans" pitchFamily="34" charset="-122"/>
                <a:cs typeface="IBM Plex Sans" pitchFamily="34" charset="-120"/>
              </a:rPr>
              <a:t> Landing zones apply all of this at scale</a:t>
            </a:r>
            <a:endParaRPr lang="en-US" sz="1500" dirty="0"/>
          </a:p>
        </p:txBody>
      </p:sp>
      <p:sp>
        <p:nvSpPr>
          <p:cNvPr id="10" name="Text 8"/>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6D6"/>
                </a:solidFill>
                <a:latin typeface="IBM Plex Sans" pitchFamily="34" charset="0"/>
                <a:ea typeface="IBM Plex Sans" pitchFamily="34" charset="-122"/>
                <a:cs typeface="IBM Plex Sans" pitchFamily="34" charset="-120"/>
              </a:rPr>
              <a:t>Homework: Packet Tracer lab · Questions?</a:t>
            </a:r>
            <a:endParaRPr lang="en-US" sz="1400" dirty="0"/>
          </a:p>
        </p:txBody>
      </p:sp>
    </p:spTree>
  </p:cSld>
  <p:clrMapOvr>
    <a:masterClrMapping/>
  </p:clrMapOvr>
</p:sld>
</file>

<file path=ppt/theme/theme1.xml><?xml version="1.0" encoding="utf-8"?>
<a:theme xmlns:a="http://schemas.openxmlformats.org/drawingml/2006/main" name="Cloud &amp; Network Foundations Lab">
  <a:themeElements>
    <a:clrScheme name="Cloud &amp; Network Foundations Lab">
      <a:dk1>
        <a:srgbClr val="13233A"/>
      </a:dk1>
      <a:lt1>
        <a:srgbClr val="F6F4EE"/>
      </a:lt1>
      <a:dk2>
        <a:srgbClr val="4C5767"/>
      </a:dk2>
      <a:lt2>
        <a:srgbClr val="DFDFDC"/>
      </a:lt2>
      <a:accent1>
        <a:srgbClr val="2B67A8"/>
      </a:accent1>
      <a:accent2>
        <a:srgbClr val="B8521F"/>
      </a:accent2>
      <a:accent3>
        <a:srgbClr val="F2A65A"/>
      </a:accent3>
      <a:accent4>
        <a:srgbClr val="22395A"/>
      </a:accent4>
      <a:accent5>
        <a:srgbClr val="1D3557"/>
      </a:accent5>
      <a:accent6>
        <a:srgbClr val="8FB3DE"/>
      </a:accent6>
      <a:hlink>
        <a:srgbClr val="0563C1"/>
      </a:hlink>
      <a:folHlink>
        <a:srgbClr val="954F72"/>
      </a:folHlink>
    </a:clrScheme>
    <a:fontScheme name="Cloud &amp; Network Foundations Lab">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8657</Words>
  <Application>Microsoft Office PowerPoint</Application>
  <PresentationFormat>Widescreen</PresentationFormat>
  <Paragraphs>906</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IBM Plex Sans</vt:lpstr>
      <vt:lpstr>JetBrains Mono</vt:lpstr>
      <vt:lpstr>Cloud &amp; Network Foundations Lab</vt:lpstr>
      <vt:lpstr>Cloud &amp; Network Foundations</vt:lpstr>
      <vt:lpstr>Today's plan</vt:lpstr>
      <vt:lpstr>Free tier only — four rules for every lab</vt:lpstr>
      <vt:lpstr>Networking foundations</vt:lpstr>
      <vt:lpstr>Where do we sit? Mostly Layers 3 and 4</vt:lpstr>
      <vt:lpstr>Switches move frames, routers move packets</vt:lpstr>
      <vt:lpstr>An IP address is a network part plus a host part</vt:lpstr>
      <vt:lpstr>Not every address is reachable from the internet</vt:lpstr>
      <vt:lpstr>Addresses in a block = 2^(32 − prefix)</vt:lpstr>
      <vt:lpstr>Plan today's address space before you click anything</vt:lpstr>
      <vt:lpstr>Following one packet from VLAN 10 to VLAN 20</vt:lpstr>
      <vt:lpstr>Build the same ideas on simulated Cisco gear</vt:lpstr>
      <vt:lpstr>Free tier &amp; accounts</vt:lpstr>
      <vt:lpstr>AWS gives credits; Azure gives credit plus free services</vt:lpstr>
      <vt:lpstr>Create an AWS account on the Free plan</vt:lpstr>
      <vt:lpstr>Create an Azure free account</vt:lpstr>
      <vt:lpstr>Turn on a budget alert in both clouds</vt:lpstr>
      <vt:lpstr>AWS hands-on lab</vt:lpstr>
      <vt:lpstr>One VPC, a public and a private subnet</vt:lpstr>
      <vt:lpstr>Create the VPC and two subnets</vt:lpstr>
      <vt:lpstr>Internet gateway and route tables</vt:lpstr>
      <vt:lpstr>Security groups (stateful) and network ACLs (stateless)</vt:lpstr>
      <vt:lpstr>Launch a public and a private EC2 instance</vt:lpstr>
      <vt:lpstr>Reach the private instance: three ways</vt:lpstr>
      <vt:lpstr>Azure hands-on lab</vt:lpstr>
      <vt:lpstr>Same design, Azure vocabulary</vt:lpstr>
      <vt:lpstr>Resource group, VNet and two subnets</vt:lpstr>
      <vt:lpstr>Network security groups on each subnet</vt:lpstr>
      <vt:lpstr>Deploy two B1s virtual machines</vt:lpstr>
      <vt:lpstr>Reach vm-app with and without a bastion</vt:lpstr>
      <vt:lpstr>Override system routes with a route table (UDR)</vt:lpstr>
      <vt:lpstr>Network security deep dive</vt:lpstr>
      <vt:lpstr>From packet filters to Layer 7 inspection</vt:lpstr>
      <vt:lpstr>Application gateways read the HTTP request</vt:lpstr>
      <vt:lpstr>A free baseline in both clouds; paid tiers add tuning and response</vt:lpstr>
      <vt:lpstr>Networking and compute</vt:lpstr>
      <vt:lpstr>Security, access and governance</vt:lpstr>
      <vt:lpstr>Landing zones</vt:lpstr>
      <vt:lpstr>A pre-built, governed foundation that workloads "land" in</vt:lpstr>
      <vt:lpstr>One platform landing zone, many application landing zones</vt:lpstr>
      <vt:lpstr>AWS Control Tower and its add-ons</vt:lpstr>
      <vt:lpstr>Build a mini landing zone in Azure, tour the AWS one</vt:lpstr>
      <vt:lpstr>Clean up everything</vt:lpstr>
      <vt:lpstr>Every cloud network is still subnets, routes and filters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&amp; Network Foundations Lab</dc:title>
  <dc:subject/>
  <dc:creator/>
  <cp:lastModifiedBy>Faisal Abbas</cp:lastModifiedBy>
  <cp:revision>2</cp:revision>
  <dcterms:created xsi:type="dcterms:W3CDTF">2026-10-10T00:28:41Z</dcterms:created>
  <dcterms:modified xsi:type="dcterms:W3CDTF">2026-10-10T00:32:55Z</dcterms:modified>
</cp:coreProperties>
</file>